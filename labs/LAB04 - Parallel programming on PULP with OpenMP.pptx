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5" r:id="rId2"/>
    <p:sldMasterId id="2147483660" r:id="rId3"/>
    <p:sldMasterId id="2147483671" r:id="rId4"/>
    <p:sldMasterId id="2147483684" r:id="rId5"/>
    <p:sldMasterId id="2147483693" r:id="rId6"/>
  </p:sldMasterIdLst>
  <p:notesMasterIdLst>
    <p:notesMasterId r:id="rId16"/>
  </p:notesMasterIdLst>
  <p:handoutMasterIdLst>
    <p:handoutMasterId r:id="rId17"/>
  </p:handoutMasterIdLst>
  <p:sldIdLst>
    <p:sldId id="263" r:id="rId7"/>
    <p:sldId id="712" r:id="rId8"/>
    <p:sldId id="711" r:id="rId9"/>
    <p:sldId id="714" r:id="rId10"/>
    <p:sldId id="715" r:id="rId11"/>
    <p:sldId id="710" r:id="rId12"/>
    <p:sldId id="653" r:id="rId13"/>
    <p:sldId id="717" r:id="rId14"/>
    <p:sldId id="716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SP with PULPissimo &amp; RISCY" id="{F7F38E34-2AEA-294C-81B0-23A7A0D83734}">
          <p14:sldIdLst>
            <p14:sldId id="263"/>
            <p14:sldId id="712"/>
            <p14:sldId id="711"/>
            <p14:sldId id="714"/>
            <p14:sldId id="715"/>
            <p14:sldId id="710"/>
            <p14:sldId id="653"/>
            <p14:sldId id="717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9280A0"/>
    <a:srgbClr val="8DB09D"/>
    <a:srgbClr val="D2B4A8"/>
    <a:srgbClr val="C09A9A"/>
    <a:srgbClr val="616A7A"/>
    <a:srgbClr val="84B098"/>
    <a:srgbClr val="646F7D"/>
    <a:srgbClr val="E4CBB7"/>
    <a:srgbClr val="AFBB9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45" autoAdjust="0"/>
    <p:restoredTop sz="96675" autoAdjust="0"/>
  </p:normalViewPr>
  <p:slideViewPr>
    <p:cSldViewPr showGuides="1">
      <p:cViewPr varScale="1">
        <p:scale>
          <a:sx n="50" d="100"/>
          <a:sy n="50" d="100"/>
        </p:scale>
        <p:origin x="816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97008-5A80-491E-BE13-934481939984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CF82-CBDD-42C1-9B63-A5CC225C7A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5230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8AE00-9959-1548-BB2A-54BE73022EF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08C40-5E21-9343-91C9-11F12B130C1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8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487" y="3115708"/>
            <a:ext cx="6095742" cy="380990"/>
          </a:xfrm>
        </p:spPr>
        <p:txBody>
          <a:bodyPr lIns="0" tIns="0" rIns="0" bIns="0" anchor="b"/>
          <a:lstStyle>
            <a:lvl1pPr marL="0" indent="0" algn="l">
              <a:buNone/>
              <a:defRPr sz="254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486" y="1854817"/>
            <a:ext cx="10667548" cy="1142969"/>
          </a:xfrm>
        </p:spPr>
        <p:txBody>
          <a:bodyPr anchor="t"/>
          <a:lstStyle>
            <a:lvl1pPr>
              <a:defRPr sz="3810" b="0">
                <a:solidFill>
                  <a:srgbClr val="C00000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/>
              <a:t>Click to edit Master title style (in case you have a</a:t>
            </a:r>
            <a:br>
              <a:rPr lang="en-US" noProof="0"/>
            </a:br>
            <a:r>
              <a:rPr lang="en-US" noProof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487" y="3884883"/>
            <a:ext cx="6095742" cy="1713889"/>
          </a:xfrm>
        </p:spPr>
        <p:txBody>
          <a:bodyPr/>
          <a:lstStyle>
            <a:lvl1pPr marL="0" indent="0">
              <a:buNone/>
              <a:defRPr sz="2117" b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  <p:pic>
        <p:nvPicPr>
          <p:cNvPr id="12" name="Picture 11" descr="A logo on a black background&#10;&#10;Description automatically generated">
            <a:extLst>
              <a:ext uri="{FF2B5EF4-FFF2-40B4-BE49-F238E27FC236}">
                <a16:creationId xmlns:a16="http://schemas.microsoft.com/office/drawing/2014/main" id="{67B48A85-951C-6934-67B0-C70177019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32" t="9486" r="7777" b="7244"/>
          <a:stretch/>
        </p:blipFill>
        <p:spPr>
          <a:xfrm>
            <a:off x="9447082" y="4643345"/>
            <a:ext cx="2454418" cy="191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39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1" y="990573"/>
            <a:ext cx="10667551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4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50277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6342" y="990573"/>
            <a:ext cx="685770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3" y="990573"/>
            <a:ext cx="380983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4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4" y="990573"/>
            <a:ext cx="685770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4213" y="990573"/>
            <a:ext cx="3809839" cy="55243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4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3" y="990573"/>
            <a:ext cx="10667548" cy="2666928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6503" y="3660517"/>
            <a:ext cx="5333774" cy="28574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50277" y="3660517"/>
            <a:ext cx="5333774" cy="28574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9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6058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45408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564755" y="990573"/>
            <a:ext cx="3428855" cy="533385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000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1017" y="990573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654795" y="990573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21017" y="3657501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654795" y="3657501"/>
            <a:ext cx="5333774" cy="2666928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500"/>
              </a:spcBef>
              <a:defRPr sz="20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 marL="1077900" indent="-177798"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1289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998583" y="52297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61976"/>
            <a:endParaRPr lang="en-US" sz="2540" b="0" i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99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1" y="990573"/>
            <a:ext cx="10667551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1616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055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452" y="378926"/>
            <a:ext cx="10667551" cy="628633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57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2209380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272A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1673562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562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474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2042921" y="2089608"/>
            <a:ext cx="3299901" cy="87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0" b="0" i="0" u="none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870456" y="1573479"/>
            <a:ext cx="3433291" cy="3433344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6754" tIns="96754" rIns="96754" bIns="9675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7393950" y="2122179"/>
            <a:ext cx="1547401" cy="80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57" b="1" i="0" u="none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04883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307065-E90A-B637-3095-10DFEA112280}"/>
              </a:ext>
            </a:extLst>
          </p:cNvPr>
          <p:cNvGrpSpPr/>
          <p:nvPr userDrawn="1"/>
        </p:nvGrpSpPr>
        <p:grpSpPr>
          <a:xfrm>
            <a:off x="7862752" y="1833222"/>
            <a:ext cx="3138406" cy="3138455"/>
            <a:chOff x="6492044" y="1486792"/>
            <a:chExt cx="3244192" cy="3244192"/>
          </a:xfrm>
        </p:grpSpPr>
        <p:sp>
          <p:nvSpPr>
            <p:cNvPr id="7" name="Google Shape;1096;p28">
              <a:extLst>
                <a:ext uri="{FF2B5EF4-FFF2-40B4-BE49-F238E27FC236}">
                  <a16:creationId xmlns:a16="http://schemas.microsoft.com/office/drawing/2014/main" id="{9EB57577-2B72-4910-D401-BBB6EDA09B5E}"/>
                </a:ext>
              </a:extLst>
            </p:cNvPr>
            <p:cNvSpPr/>
            <p:nvPr userDrawn="1"/>
          </p:nvSpPr>
          <p:spPr>
            <a:xfrm>
              <a:off x="6492044" y="1486792"/>
              <a:ext cx="3244192" cy="3244192"/>
            </a:xfrm>
            <a:custGeom>
              <a:avLst/>
              <a:gdLst/>
              <a:ahLst/>
              <a:cxnLst/>
              <a:rect l="l" t="t" r="r" b="b"/>
              <a:pathLst>
                <a:path w="158750" h="158750" extrusionOk="0">
                  <a:moveTo>
                    <a:pt x="8255" y="0"/>
                  </a:moveTo>
                  <a:cubicBezTo>
                    <a:pt x="3810" y="0"/>
                    <a:pt x="0" y="3810"/>
                    <a:pt x="0" y="8255"/>
                  </a:cubicBezTo>
                  <a:lnTo>
                    <a:pt x="0" y="119380"/>
                  </a:lnTo>
                  <a:lnTo>
                    <a:pt x="31750" y="87630"/>
                  </a:lnTo>
                  <a:lnTo>
                    <a:pt x="111125" y="87630"/>
                  </a:lnTo>
                  <a:cubicBezTo>
                    <a:pt x="115570" y="87630"/>
                    <a:pt x="119380" y="83820"/>
                    <a:pt x="119380" y="79375"/>
                  </a:cubicBezTo>
                  <a:lnTo>
                    <a:pt x="119380" y="8255"/>
                  </a:lnTo>
                  <a:cubicBezTo>
                    <a:pt x="119380" y="3810"/>
                    <a:pt x="115570" y="0"/>
                    <a:pt x="111125" y="0"/>
                  </a:cubicBezTo>
                  <a:close/>
                  <a:moveTo>
                    <a:pt x="135255" y="31750"/>
                  </a:moveTo>
                  <a:lnTo>
                    <a:pt x="135255" y="103505"/>
                  </a:lnTo>
                  <a:lnTo>
                    <a:pt x="31750" y="103505"/>
                  </a:lnTo>
                  <a:lnTo>
                    <a:pt x="31750" y="119380"/>
                  </a:lnTo>
                  <a:cubicBezTo>
                    <a:pt x="31750" y="123190"/>
                    <a:pt x="35560" y="127000"/>
                    <a:pt x="40005" y="127000"/>
                  </a:cubicBezTo>
                  <a:lnTo>
                    <a:pt x="127000" y="127000"/>
                  </a:lnTo>
                  <a:lnTo>
                    <a:pt x="158750" y="158750"/>
                  </a:lnTo>
                  <a:lnTo>
                    <a:pt x="158750" y="40005"/>
                  </a:lnTo>
                  <a:cubicBezTo>
                    <a:pt x="158750" y="35560"/>
                    <a:pt x="154940" y="31750"/>
                    <a:pt x="151130" y="3175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905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D5AEE-A9BE-AED9-1997-707BCB05F17E}"/>
                </a:ext>
              </a:extLst>
            </p:cNvPr>
            <p:cNvSpPr txBox="1"/>
            <p:nvPr userDrawn="1"/>
          </p:nvSpPr>
          <p:spPr>
            <a:xfrm>
              <a:off x="6986705" y="2005263"/>
              <a:ext cx="1462173" cy="836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657" b="1" i="0" u="none">
                  <a:solidFill>
                    <a:srgbClr val="B4B4B6"/>
                  </a:solidFill>
                  <a:latin typeface="+mj-lt"/>
                  <a:ea typeface="Roboto Condensed" panose="02000000000000000000" pitchFamily="2" charset="0"/>
                  <a:cs typeface="Arial Narrow" panose="020B0604020202020204" pitchFamily="34" charset="0"/>
                </a:rPr>
                <a:t>Q&amp;A</a:t>
              </a:r>
            </a:p>
          </p:txBody>
        </p:sp>
      </p:grp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646F6B5-915C-156A-6221-DA1B0BFAC9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503" y="1960930"/>
            <a:ext cx="5234888" cy="17186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117" b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58033-34E1-4BC7-15EC-184B6866C6F7}"/>
              </a:ext>
            </a:extLst>
          </p:cNvPr>
          <p:cNvSpPr txBox="1"/>
          <p:nvPr userDrawn="1"/>
        </p:nvSpPr>
        <p:spPr>
          <a:xfrm>
            <a:off x="232612" y="5400935"/>
            <a:ext cx="5325875" cy="82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87" b="1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DEI – Università di Bologna</a:t>
            </a:r>
            <a:b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Viale del Risorgimento 2</a:t>
            </a:r>
          </a:p>
          <a:p>
            <a:r>
              <a:rPr lang="it-IT" sz="1587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Bologna, </a:t>
            </a:r>
            <a:r>
              <a:rPr lang="it-IT" sz="1587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Italy</a:t>
            </a:r>
            <a:endParaRPr lang="en-US" sz="1587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" name="Picture 19" descr="A logo with text on it&#10;&#10;Description automatically generated">
            <a:extLst>
              <a:ext uri="{FF2B5EF4-FFF2-40B4-BE49-F238E27FC236}">
                <a16:creationId xmlns:a16="http://schemas.microsoft.com/office/drawing/2014/main" id="{5B77CA35-579C-DFE4-21F7-5EDAC64FD8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3879"/>
          <a:stretch/>
        </p:blipFill>
        <p:spPr>
          <a:xfrm>
            <a:off x="28629" y="6367923"/>
            <a:ext cx="774134" cy="437331"/>
          </a:xfrm>
          <a:prstGeom prst="rect">
            <a:avLst/>
          </a:prstGeom>
        </p:spPr>
      </p:pic>
      <p:pic>
        <p:nvPicPr>
          <p:cNvPr id="21" name="Picture 20" descr="A logo with text on it&#10;&#10;Description automatically generated">
            <a:extLst>
              <a:ext uri="{FF2B5EF4-FFF2-40B4-BE49-F238E27FC236}">
                <a16:creationId xmlns:a16="http://schemas.microsoft.com/office/drawing/2014/main" id="{BEFD9DAC-F517-41E8-F366-63203E3B3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036"/>
          <a:stretch/>
        </p:blipFill>
        <p:spPr>
          <a:xfrm>
            <a:off x="658189" y="6443295"/>
            <a:ext cx="1198213" cy="2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10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9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963876-5B3A-4C67-8E17-35C605EE4C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6437" y="6401857"/>
            <a:ext cx="382265" cy="3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35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124745"/>
            <a:ext cx="11233149" cy="511256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/>
              <a:t>Fare clic per modificare il testo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5A909-13C4-6F40-BBCF-31160B52766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A77F-D04A-354E-AEA1-95FAEFF142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6A3A1-7094-194F-843C-3B37565CF3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2EED155-6B16-8D4E-9EBE-C6C9386B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476674"/>
            <a:ext cx="11233149" cy="576063"/>
          </a:xfrm>
          <a:prstGeom prst="rect">
            <a:avLst/>
          </a:prstGeom>
        </p:spPr>
        <p:txBody>
          <a:bodyPr/>
          <a:lstStyle>
            <a:lvl1pPr algn="l">
              <a:defRPr sz="26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8329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594E-FBEC-477F-827E-927426328DAD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4AC092-550C-F046-871B-21DEEC46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60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16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2950C-2A5B-5E4F-B2C0-6D0BC86A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676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124745"/>
            <a:ext cx="11233149" cy="511256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5A909-13C4-6F40-BBCF-31160B52766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A77F-D04A-354E-AEA1-95FAEFF142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6A3A1-7094-194F-843C-3B37565CF3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2EED155-6B16-8D4E-9EBE-C6C9386B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476674"/>
            <a:ext cx="11233149" cy="576063"/>
          </a:xfrm>
          <a:prstGeom prst="rect">
            <a:avLst/>
          </a:prstGeom>
        </p:spPr>
        <p:txBody>
          <a:bodyPr/>
          <a:lstStyle>
            <a:lvl1pPr algn="l">
              <a:defRPr sz="2600" b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nome.cognome@unibo.it</a:t>
            </a:r>
          </a:p>
          <a:p>
            <a:pPr lvl="0"/>
            <a:r>
              <a:rPr lang="it-IT" dirty="0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32229" y="1340768"/>
            <a:ext cx="11328400" cy="48933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853910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31808" y="1340768"/>
            <a:ext cx="5472000" cy="4896521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435" indent="-133350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88029" y="1340768"/>
            <a:ext cx="5472179" cy="4896521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e-CH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1279475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Frei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4496716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8667" y="1355751"/>
            <a:ext cx="11294669" cy="4821213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400" b="1"/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  <a:lvl6pPr marL="1885903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/>
            </a:lvl6pPr>
            <a:lvl7pPr>
              <a:defRPr sz="2000" b="1"/>
            </a:lvl7pPr>
            <a:lvl8pPr>
              <a:defRPr sz="2000" b="1"/>
            </a:lvl8pPr>
            <a:lvl9pPr>
              <a:defRPr sz="2000" b="1"/>
            </a:lvl9pPr>
          </a:lstStyle>
          <a:p>
            <a:pPr lvl="0"/>
            <a:r>
              <a:rPr lang="en-US" noProof="0" dirty="0"/>
              <a:t>First Level Content</a:t>
            </a:r>
          </a:p>
          <a:p>
            <a:pPr lvl="1"/>
            <a:r>
              <a:rPr lang="en-US" noProof="0" dirty="0"/>
              <a:t>Second Level Content</a:t>
            </a:r>
          </a:p>
          <a:p>
            <a:pPr lvl="2"/>
            <a:r>
              <a:rPr lang="en-US" noProof="0" dirty="0"/>
              <a:t>Third Level Content</a:t>
            </a:r>
          </a:p>
          <a:p>
            <a:pPr lvl="3"/>
            <a:r>
              <a:rPr lang="en-US" noProof="0" dirty="0"/>
              <a:t>Fourth Level Content</a:t>
            </a:r>
          </a:p>
          <a:p>
            <a:pPr lvl="4"/>
            <a:r>
              <a:rPr lang="en-US" noProof="0" dirty="0"/>
              <a:t>Fifth Level Content</a:t>
            </a:r>
          </a:p>
          <a:p>
            <a:pPr marL="1885903" marR="0" lvl="5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Sixth Level Content</a:t>
            </a:r>
          </a:p>
          <a:p>
            <a:pPr lvl="6"/>
            <a:r>
              <a:rPr lang="en-US" noProof="0" dirty="0"/>
              <a:t>Seventh Level Content</a:t>
            </a:r>
          </a:p>
          <a:p>
            <a:pPr lvl="7"/>
            <a:r>
              <a:rPr lang="en-US" noProof="0" dirty="0"/>
              <a:t>Eight Level Content</a:t>
            </a:r>
          </a:p>
          <a:p>
            <a:pPr lvl="8"/>
            <a:r>
              <a:rPr lang="en-US" noProof="0" dirty="0"/>
              <a:t>Ninth Level Content</a:t>
            </a:r>
          </a:p>
        </p:txBody>
      </p:sp>
      <p:sp>
        <p:nvSpPr>
          <p:cNvPr id="25" name="Title 24"/>
          <p:cNvSpPr>
            <a:spLocks noGrp="1"/>
          </p:cNvSpPr>
          <p:nvPr>
            <p:ph type="title" hasCustomPrompt="1"/>
          </p:nvPr>
        </p:nvSpPr>
        <p:spPr>
          <a:xfrm>
            <a:off x="181592" y="126792"/>
            <a:ext cx="11828835" cy="77053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>
              <a:defRPr b="1"/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>
          <a:xfrm>
            <a:off x="448675" y="6356369"/>
            <a:ext cx="3132735" cy="365125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 noProof="1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>
          <a:xfrm>
            <a:off x="4038601" y="6356369"/>
            <a:ext cx="4114800" cy="365125"/>
          </a:xfrm>
          <a:prstGeom prst="rect">
            <a:avLst/>
          </a:prstGeom>
        </p:spPr>
        <p:txBody>
          <a:bodyPr anchor="b"/>
          <a:lstStyle>
            <a:lvl1pPr algn="ctr">
              <a:defRPr sz="1200"/>
            </a:lvl1pPr>
          </a:lstStyle>
          <a:p>
            <a:endParaRPr lang="en-US" noProof="1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>
          <a:xfrm>
            <a:off x="8610609" y="6356369"/>
            <a:ext cx="3132735" cy="365125"/>
          </a:xfrm>
          <a:prstGeom prst="rect">
            <a:avLst/>
          </a:prstGeom>
        </p:spPr>
        <p:txBody>
          <a:bodyPr anchor="b"/>
          <a:lstStyle>
            <a:lvl1pPr algn="r">
              <a:defRPr sz="1200"/>
            </a:lvl1pPr>
          </a:lstStyle>
          <a:p>
            <a:fld id="{22DECF6A-13F7-418C-BBFC-95033FFCD5F1}" type="slidenum">
              <a:rPr lang="en-US" noProof="1" smtClean="0"/>
              <a:pPr/>
              <a:t>‹N›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953288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8D1B-C7FB-4E93-92A2-0EFFE458C790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51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EA8D1B-C7FB-4E93-92A2-0EFFE458C790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08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914400" y="-99392"/>
            <a:ext cx="10363200" cy="93134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68361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" y="1125539"/>
            <a:ext cx="10972800" cy="4967287"/>
          </a:xfrm>
        </p:spPr>
        <p:txBody>
          <a:bodyPr>
            <a:no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11692" y="6542497"/>
            <a:ext cx="6816757" cy="2774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FFFFFF"/>
                </a:solidFill>
                <a:latin typeface="Calibri Regular" charset="0"/>
                <a:cs typeface="Calibri Regular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8501" y="6542497"/>
            <a:ext cx="973899" cy="281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FFFFFF"/>
                </a:solidFill>
                <a:latin typeface="Calibri Regular" charset="0"/>
                <a:cs typeface="Calibri Regular" charset="0"/>
              </a:defRPr>
            </a:lvl1pPr>
          </a:lstStyle>
          <a:p>
            <a:fld id="{E83F9070-C0A3-DD40-9D17-9533B7E67F16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0351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/>
              <a:t>nome.cognome@unibo.it</a:t>
            </a:r>
          </a:p>
          <a:p>
            <a:pPr lvl="0"/>
            <a:r>
              <a:rPr lang="it-IT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357250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30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9" y="1556792"/>
            <a:ext cx="392399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504" y="991347"/>
            <a:ext cx="10667550" cy="55243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/>
              <a:t>First line of text</a:t>
            </a:r>
          </a:p>
          <a:p>
            <a:pPr lvl="1"/>
            <a:r>
              <a:rPr lang="en-US" noProof="0"/>
              <a:t>Subtitle</a:t>
            </a:r>
          </a:p>
          <a:p>
            <a:pPr lvl="2"/>
            <a:r>
              <a:rPr lang="en-US" noProof="0"/>
              <a:t>Sub-subtitle</a:t>
            </a:r>
          </a:p>
          <a:p>
            <a:pPr lvl="3"/>
            <a:r>
              <a:rPr lang="en-US" noProof="0"/>
              <a:t>This level should not be used</a:t>
            </a:r>
          </a:p>
          <a:p>
            <a:pPr lvl="4"/>
            <a:r>
              <a:rPr lang="en-US" noProof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7484226" y="49621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61976"/>
            <a:endParaRPr lang="en-US" sz="2540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0261" y="6495719"/>
            <a:ext cx="7238693" cy="304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6374" y="6494903"/>
            <a:ext cx="571476" cy="304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‹N›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39404-9948-AB49-571D-1FF77377EEFA}"/>
              </a:ext>
            </a:extLst>
          </p:cNvPr>
          <p:cNvGrpSpPr/>
          <p:nvPr userDrawn="1"/>
        </p:nvGrpSpPr>
        <p:grpSpPr>
          <a:xfrm>
            <a:off x="-133657" y="6323742"/>
            <a:ext cx="2034317" cy="533494"/>
            <a:chOff x="1356955" y="6023605"/>
            <a:chExt cx="1617190" cy="4240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AABE6-3DAE-79EC-6864-C6E1EA8A67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t="68294"/>
            <a:stretch/>
          </p:blipFill>
          <p:spPr>
            <a:xfrm>
              <a:off x="1820865" y="6127519"/>
              <a:ext cx="1153280" cy="2905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868362-AE1D-5EC9-F756-A3B567B9C5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b="28327"/>
            <a:stretch/>
          </p:blipFill>
          <p:spPr>
            <a:xfrm>
              <a:off x="1356955" y="6023605"/>
              <a:ext cx="744659" cy="4240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597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</p:sldLayoutIdLst>
  <p:hf hdr="0" ftr="0" dt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3810" b="0" i="0" kern="1200" spc="-106" baseline="0">
          <a:ln w="15875" cmpd="sng">
            <a:noFill/>
            <a:round/>
          </a:ln>
          <a:solidFill>
            <a:srgbClr val="C00000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04795" indent="-304795" algn="l" defTabSz="761976" rtl="0" eaLnBrk="1" latinLnBrk="0" hangingPunct="1">
        <a:lnSpc>
          <a:spcPct val="100000"/>
        </a:lnSpc>
        <a:spcBef>
          <a:spcPts val="127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540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33383" indent="-228597" algn="l" defTabSz="761976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211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61976" indent="-228597" algn="l" defTabSz="914389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90569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7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219162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64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0637" y="5733256"/>
            <a:ext cx="1744036" cy="11247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8BA62-068A-8D43-A8A6-5BCCE5A7F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44406" y="6356351"/>
            <a:ext cx="6562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C2C0BE87-EA49-234B-AB60-DA484B3832C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69DF0-7A2D-5142-8835-BD49F048D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11BC-55BD-8942-997E-32275312B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www.unibo.it</a:t>
            </a:r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803" y="332657"/>
            <a:ext cx="3552395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583509" y="6308726"/>
            <a:ext cx="816091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011" y="6308726"/>
            <a:ext cx="4278151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501809" y="6308726"/>
            <a:ext cx="355600" cy="46831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9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fld id="{6C6AE60A-B69C-4790-82F7-3882EDF23186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31808" y="1340768"/>
            <a:ext cx="11311917" cy="4896520"/>
          </a:xfrm>
          <a:prstGeom prst="rect">
            <a:avLst/>
          </a:prstGeom>
        </p:spPr>
        <p:txBody>
          <a:bodyPr vert="horz" lIns="140400" tIns="0" rIns="144000" bIns="0" rtlCol="0">
            <a:noAutofit/>
          </a:bodyPr>
          <a:lstStyle/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11413132" y="6300190"/>
            <a:ext cx="141277" cy="468312"/>
          </a:xfrm>
          <a:prstGeom prst="rect">
            <a:avLst/>
          </a:prstGeom>
          <a:noFill/>
        </p:spPr>
        <p:txBody>
          <a:bodyPr wrap="none" lIns="27000" rIns="27000" rtlCol="0" anchor="ctr" anchorCtr="0">
            <a:noAutofit/>
          </a:bodyPr>
          <a:lstStyle/>
          <a:p>
            <a:pPr algn="ctr"/>
            <a:r>
              <a:rPr lang="de-CH" sz="900" dirty="0">
                <a:latin typeface="Arial Narrow" panose="020B0606020202030204" pitchFamily="34" charset="0"/>
              </a:rPr>
              <a:t>|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0446012" y="6300189"/>
            <a:ext cx="141277" cy="468312"/>
          </a:xfrm>
          <a:prstGeom prst="rect">
            <a:avLst/>
          </a:prstGeom>
          <a:noFill/>
        </p:spPr>
        <p:txBody>
          <a:bodyPr wrap="none" lIns="27000" rIns="27000" rtlCol="0" anchor="ctr" anchorCtr="0">
            <a:noAutofit/>
          </a:bodyPr>
          <a:lstStyle/>
          <a:p>
            <a:pPr algn="ctr"/>
            <a:r>
              <a:rPr lang="de-CH" sz="900" dirty="0">
                <a:latin typeface="Arial Narrow" panose="020B0606020202030204" pitchFamily="34" charset="0"/>
              </a:rPr>
              <a:t>|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0" y="6308747"/>
            <a:ext cx="2134777" cy="440511"/>
          </a:xfrm>
          <a:prstGeom prst="rect">
            <a:avLst/>
          </a:prstGeom>
        </p:spPr>
      </p:pic>
      <p:sp>
        <p:nvSpPr>
          <p:cNvPr id="22" name="Rechteck 23"/>
          <p:cNvSpPr/>
          <p:nvPr userDrawn="1"/>
        </p:nvSpPr>
        <p:spPr>
          <a:xfrm>
            <a:off x="8" y="278074"/>
            <a:ext cx="12192000" cy="6289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350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5317" y="332656"/>
            <a:ext cx="11328400" cy="504056"/>
          </a:xfrm>
          <a:prstGeom prst="rect">
            <a:avLst/>
          </a:prstGeom>
          <a:noFill/>
        </p:spPr>
        <p:txBody>
          <a:bodyPr vert="horz" lIns="140400" tIns="0" rIns="144000" bIns="0" rtlCol="0" anchor="b" anchorCtr="0">
            <a:noAutofit/>
          </a:bodyPr>
          <a:lstStyle/>
          <a:p>
            <a:r>
              <a:rPr lang="de-CH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8660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>
    <p:fade/>
  </p:transition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kern="1200">
          <a:solidFill>
            <a:schemeClr val="tx1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71463" indent="-271463" algn="l" defTabSz="685800" rtl="0" eaLnBrk="1" latinLnBrk="0" hangingPunct="1">
        <a:lnSpc>
          <a:spcPct val="100000"/>
        </a:lnSpc>
        <a:spcBef>
          <a:spcPts val="375"/>
        </a:spcBef>
        <a:buClr>
          <a:srgbClr val="B4B4B4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70297" indent="-198835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670322" indent="-200025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35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808435" indent="-133350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2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946547" indent="-138113" algn="l" defTabSz="685800" rtl="0" eaLnBrk="1" latinLnBrk="0" hangingPunct="1">
        <a:lnSpc>
          <a:spcPct val="100000"/>
        </a:lnSpc>
        <a:spcBef>
          <a:spcPts val="300"/>
        </a:spcBef>
        <a:buClr>
          <a:srgbClr val="B4B4B4"/>
        </a:buClr>
        <a:buFont typeface="Wingdings" pitchFamily="2" charset="2"/>
        <a:buChar char="§"/>
        <a:defRPr sz="105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204">
          <p15:clr>
            <a:srgbClr val="F26B43"/>
          </p15:clr>
        </p15:guide>
        <p15:guide id="3" pos="5556">
          <p15:clr>
            <a:srgbClr val="F26B43"/>
          </p15:clr>
        </p15:guide>
        <p15:guide id="4" orient="horz" pos="391">
          <p15:clr>
            <a:srgbClr val="F26B43"/>
          </p15:clr>
        </p15:guide>
        <p15:guide id="5" orient="horz" pos="1275">
          <p15:clr>
            <a:srgbClr val="F26B43"/>
          </p15:clr>
        </p15:guide>
        <p15:guide id="6" orient="horz" pos="2160">
          <p15:clr>
            <a:srgbClr val="F26B43"/>
          </p15:clr>
        </p15:guide>
        <p15:guide id="7" orient="horz" pos="3045">
          <p15:clr>
            <a:srgbClr val="F26B43"/>
          </p15:clr>
        </p15:guide>
        <p15:guide id="8" orient="horz" pos="3929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6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bg1"/>
                </a:solidFill>
              </a:rPr>
              <a:t>www.unibo.it</a:t>
            </a:r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803" y="332657"/>
            <a:ext cx="3552395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4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EESlab/HSDES-LAB05-PULP_Parallel_OpenMP.git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ttotitolo 4">
            <a:extLst>
              <a:ext uri="{FF2B5EF4-FFF2-40B4-BE49-F238E27FC236}">
                <a16:creationId xmlns:a16="http://schemas.microsoft.com/office/drawing/2014/main" id="{754EFDD7-F161-CFF7-8897-731D904FE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870304C-E0AF-2B85-9461-07DB9B4F9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LAB04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Parallel programming on PULP with OpenMP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2" name="Segnaposto tes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Andrea Belano	andrea.belano2@unibo.it</a:t>
            </a: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02" y="180326"/>
            <a:ext cx="11468129" cy="657050"/>
          </a:xfrm>
        </p:spPr>
        <p:txBody>
          <a:bodyPr/>
          <a:lstStyle/>
          <a:p>
            <a:r>
              <a:rPr lang="en-US" sz="3600" dirty="0"/>
              <a:t>EXERCISE 1: Using the parallel construct and its data scope clauses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Add a </a:t>
            </a:r>
            <a:r>
              <a:rPr lang="en-US" sz="1800" dirty="0">
                <a:latin typeface="Consolas" panose="020B0609020204030204" pitchFamily="49" charset="0"/>
              </a:rPr>
              <a:t>parallel</a:t>
            </a:r>
            <a:r>
              <a:rPr lang="en-US" sz="1800" dirty="0"/>
              <a:t> directive to execute all the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/>
              <a:t> calls on multiple cores</a:t>
            </a:r>
            <a:br>
              <a:rPr lang="en-US" sz="1800" dirty="0"/>
            </a:br>
            <a:r>
              <a:rPr lang="en-US" sz="1800" dirty="0"/>
              <a:t>NOTE: use the clause </a:t>
            </a:r>
            <a:r>
              <a:rPr lang="en-US" sz="1800" dirty="0">
                <a:latin typeface="Consolas" panose="020B0609020204030204" pitchFamily="49" charset="0"/>
              </a:rPr>
              <a:t>num</a:t>
            </a:r>
            <a:r>
              <a:rPr lang="en-GB" sz="1800" dirty="0">
                <a:latin typeface="Consolas" panose="020B0609020204030204" pitchFamily="49" charset="0"/>
              </a:rPr>
              <a:t>_thread(NUM_CORES)</a:t>
            </a:r>
            <a:r>
              <a:rPr lang="en-GB" sz="1800" dirty="0"/>
              <a:t> to match the number of active cores in the execution environment with the CORES parameter in the make command.</a:t>
            </a:r>
            <a:endParaRPr lang="en-US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What is the default data scope of </a:t>
            </a:r>
            <a:r>
              <a:rPr lang="en-US" sz="1800" dirty="0">
                <a:latin typeface="Consolas" panose="020B0609020204030204" pitchFamily="49" charset="0"/>
              </a:rPr>
              <a:t>a</a:t>
            </a:r>
            <a:r>
              <a:rPr lang="en-US" sz="1800" dirty="0"/>
              <a:t>, </a:t>
            </a:r>
            <a:r>
              <a:rPr lang="en-US" sz="1800" dirty="0">
                <a:latin typeface="Consolas" panose="020B0609020204030204" pitchFamily="49" charset="0"/>
              </a:rPr>
              <a:t>b</a:t>
            </a:r>
            <a:r>
              <a:rPr lang="en-US" sz="1800" dirty="0"/>
              <a:t> and </a:t>
            </a:r>
            <a:r>
              <a:rPr lang="en-US" sz="1800" dirty="0">
                <a:latin typeface="Consolas" panose="020B0609020204030204" pitchFamily="49" charset="0"/>
              </a:rPr>
              <a:t>c</a:t>
            </a:r>
            <a:r>
              <a:rPr lang="en-US" sz="1800" dirty="0"/>
              <a:t>? Is this behavior correct?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Suppose to specify a </a:t>
            </a:r>
            <a:r>
              <a:rPr lang="en-US" sz="1800" dirty="0">
                <a:latin typeface="Consolas" panose="020B0609020204030204" pitchFamily="49" charset="0"/>
              </a:rPr>
              <a:t>private</a:t>
            </a:r>
            <a:r>
              <a:rPr lang="en-US" sz="1800" dirty="0"/>
              <a:t> or </a:t>
            </a:r>
            <a:r>
              <a:rPr lang="en-US" sz="1800" dirty="0" err="1">
                <a:latin typeface="Consolas" panose="020B0609020204030204" pitchFamily="49" charset="0"/>
              </a:rPr>
              <a:t>firstprivate</a:t>
            </a:r>
            <a:r>
              <a:rPr lang="en-US" sz="1800" dirty="0"/>
              <a:t> data scope for the a variable.</a:t>
            </a:r>
            <a:br>
              <a:rPr lang="en-US" sz="1800" dirty="0"/>
            </a:br>
            <a:r>
              <a:rPr lang="en-US" sz="1800" dirty="0"/>
              <a:t>Which behavior can be considered the correct one? Why?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293DC-20D7-40E5-95DC-61D0B43521F1}"/>
              </a:ext>
            </a:extLst>
          </p:cNvPr>
          <p:cNvSpPr/>
          <p:nvPr/>
        </p:nvSpPr>
        <p:spPr>
          <a:xfrm>
            <a:off x="527051" y="3356992"/>
            <a:ext cx="10920536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git clone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https://github.com/EEESlab/HSDES-LAB05-PULP_Parallel_OpenMP.git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HSDES-LAB05-PULP_Parallel_OpenMP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hello-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omp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 CORES=1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A448D86-DCA8-47ED-7ABE-6401D8C71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4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Using the for construct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In "</a:t>
            </a:r>
            <a:r>
              <a:rPr lang="en-US" sz="1800" dirty="0" err="1"/>
              <a:t>kernels.c</a:t>
            </a:r>
            <a:r>
              <a:rPr lang="en-US" sz="1800" dirty="0"/>
              <a:t>," use a for directive with no additional clauses to parallelize the matrix multiplication kernel.</a:t>
            </a:r>
            <a:br>
              <a:rPr lang="en-US" sz="1800" dirty="0"/>
            </a:br>
            <a:r>
              <a:rPr lang="en-US" sz="1800" b="1" dirty="0"/>
              <a:t>Is the schedule static or dynamic? How is the workload distributed?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Modify the code to apply a static schedule with chunk size = 1.</a:t>
            </a:r>
            <a:br>
              <a:rPr lang="en-GB" sz="1800" dirty="0"/>
            </a:br>
            <a:r>
              <a:rPr lang="en-GB" sz="1800" b="1" dirty="0"/>
              <a:t>Compare</a:t>
            </a:r>
            <a:r>
              <a:rPr lang="en-GB" sz="1800" dirty="0"/>
              <a:t> its performance </a:t>
            </a:r>
            <a:r>
              <a:rPr lang="en-GB" sz="1800" b="1" dirty="0"/>
              <a:t>with the previous case</a:t>
            </a:r>
            <a:r>
              <a:rPr lang="en-GB" sz="1800" dirty="0"/>
              <a:t>.</a:t>
            </a:r>
            <a:endParaRPr lang="en-US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Modify the code to apply a dynamic schedule.</a:t>
            </a:r>
            <a:br>
              <a:rPr lang="en-GB" sz="1800" dirty="0"/>
            </a:br>
            <a:r>
              <a:rPr lang="en-US" sz="1800" dirty="0"/>
              <a:t>Compare its performance to that of the previous cases and explain the differences.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293DC-20D7-40E5-95DC-61D0B43521F1}"/>
              </a:ext>
            </a:extLst>
          </p:cNvPr>
          <p:cNvSpPr/>
          <p:nvPr/>
        </p:nvSpPr>
        <p:spPr>
          <a:xfrm>
            <a:off x="3047579" y="3369766"/>
            <a:ext cx="609684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HSDES-LAB05-PULP_Parallel_OpenMP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matrixMul-omp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 CORES=1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7400C6C-8210-6248-CB8B-2A8431380E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3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3: Using critical sections and reductions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In “</a:t>
            </a:r>
            <a:r>
              <a:rPr lang="en-US" sz="1800" dirty="0" err="1"/>
              <a:t>cluster.c</a:t>
            </a:r>
            <a:r>
              <a:rPr lang="en-US" sz="1800" dirty="0"/>
              <a:t>”, parallelize the </a:t>
            </a:r>
            <a:r>
              <a:rPr lang="en-US" sz="1800" dirty="0" err="1">
                <a:latin typeface="Consolas" panose="020B0609020204030204" pitchFamily="49" charset="0"/>
              </a:rPr>
              <a:t>iterative_pi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computation using a </a:t>
            </a:r>
            <a:r>
              <a:rPr lang="en-US" sz="1800" dirty="0">
                <a:latin typeface="Consolas" panose="020B0609020204030204" pitchFamily="49" charset="0"/>
              </a:rPr>
              <a:t>for</a:t>
            </a:r>
            <a:r>
              <a:rPr lang="en-US" sz="1800" dirty="0"/>
              <a:t> directive (</a:t>
            </a:r>
            <a:r>
              <a:rPr lang="en-US" sz="1800" u="sng" dirty="0"/>
              <a:t>with no additional clauses</a:t>
            </a:r>
            <a:r>
              <a:rPr lang="en-US" sz="1800" dirty="0"/>
              <a:t>).</a:t>
            </a:r>
            <a:br>
              <a:rPr lang="en-US" sz="1800" dirty="0"/>
            </a:br>
            <a:r>
              <a:rPr lang="en-US" sz="1800" dirty="0"/>
              <a:t>Is it a static or dynamic schedule? How is the workload distributed? Is the result correct when executing on 8 cores?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Modify the code to add a critical section for the area computation (</a:t>
            </a:r>
            <a:r>
              <a:rPr lang="en-GB" sz="1800" dirty="0">
                <a:latin typeface="Consolas" panose="020B0609020204030204" pitchFamily="49" charset="0"/>
              </a:rPr>
              <a:t>area += value</a:t>
            </a:r>
            <a:r>
              <a:rPr lang="en-GB" sz="1800" dirty="0"/>
              <a:t>).</a:t>
            </a:r>
            <a:br>
              <a:rPr lang="en-GB" sz="1800" dirty="0"/>
            </a:br>
            <a:r>
              <a:rPr lang="en-GB" sz="1800" dirty="0"/>
              <a:t>Check the result when executing on 8 cores and compute the parallel speedup.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/>
              <a:t>Modify the code to use a </a:t>
            </a:r>
            <a:r>
              <a:rPr lang="en-GB" sz="1800" dirty="0">
                <a:latin typeface="Consolas" panose="020B0609020204030204" pitchFamily="49" charset="0"/>
              </a:rPr>
              <a:t>reduction</a:t>
            </a:r>
            <a:r>
              <a:rPr lang="en-GB" sz="1800" dirty="0"/>
              <a:t> clause instead of a critical section</a:t>
            </a:r>
            <a:br>
              <a:rPr lang="en-GB" sz="1800" dirty="0"/>
            </a:br>
            <a:r>
              <a:rPr lang="en-GB" sz="1800" dirty="0"/>
              <a:t>Compare the performance to that of the previous case and explain the differences.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293DC-20D7-40E5-95DC-61D0B43521F1}"/>
              </a:ext>
            </a:extLst>
          </p:cNvPr>
          <p:cNvSpPr/>
          <p:nvPr/>
        </p:nvSpPr>
        <p:spPr>
          <a:xfrm>
            <a:off x="2915482" y="3585790"/>
            <a:ext cx="6361037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HSDES-LAB05-PULP_Parallel_OpenMP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computePi-omp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 CORES=1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1711FA-9535-97AF-6A79-BFC213CC2B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4: Task parallelism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In “</a:t>
            </a:r>
            <a:r>
              <a:rPr lang="en-US" sz="1800" dirty="0" err="1"/>
              <a:t>cluster.c</a:t>
            </a:r>
            <a:r>
              <a:rPr lang="en-US" sz="1800" dirty="0"/>
              <a:t>”, parallelize </a:t>
            </a:r>
            <a:r>
              <a:rPr lang="en-US" sz="1800" dirty="0" err="1"/>
              <a:t>compute_functions</a:t>
            </a:r>
            <a:r>
              <a:rPr lang="en-US" sz="1800" dirty="0"/>
              <a:t> considering each for loop as a separate task by using conditions on the thread id or using the sections directive.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Compute the parallel speedup.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[OPTIONAL] Compare this solution to an alternative one applying data parallelism inside each loop.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293DC-20D7-40E5-95DC-61D0B43521F1}"/>
              </a:ext>
            </a:extLst>
          </p:cNvPr>
          <p:cNvSpPr/>
          <p:nvPr/>
        </p:nvSpPr>
        <p:spPr>
          <a:xfrm>
            <a:off x="2951486" y="2865710"/>
            <a:ext cx="628902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HSDES-LAB05-PULP_Parallel_OpenMP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cd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computeTrigFunctions-omp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 make clean all run CORES=1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95F61C5-7CCE-CE33-95D1-7C04D38A58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2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Assignment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indent="-285750"/>
            <a:r>
              <a:rPr lang="it-IT" dirty="0"/>
              <a:t>Compare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exercises</a:t>
            </a:r>
            <a:r>
              <a:rPr lang="it-IT" dirty="0"/>
              <a:t> with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equivalent</a:t>
            </a:r>
            <a:r>
              <a:rPr lang="it-IT" dirty="0"/>
              <a:t> </a:t>
            </a:r>
            <a:r>
              <a:rPr lang="it-IT" dirty="0" err="1"/>
              <a:t>version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bare-metal </a:t>
            </a:r>
            <a:r>
              <a:rPr lang="it-IT" dirty="0" err="1"/>
              <a:t>parallelization</a:t>
            </a:r>
            <a:r>
              <a:rPr lang="it-IT" dirty="0"/>
              <a:t>.</a:t>
            </a:r>
          </a:p>
          <a:p>
            <a:pPr indent="-285750"/>
            <a:endParaRPr lang="it-IT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indent="-285750" algn="ctr"/>
            <a:r>
              <a:rPr lang="it-IT" b="1" dirty="0" err="1"/>
              <a:t>Which</a:t>
            </a:r>
            <a:r>
              <a:rPr lang="it-IT" b="1" dirty="0"/>
              <a:t> </a:t>
            </a:r>
            <a:r>
              <a:rPr lang="it-IT" b="1" dirty="0" err="1"/>
              <a:t>solution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better</a:t>
            </a:r>
            <a:r>
              <a:rPr lang="it-IT" b="1" dirty="0"/>
              <a:t>?</a:t>
            </a:r>
            <a:endParaRPr lang="it-IT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endParaRPr lang="it-IT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33164D1-B9F6-2221-51D1-9E466DA869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4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PULP OpenMP support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800" dirty="0"/>
              <a:t>Add the following line to the </a:t>
            </a:r>
            <a:r>
              <a:rPr lang="en-US" sz="1800" dirty="0" err="1"/>
              <a:t>Makefile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>
                <a:latin typeface="Consolas" panose="020B0609020204030204" pitchFamily="49" charset="0"/>
              </a:rPr>
              <a:t>CONFIG_OPENMP = 1</a:t>
            </a:r>
            <a:br>
              <a:rPr lang="en-US" sz="1800" dirty="0">
                <a:latin typeface="Consolas" panose="020B0609020204030204" pitchFamily="49" charset="0"/>
              </a:rPr>
            </a:br>
            <a:endParaRPr lang="en-US" sz="1800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en-US" sz="1800" dirty="0"/>
              <a:t>Avoid explicit forks inside the cluster </a:t>
            </a:r>
            <a:r>
              <a:rPr lang="en-US" sz="1800" dirty="0">
                <a:sym typeface="Wingdings" panose="05000000000000000000" pitchFamily="2" charset="2"/>
              </a:rPr>
              <a:t> the program</a:t>
            </a:r>
            <a:r>
              <a:rPr lang="en-US" sz="1800" dirty="0"/>
              <a:t> execution starts on a single core, parallelism is expressed by means of OpenMP directives</a:t>
            </a:r>
            <a:br>
              <a:rPr lang="en-US" sz="1800" dirty="0"/>
            </a:b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Call </a:t>
            </a:r>
            <a:r>
              <a:rPr lang="en-US" sz="1800" dirty="0" err="1"/>
              <a:t>rt_omp_start</a:t>
            </a:r>
            <a:r>
              <a:rPr lang="en-US" sz="1800" dirty="0"/>
              <a:t> inside the cluster code </a:t>
            </a:r>
            <a:r>
              <a:rPr lang="en-US" sz="1800" u="sng" dirty="0"/>
              <a:t>before using any OpenMP directives and/or runtime functions</a:t>
            </a:r>
            <a:br>
              <a:rPr lang="en-US" sz="1800" dirty="0"/>
            </a:b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b="1" dirty="0"/>
              <a:t>Use OpenMP directives and functions to express parallelism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9D6D696-3374-4733-090F-BE96E1D13A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8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37F106-88C8-E146-9EDF-220D837C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on </a:t>
            </a:r>
            <a:r>
              <a:rPr lang="en-US" dirty="0" err="1"/>
              <a:t>Makefile</a:t>
            </a:r>
            <a:r>
              <a:rPr lang="en-US" dirty="0"/>
              <a:t> rules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3056A-F695-E54B-8864-6B6570236B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/>
              <a:t>The </a:t>
            </a:r>
            <a:r>
              <a:rPr lang="en-US" sz="1600" dirty="0" err="1"/>
              <a:t>Makefile</a:t>
            </a:r>
            <a:r>
              <a:rPr lang="en-US" sz="1600" dirty="0"/>
              <a:t> is a “recipe” used to call the compiler/linker and, in this case, also to run the program. You can also chain several rules (e.g., </a:t>
            </a:r>
            <a:r>
              <a:rPr lang="en-US" sz="16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clean all run</a:t>
            </a:r>
            <a:r>
              <a:rPr lang="en-US" sz="1600" dirty="0"/>
              <a:t>) and pass options (e.g., </a:t>
            </a:r>
            <a:r>
              <a:rPr lang="en-US" sz="16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runner_args</a:t>
            </a:r>
            <a:r>
              <a:rPr lang="en-US" sz="16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="--</a:t>
            </a:r>
            <a:r>
              <a:rPr lang="en-US" sz="16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vcd</a:t>
            </a:r>
            <a:r>
              <a:rPr lang="en-US" sz="16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"</a:t>
            </a:r>
            <a:r>
              <a:rPr lang="en-US" sz="1600" dirty="0"/>
              <a:t>)</a:t>
            </a:r>
            <a:endParaRPr lang="en-US" sz="1600" i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/>
              <a:t>Remove any existing build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clean</a:t>
            </a:r>
            <a:endParaRPr lang="en-US" sz="1600" i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/>
              <a:t>Build program (calling compiler + linker)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all</a:t>
            </a:r>
            <a:endParaRPr lang="en-US" sz="1600" i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/>
              <a:t>Run the program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run</a:t>
            </a:r>
            <a:endParaRPr lang="en-US" sz="1600" i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/>
              <a:t>Run options: you can change them by adding </a:t>
            </a:r>
            <a:r>
              <a:rPr lang="en-US" sz="16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runner_args</a:t>
            </a:r>
            <a:r>
              <a:rPr lang="en-US" sz="16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="</a:t>
            </a:r>
            <a:r>
              <a:rPr lang="en-US" sz="16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OPTIONS</a:t>
            </a:r>
            <a:r>
              <a:rPr lang="en-US" sz="16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"</a:t>
            </a:r>
            <a:endParaRPr lang="en-US" sz="1100" b="1" dirty="0"/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run </a:t>
            </a:r>
            <a:r>
              <a:rPr lang="en-US" sz="1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runner_args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="--trace=.*</a:t>
            </a:r>
            <a:r>
              <a:rPr lang="en-US" sz="1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insn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.*" &gt; trace.log   </a:t>
            </a:r>
            <a:r>
              <a:rPr lang="en-US" sz="12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# written trace of instructions</a:t>
            </a:r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/>
              <a:t>Disassembling: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make dis &gt; </a:t>
            </a:r>
            <a:r>
              <a:rPr lang="en-US" sz="1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test.S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                                   </a:t>
            </a:r>
            <a:r>
              <a:rPr lang="en-US" sz="12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# disassemble without </a:t>
            </a:r>
            <a:r>
              <a:rPr lang="en-US" sz="1200" i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inlined</a:t>
            </a:r>
            <a:r>
              <a:rPr lang="en-US" sz="12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source code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/app/</a:t>
            </a:r>
            <a:r>
              <a:rPr lang="en-US" sz="1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riscv-gcc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/bin/riscv32-unknown-elf-objdump –D -S &gt; </a:t>
            </a:r>
            <a:r>
              <a:rPr lang="en-US" sz="1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test.S</a:t>
            </a:r>
            <a:r>
              <a:rPr lang="en-US" sz="12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r>
              <a:rPr lang="en-US" sz="12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# disassemble with </a:t>
            </a:r>
            <a:r>
              <a:rPr lang="en-US" sz="1200" i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inlined</a:t>
            </a:r>
            <a:r>
              <a:rPr lang="en-US" sz="1200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source code</a:t>
            </a:r>
            <a:endParaRPr lang="en-US" sz="1200" b="1" dirty="0"/>
          </a:p>
          <a:p>
            <a:pPr>
              <a:spcBef>
                <a:spcPts val="600"/>
              </a:spcBef>
            </a:pPr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5A0D6-6F90-4CD0-B53E-AA2CCF35E9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0BE87-EA49-234B-AB60-DA484B3832C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9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A5053-97CB-4724-B255-706C54297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Andrea Belano	andrea.belano2@unibo.it</a:t>
            </a:r>
          </a:p>
        </p:txBody>
      </p:sp>
    </p:spTree>
    <p:extLst>
      <p:ext uri="{BB962C8B-B14F-4D97-AF65-F5344CB8AC3E}">
        <p14:creationId xmlns:p14="http://schemas.microsoft.com/office/powerpoint/2010/main" val="2385498511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45760B21-68C2-9840-AFB1-73FEC082CBB2}"/>
    </a:ext>
  </a:extLst>
</a:theme>
</file>

<file path=ppt/theme/theme2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+mj-lt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accent1"/>
            </a:solidFill>
            <a:latin typeface="+mn-lt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Intro_Architectures_RISCV_2025_FRANCESCO" id="{D2381578-3147-C84A-9038-91BEDAFAA4A6}" vid="{19F228F0-784F-754B-8966-6A2EDC6A023E}"/>
    </a:ext>
  </a:extLst>
</a:theme>
</file>

<file path=ppt/theme/theme3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8CD27338-4583-844A-80A0-D761EFF3D4FB}"/>
    </a:ext>
  </a:extLst>
</a:theme>
</file>

<file path=ppt/theme/theme4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D8ECB409-EA4B-0C4E-9DA3-1D45C9C8AC68}"/>
    </a:ext>
  </a:extLst>
</a:theme>
</file>

<file path=ppt/theme/theme5.xml><?xml version="1.0" encoding="utf-8"?>
<a:theme xmlns:a="http://schemas.openxmlformats.org/drawingml/2006/main" name="eth_praesentation_4zu3_ETH6">
  <a:themeElements>
    <a:clrScheme name="Pulp Colors">
      <a:dk1>
        <a:sysClr val="windowText" lastClr="000000"/>
      </a:dk1>
      <a:lt1>
        <a:sysClr val="window" lastClr="FFFFFF"/>
      </a:lt1>
      <a:dk2>
        <a:srgbClr val="5E5E5E"/>
      </a:dk2>
      <a:lt2>
        <a:srgbClr val="B4B4B4"/>
      </a:lt2>
      <a:accent1>
        <a:srgbClr val="1CB24B"/>
      </a:accent1>
      <a:accent2>
        <a:srgbClr val="F79646"/>
      </a:accent2>
      <a:accent3>
        <a:srgbClr val="B4B4B4"/>
      </a:accent3>
      <a:accent4>
        <a:srgbClr val="5E5E5E"/>
      </a:accent4>
      <a:accent5>
        <a:srgbClr val="E86E0A"/>
      </a:accent5>
      <a:accent6>
        <a:srgbClr val="0E5624"/>
      </a:accent6>
      <a:hlink>
        <a:srgbClr val="1CB24B"/>
      </a:hlink>
      <a:folHlink>
        <a:srgbClr val="0E5624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sq">
          <a:solidFill>
            <a:schemeClr val="tx1"/>
          </a:solidFill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TH 6">
        <a:dk1>
          <a:sysClr val="windowText" lastClr="000000"/>
        </a:dk1>
        <a:lt1>
          <a:sysClr val="window" lastClr="FFFFFF"/>
        </a:lt1>
        <a:dk2>
          <a:srgbClr val="000000"/>
        </a:dk2>
        <a:lt2>
          <a:srgbClr val="FFFFFF"/>
        </a:lt2>
        <a:accent1>
          <a:srgbClr val="6F6F64"/>
        </a:accent1>
        <a:accent2>
          <a:srgbClr val="86867D"/>
        </a:accent2>
        <a:accent3>
          <a:srgbClr val="9D9D96"/>
        </a:accent3>
        <a:accent4>
          <a:srgbClr val="B4B4AE"/>
        </a:accent4>
        <a:accent5>
          <a:srgbClr val="CBCBC7"/>
        </a:accent5>
        <a:accent6>
          <a:srgbClr val="E2E2E0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ETH 3">
      <a:srgbClr val="1269B0"/>
    </a:custClr>
    <a:custClr name="ETH 4">
      <a:srgbClr val="72791C"/>
    </a:custClr>
    <a:custClr name="ETH 5">
      <a:srgbClr val="91056A"/>
    </a:custClr>
    <a:custClr name="ETH 6">
      <a:srgbClr val="6F6F6E"/>
    </a:custClr>
    <a:custClr name="ETH 7">
      <a:srgbClr val="A8322D"/>
    </a:custClr>
    <a:custClr name="ETH 8">
      <a:srgbClr val="007A96"/>
    </a:custClr>
    <a:custClr name="ETH 9">
      <a:srgbClr val="956013"/>
    </a:custClr>
  </a:custClrLst>
  <a:extLst>
    <a:ext uri="{05A4C25C-085E-4340-85A3-A5531E510DB2}">
      <thm15:themeFamily xmlns:thm15="http://schemas.microsoft.com/office/thememl/2012/main" name="eth_praesentation_4zu3_ETH1_d" id="{13D4407A-1790-4B2E-BB8C-EB574A67D067}" vid="{CD87C4A7-662A-4073-B26A-B07F61798336}"/>
    </a:ext>
  </a:extLst>
</a:theme>
</file>

<file path=ppt/theme/theme6.xml><?xml version="1.0" encoding="utf-8"?>
<a:theme xmlns:a="http://schemas.openxmlformats.org/drawingml/2006/main" name="1_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PptIstituzionaleBologna4-3" id="{B8D0F4AB-59B0-4047-875E-E6877BD56A5E}" vid="{D8ECB409-EA4B-0C4E-9DA3-1D45C9C8AC6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740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9</vt:i4>
      </vt:variant>
    </vt:vector>
  </HeadingPairs>
  <TitlesOfParts>
    <vt:vector size="26" baseType="lpstr">
      <vt:lpstr>Arial</vt:lpstr>
      <vt:lpstr>Arial Narrow</vt:lpstr>
      <vt:lpstr>Calibri</vt:lpstr>
      <vt:lpstr>Calibri Light</vt:lpstr>
      <vt:lpstr>Calibri Regular</vt:lpstr>
      <vt:lpstr>Century Gothic</vt:lpstr>
      <vt:lpstr>Consolas</vt:lpstr>
      <vt:lpstr>Courier New</vt:lpstr>
      <vt:lpstr>Source Code Pro</vt:lpstr>
      <vt:lpstr>Source Sans Pro</vt:lpstr>
      <vt:lpstr>Wingdings</vt:lpstr>
      <vt:lpstr>COPERTINA</vt:lpstr>
      <vt:lpstr>1_PULP Triangle</vt:lpstr>
      <vt:lpstr>DIAPOSITIVE</vt:lpstr>
      <vt:lpstr>CHIUSURA</vt:lpstr>
      <vt:lpstr>eth_praesentation_4zu3_ETH6</vt:lpstr>
      <vt:lpstr>1_CHIUSURA</vt:lpstr>
      <vt:lpstr>LAB04 Parallel programming on PULP with OpenMP </vt:lpstr>
      <vt:lpstr>EXERCISE 1: Using the parallel construct and its data scope clauses</vt:lpstr>
      <vt:lpstr>EXERCISE 2: Using the for construct</vt:lpstr>
      <vt:lpstr>EXERCISE 3: Using critical sections and reductions</vt:lpstr>
      <vt:lpstr>EXERCISE 4: Task parallelism</vt:lpstr>
      <vt:lpstr>Lab Assignment</vt:lpstr>
      <vt:lpstr>PULP OpenMP support</vt:lpstr>
      <vt:lpstr>Reference on Makefile rules</vt:lpstr>
      <vt:lpstr>Presentazione standard di PowerPoint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Andrea Belano</cp:lastModifiedBy>
  <cp:revision>450</cp:revision>
  <cp:lastPrinted>2020-04-17T09:44:22Z</cp:lastPrinted>
  <dcterms:created xsi:type="dcterms:W3CDTF">2017-11-13T10:11:35Z</dcterms:created>
  <dcterms:modified xsi:type="dcterms:W3CDTF">2026-05-21T16:21:05Z</dcterms:modified>
</cp:coreProperties>
</file>