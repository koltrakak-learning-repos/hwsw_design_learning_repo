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97" r:id="rId2"/>
    <p:sldMasterId id="2147483660" r:id="rId3"/>
    <p:sldMasterId id="2147483671" r:id="rId4"/>
    <p:sldMasterId id="2147483684" r:id="rId5"/>
  </p:sldMasterIdLst>
  <p:notesMasterIdLst>
    <p:notesMasterId r:id="rId35"/>
  </p:notesMasterIdLst>
  <p:handoutMasterIdLst>
    <p:handoutMasterId r:id="rId36"/>
  </p:handoutMasterIdLst>
  <p:sldIdLst>
    <p:sldId id="263" r:id="rId6"/>
    <p:sldId id="731" r:id="rId7"/>
    <p:sldId id="724" r:id="rId8"/>
    <p:sldId id="662" r:id="rId9"/>
    <p:sldId id="659" r:id="rId10"/>
    <p:sldId id="732" r:id="rId11"/>
    <p:sldId id="733" r:id="rId12"/>
    <p:sldId id="690" r:id="rId13"/>
    <p:sldId id="652" r:id="rId14"/>
    <p:sldId id="271" r:id="rId15"/>
    <p:sldId id="691" r:id="rId16"/>
    <p:sldId id="633" r:id="rId17"/>
    <p:sldId id="274" r:id="rId18"/>
    <p:sldId id="678" r:id="rId19"/>
    <p:sldId id="686" r:id="rId20"/>
    <p:sldId id="650" r:id="rId21"/>
    <p:sldId id="698" r:id="rId22"/>
    <p:sldId id="712" r:id="rId23"/>
    <p:sldId id="725" r:id="rId24"/>
    <p:sldId id="661" r:id="rId25"/>
    <p:sldId id="706" r:id="rId26"/>
    <p:sldId id="708" r:id="rId27"/>
    <p:sldId id="730" r:id="rId28"/>
    <p:sldId id="660" r:id="rId29"/>
    <p:sldId id="672" r:id="rId30"/>
    <p:sldId id="714" r:id="rId31"/>
    <p:sldId id="729" r:id="rId32"/>
    <p:sldId id="684" r:id="rId33"/>
    <p:sldId id="658" r:id="rId3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iuseppe Tagliavini" initials="GT" lastIdx="2" clrIdx="0">
    <p:extLst>
      <p:ext uri="{19B8F6BF-5375-455C-9EA6-DF929625EA0E}">
        <p15:presenceInfo xmlns:p15="http://schemas.microsoft.com/office/powerpoint/2012/main" userId="7ceeb624db00193b" providerId="Windows Live"/>
      </p:ext>
    </p:extLst>
  </p:cmAuthor>
  <p:cmAuthor id="2" name="Manuele Rusci" initials="MR" lastIdx="23" clrIdx="1">
    <p:extLst>
      <p:ext uri="{19B8F6BF-5375-455C-9EA6-DF929625EA0E}">
        <p15:presenceInfo xmlns:p15="http://schemas.microsoft.com/office/powerpoint/2012/main" userId="S::manuele.rusci@unibo.it::9a6e6972-c197-40d0-a50b-c9b859ec88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100B4"/>
    <a:srgbClr val="008000"/>
    <a:srgbClr val="30ED85"/>
    <a:srgbClr val="B4EDCE"/>
    <a:srgbClr val="294B21"/>
    <a:srgbClr val="AAF963"/>
    <a:srgbClr val="CE3EFE"/>
    <a:srgbClr val="CFEDDD"/>
    <a:srgbClr val="FFFFF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C63815-5CBB-9B26-CCA9-AAB8191A15E9}" v="202" dt="2026-03-10T09:14:41.8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97008-5A80-491E-BE13-934481939984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53CF82-CBDD-42C1-9B63-A5CC225C7AF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65230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8AE00-9959-1548-BB2A-54BE73022EF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08C40-5E21-9343-91C9-11F12B130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8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35ABEB-D898-3E42-AE61-56CF49C1D6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1819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35ABEB-D898-3E42-AE61-56CF49C1D6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9523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5ABEB-D898-3E42-AE61-56CF49C1D6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44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COPERT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sz="quarter" idx="10" hasCustomPrompt="1"/>
          </p:nvPr>
        </p:nvSpPr>
        <p:spPr>
          <a:xfrm>
            <a:off x="4751851" y="548680"/>
            <a:ext cx="6913364" cy="4536504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6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it-IT"/>
              <a:t>Fare clic per inserire </a:t>
            </a:r>
          </a:p>
          <a:p>
            <a:pPr lvl="0"/>
            <a:r>
              <a:rPr lang="it-IT"/>
              <a:t>il titolo della presentazione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1" hasCustomPrompt="1"/>
          </p:nvPr>
        </p:nvSpPr>
        <p:spPr>
          <a:xfrm>
            <a:off x="4751917" y="5379814"/>
            <a:ext cx="7008283" cy="42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it-IT"/>
              <a:t>Nome Cognome</a:t>
            </a:r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2" hasCustomPrompt="1"/>
          </p:nvPr>
        </p:nvSpPr>
        <p:spPr>
          <a:xfrm>
            <a:off x="4751918" y="5877942"/>
            <a:ext cx="7105649" cy="7914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it-IT"/>
              <a:t>Dipartimento/Struttura </a:t>
            </a:r>
            <a:r>
              <a:rPr lang="it-IT" err="1"/>
              <a:t>xxxxxx</a:t>
            </a:r>
            <a:r>
              <a:rPr lang="it-IT"/>
              <a:t> </a:t>
            </a:r>
            <a:r>
              <a:rPr lang="it-IT" err="1"/>
              <a:t>xxxxxxxxxxxx</a:t>
            </a:r>
            <a:r>
              <a:rPr lang="it-IT"/>
              <a:t> </a:t>
            </a:r>
            <a:r>
              <a:rPr lang="it-IT" err="1"/>
              <a:t>xxxxxxxx</a:t>
            </a:r>
            <a:r>
              <a:rPr lang="it-IT"/>
              <a:t> </a:t>
            </a:r>
            <a:r>
              <a:rPr lang="it-IT" err="1"/>
              <a:t>xxxxx</a:t>
            </a:r>
            <a:r>
              <a:rPr lang="it-IT"/>
              <a:t> </a:t>
            </a:r>
            <a:r>
              <a:rPr lang="it-IT" err="1"/>
              <a:t>xxxxxxxxxxxxxxxxxxx</a:t>
            </a:r>
            <a:r>
              <a:rPr lang="it-IT"/>
              <a:t> </a:t>
            </a:r>
            <a:r>
              <a:rPr lang="it-IT" err="1"/>
              <a:t>xxxxx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6725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ubtitle 2">
            <a:extLst>
              <a:ext uri="{FF2B5EF4-FFF2-40B4-BE49-F238E27FC236}">
                <a16:creationId xmlns:a16="http://schemas.microsoft.com/office/drawing/2014/main" id="{D93D6F44-AA10-891D-BF7D-311C32BF0F9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487" y="3115708"/>
            <a:ext cx="6095742" cy="380990"/>
          </a:xfrm>
        </p:spPr>
        <p:txBody>
          <a:bodyPr lIns="0" tIns="0" rIns="0" bIns="0" anchor="b"/>
          <a:lstStyle>
            <a:lvl1pPr marL="0" indent="0" algn="l">
              <a:buNone/>
              <a:defRPr sz="2540" b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1" name="Title 8">
            <a:extLst>
              <a:ext uri="{FF2B5EF4-FFF2-40B4-BE49-F238E27FC236}">
                <a16:creationId xmlns:a16="http://schemas.microsoft.com/office/drawing/2014/main" id="{5D78059F-19FB-CAFA-4937-958597D5C90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81486" y="1854817"/>
            <a:ext cx="10667548" cy="1142969"/>
          </a:xfrm>
        </p:spPr>
        <p:txBody>
          <a:bodyPr anchor="t"/>
          <a:lstStyle>
            <a:lvl1pPr>
              <a:defRPr sz="3810" b="0">
                <a:solidFill>
                  <a:srgbClr val="C00000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r>
              <a:rPr lang="en-US" noProof="0"/>
              <a:t>Click to edit Master title style (in case you have a</a:t>
            </a:r>
            <a:br>
              <a:rPr lang="en-US" noProof="0"/>
            </a:br>
            <a:r>
              <a:rPr lang="en-US" noProof="0"/>
              <a:t>very very long title it can also span multiple lines)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68568A-23B5-DA36-6C0D-2408AF9BED45}"/>
              </a:ext>
            </a:extLst>
          </p:cNvPr>
          <p:cNvSpPr/>
          <p:nvPr userDrawn="1"/>
        </p:nvSpPr>
        <p:spPr>
          <a:xfrm rot="2700000">
            <a:off x="9949083" y="3485624"/>
            <a:ext cx="1617442" cy="1617417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05" noProof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E5778BE-53D9-EBE2-E1E3-9486D873D633}"/>
              </a:ext>
            </a:extLst>
          </p:cNvPr>
          <p:cNvSpPr/>
          <p:nvPr userDrawn="1"/>
        </p:nvSpPr>
        <p:spPr>
          <a:xfrm rot="2700000">
            <a:off x="9473177" y="3855327"/>
            <a:ext cx="861773" cy="883471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05" noProof="0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1C72157-447E-AAA3-80DA-9A3928C6C6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487" y="3884883"/>
            <a:ext cx="6095742" cy="1713889"/>
          </a:xfrm>
        </p:spPr>
        <p:txBody>
          <a:bodyPr/>
          <a:lstStyle>
            <a:lvl1pPr marL="0" indent="0">
              <a:buNone/>
              <a:defRPr sz="2117" b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noProof="0">
                <a:latin typeface="+mj-lt"/>
              </a:rPr>
              <a:t>Author Name 1    </a:t>
            </a:r>
            <a:r>
              <a:rPr lang="en-US" noProof="0">
                <a:solidFill>
                  <a:schemeClr val="tx1"/>
                </a:solidFill>
              </a:rPr>
              <a:t>mail1@iis.ee.ethz.ch</a:t>
            </a:r>
            <a:br>
              <a:rPr lang="en-US" noProof="0">
                <a:solidFill>
                  <a:schemeClr val="tx1"/>
                </a:solidFill>
              </a:rPr>
            </a:br>
            <a:r>
              <a:rPr lang="en-US" b="1" noProof="0">
                <a:latin typeface="+mj-lt"/>
              </a:rPr>
              <a:t>Author Name 2    </a:t>
            </a:r>
            <a:r>
              <a:rPr lang="en-US" noProof="0">
                <a:solidFill>
                  <a:schemeClr val="tx1"/>
                </a:solidFill>
              </a:rPr>
              <a:t>mail2@iis.ee.ethz.ch</a:t>
            </a:r>
            <a:br>
              <a:rPr lang="en-US" b="1" noProof="0">
                <a:latin typeface="+mj-lt"/>
              </a:rPr>
            </a:br>
            <a:r>
              <a:rPr lang="en-US" b="1" noProof="0">
                <a:latin typeface="+mj-lt"/>
              </a:rPr>
              <a:t>Author Name 3    </a:t>
            </a:r>
            <a:r>
              <a:rPr lang="en-US" noProof="0">
                <a:solidFill>
                  <a:schemeClr val="tx1"/>
                </a:solidFill>
              </a:rPr>
              <a:t>mail3@unibo.it</a:t>
            </a:r>
            <a:br>
              <a:rPr lang="en-US" b="1" noProof="0">
                <a:latin typeface="+mj-lt"/>
              </a:rPr>
            </a:br>
            <a:r>
              <a:rPr lang="en-US" b="1" noProof="0">
                <a:latin typeface="+mj-lt"/>
              </a:rPr>
              <a:t>Author Name 4    </a:t>
            </a:r>
            <a:r>
              <a:rPr lang="en-US" noProof="0">
                <a:solidFill>
                  <a:schemeClr val="tx1"/>
                </a:solidFill>
              </a:rPr>
              <a:t>mail4@unibo.it</a:t>
            </a:r>
            <a:endParaRPr lang="en-US" b="1" noProof="0">
              <a:latin typeface="+mj-lt"/>
            </a:endParaRPr>
          </a:p>
        </p:txBody>
      </p:sp>
      <p:pic>
        <p:nvPicPr>
          <p:cNvPr id="12" name="Picture 11" descr="A logo on a black background&#10;&#10;Description automatically generated">
            <a:extLst>
              <a:ext uri="{FF2B5EF4-FFF2-40B4-BE49-F238E27FC236}">
                <a16:creationId xmlns:a16="http://schemas.microsoft.com/office/drawing/2014/main" id="{67B48A85-951C-6934-67B0-C701770193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432" t="9486" r="7777" b="7244"/>
          <a:stretch/>
        </p:blipFill>
        <p:spPr>
          <a:xfrm>
            <a:off x="9447082" y="4643345"/>
            <a:ext cx="2454418" cy="191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33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1" y="990573"/>
            <a:ext cx="10667551" cy="5524351"/>
          </a:xfrm>
        </p:spPr>
        <p:txBody>
          <a:bodyPr lIns="0"/>
          <a:lstStyle>
            <a:lvl1pPr marL="304795" indent="-304795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533383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761976" indent="-228597">
              <a:buClrTx/>
              <a:buFont typeface="Arial" panose="020B0604020202020204" pitchFamily="34" charset="0"/>
              <a:buChar char="•"/>
              <a:defRPr sz="1905">
                <a:solidFill>
                  <a:schemeClr val="tx1"/>
                </a:solidFill>
              </a:defRPr>
            </a:lvl3pPr>
            <a:lvl4pPr marL="990569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219162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E741D-DF86-4A3D-DF9D-A4FFA6F777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87C1C-F0E1-9B48-6BC9-7FFF56ADE9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4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0" y="990573"/>
            <a:ext cx="5333774" cy="5524351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50277" y="990573"/>
            <a:ext cx="5333774" cy="5524351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B5078-341C-4154-4064-BE0AD2B3F9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ADA4-720D-7361-338C-106924EF74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236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-Th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6342" y="990573"/>
            <a:ext cx="6857709" cy="552435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3" y="990573"/>
            <a:ext cx="3809839" cy="552435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BB8B8-3BA4-B4B8-A5C5-6B943984B6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55C4-9751-FC37-00B6-D3B10C1817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5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ck-Th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4" y="990573"/>
            <a:ext cx="6857709" cy="552435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74213" y="990573"/>
            <a:ext cx="3809839" cy="552435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29531-4266-41D8-C902-18438A77E80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ADBFD-8297-D7FA-8C82-37223A28A9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37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lus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1930-E256-A84E-8AC4-067EFE37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A658AA-5F13-9145-AA9C-7217BB8AFC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3" y="990573"/>
            <a:ext cx="10667548" cy="2666928"/>
          </a:xfrm>
          <a:effectLst/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BBDF1A2-5CF8-E945-BD80-7B75AF0E1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6503" y="3660517"/>
            <a:ext cx="5333774" cy="28574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52D67F4-7CD9-7D48-9F3C-897EB7BBCA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50277" y="3660517"/>
            <a:ext cx="5333774" cy="28574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C37B2-5C80-94D6-1AEA-FC88E0D7A6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01DA4-BFA2-822A-E2BF-DBC2248BD7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1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26058" y="990573"/>
            <a:ext cx="3428855" cy="533385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500"/>
              </a:spcBef>
              <a:defRPr sz="20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 marL="1077900" indent="-177798"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945408" y="990573"/>
            <a:ext cx="3428855" cy="533385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500"/>
              </a:spcBef>
              <a:defRPr sz="20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 marL="1077900" indent="-177798"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466C897-17D8-464D-80AC-5BEDA0432F9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564755" y="990573"/>
            <a:ext cx="3428855" cy="533385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500"/>
              </a:spcBef>
              <a:defRPr sz="20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 marL="1077900" indent="-177798"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B2C5F9-4358-A05F-BE1B-DC3232E3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2525F-FE6F-3F2A-87F8-E53C217DF6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30934-A358-D4CE-05CE-858B26903D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6984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21017" y="990573"/>
            <a:ext cx="5333774" cy="2666928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500"/>
              </a:spcBef>
              <a:defRPr sz="20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 marL="1077900" indent="-177798"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654795" y="990573"/>
            <a:ext cx="5333774" cy="2666928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500"/>
              </a:spcBef>
              <a:defRPr sz="20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 marL="1077900" indent="-177798"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A7A6DD52-705F-8C4E-BFBD-BE67BF0FB65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21017" y="3657501"/>
            <a:ext cx="5333774" cy="2666928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500"/>
              </a:spcBef>
              <a:defRPr sz="20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 marL="1077900" indent="-177798"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3ED5591-6176-CF4B-A32B-DDE9257B1FB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5654795" y="3657501"/>
            <a:ext cx="5333774" cy="2666928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500"/>
              </a:spcBef>
              <a:defRPr sz="20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 marL="1077900" indent="-177798"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C3703-F424-8B60-F39C-21AD97BE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A470E-C584-A4A1-8BE3-D0FEE79024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D1A2-6488-61E8-64DC-5E07F8B192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30296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ECC96-5C3D-1CA7-88A0-A48C5307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98AFC-21DE-CE33-4051-59D40FE7A6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18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950E2-5B08-DE4D-85C1-073281664B68}"/>
              </a:ext>
            </a:extLst>
          </p:cNvPr>
          <p:cNvSpPr txBox="1"/>
          <p:nvPr userDrawn="1"/>
        </p:nvSpPr>
        <p:spPr>
          <a:xfrm>
            <a:off x="998583" y="522977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61976"/>
            <a:endParaRPr lang="en-US" sz="2540" b="0" i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83599-52C6-66B6-B195-3B42A9179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86D1-30CD-4299-12D8-EE049F90D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612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1" y="990573"/>
            <a:ext cx="10667551" cy="5524351"/>
          </a:xfrm>
        </p:spPr>
        <p:txBody>
          <a:bodyPr lIns="0"/>
          <a:lstStyle>
            <a:lvl1pPr marL="304795" indent="-304795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533383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761976" indent="-228597">
              <a:buClrTx/>
              <a:buFont typeface="Arial" panose="020B0604020202020204" pitchFamily="34" charset="0"/>
              <a:buChar char="•"/>
              <a:defRPr sz="1905">
                <a:solidFill>
                  <a:schemeClr val="tx1"/>
                </a:solidFill>
              </a:defRPr>
            </a:lvl3pPr>
            <a:lvl4pPr marL="990569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219162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9519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22104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956A24-FE4F-CC41-AE52-8BE952BA28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6452" y="378926"/>
            <a:ext cx="10667551" cy="628633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E65FE-2553-922C-9C05-7425A35329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E03E8-F737-F054-80B2-299F72A034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521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05" b="1" i="0" cap="none" spc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0" y="990573"/>
            <a:ext cx="5333774" cy="5524351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0" y="990573"/>
            <a:ext cx="6102077" cy="5524351"/>
          </a:xfrm>
        </p:spPr>
        <p:txBody>
          <a:bodyPr lIns="468000" tIns="252000"/>
          <a:lstStyle>
            <a:lvl1pPr marL="0" indent="0">
              <a:lnSpc>
                <a:spcPts val="1058"/>
              </a:lnSpc>
              <a:buNone/>
              <a:defRPr sz="1905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35699117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272A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05" b="1" i="0" cap="none" spc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0" y="990573"/>
            <a:ext cx="5333774" cy="5524351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0" y="990573"/>
            <a:ext cx="6102077" cy="5524351"/>
          </a:xfrm>
        </p:spPr>
        <p:txBody>
          <a:bodyPr lIns="468000" tIns="252000"/>
          <a:lstStyle>
            <a:lvl1pPr marL="0" indent="0">
              <a:lnSpc>
                <a:spcPts val="1058"/>
              </a:lnSpc>
              <a:buNone/>
              <a:defRPr sz="1905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28651298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5705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61944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+ Q&amp;A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150BE-61A2-B1E2-756A-7134BE7E136A}"/>
              </a:ext>
            </a:extLst>
          </p:cNvPr>
          <p:cNvSpPr txBox="1"/>
          <p:nvPr userDrawn="1"/>
        </p:nvSpPr>
        <p:spPr>
          <a:xfrm>
            <a:off x="2042921" y="2089608"/>
            <a:ext cx="3299901" cy="87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80" b="0" i="0" u="none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Thank you!</a:t>
            </a:r>
          </a:p>
        </p:txBody>
      </p:sp>
      <p:sp>
        <p:nvSpPr>
          <p:cNvPr id="7" name="Google Shape;1096;p28">
            <a:extLst>
              <a:ext uri="{FF2B5EF4-FFF2-40B4-BE49-F238E27FC236}">
                <a16:creationId xmlns:a16="http://schemas.microsoft.com/office/drawing/2014/main" id="{9EB57577-2B72-4910-D401-BBB6EDA09B5E}"/>
              </a:ext>
            </a:extLst>
          </p:cNvPr>
          <p:cNvSpPr/>
          <p:nvPr userDrawn="1"/>
        </p:nvSpPr>
        <p:spPr>
          <a:xfrm>
            <a:off x="6870456" y="1573479"/>
            <a:ext cx="3433291" cy="3433344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6754" tIns="96754" rIns="96754" bIns="9675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905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D5AEE-A9BE-AED9-1997-707BCB05F17E}"/>
              </a:ext>
            </a:extLst>
          </p:cNvPr>
          <p:cNvSpPr txBox="1"/>
          <p:nvPr userDrawn="1"/>
        </p:nvSpPr>
        <p:spPr>
          <a:xfrm>
            <a:off x="7393950" y="2122179"/>
            <a:ext cx="1547401" cy="809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57" b="1" i="0" u="none">
                <a:solidFill>
                  <a:srgbClr val="B4B4B6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8564447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s + Q&amp;A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5307065-E90A-B637-3095-10DFEA112280}"/>
              </a:ext>
            </a:extLst>
          </p:cNvPr>
          <p:cNvGrpSpPr/>
          <p:nvPr userDrawn="1"/>
        </p:nvGrpSpPr>
        <p:grpSpPr>
          <a:xfrm>
            <a:off x="7862752" y="1833222"/>
            <a:ext cx="3138406" cy="3138455"/>
            <a:chOff x="6492044" y="1486792"/>
            <a:chExt cx="3244192" cy="3244192"/>
          </a:xfrm>
        </p:grpSpPr>
        <p:sp>
          <p:nvSpPr>
            <p:cNvPr id="7" name="Google Shape;1096;p28">
              <a:extLst>
                <a:ext uri="{FF2B5EF4-FFF2-40B4-BE49-F238E27FC236}">
                  <a16:creationId xmlns:a16="http://schemas.microsoft.com/office/drawing/2014/main" id="{9EB57577-2B72-4910-D401-BBB6EDA09B5E}"/>
                </a:ext>
              </a:extLst>
            </p:cNvPr>
            <p:cNvSpPr/>
            <p:nvPr userDrawn="1"/>
          </p:nvSpPr>
          <p:spPr>
            <a:xfrm>
              <a:off x="6492044" y="1486792"/>
              <a:ext cx="3244192" cy="3244192"/>
            </a:xfrm>
            <a:custGeom>
              <a:avLst/>
              <a:gdLst/>
              <a:ahLst/>
              <a:cxnLst/>
              <a:rect l="l" t="t" r="r" b="b"/>
              <a:pathLst>
                <a:path w="158750" h="158750" extrusionOk="0">
                  <a:moveTo>
                    <a:pt x="8255" y="0"/>
                  </a:moveTo>
                  <a:cubicBezTo>
                    <a:pt x="3810" y="0"/>
                    <a:pt x="0" y="3810"/>
                    <a:pt x="0" y="8255"/>
                  </a:cubicBezTo>
                  <a:lnTo>
                    <a:pt x="0" y="119380"/>
                  </a:lnTo>
                  <a:lnTo>
                    <a:pt x="31750" y="87630"/>
                  </a:lnTo>
                  <a:lnTo>
                    <a:pt x="111125" y="87630"/>
                  </a:lnTo>
                  <a:cubicBezTo>
                    <a:pt x="115570" y="87630"/>
                    <a:pt x="119380" y="83820"/>
                    <a:pt x="119380" y="79375"/>
                  </a:cubicBezTo>
                  <a:lnTo>
                    <a:pt x="119380" y="8255"/>
                  </a:lnTo>
                  <a:cubicBezTo>
                    <a:pt x="119380" y="3810"/>
                    <a:pt x="115570" y="0"/>
                    <a:pt x="111125" y="0"/>
                  </a:cubicBezTo>
                  <a:close/>
                  <a:moveTo>
                    <a:pt x="135255" y="31750"/>
                  </a:moveTo>
                  <a:lnTo>
                    <a:pt x="135255" y="103505"/>
                  </a:lnTo>
                  <a:lnTo>
                    <a:pt x="31750" y="103505"/>
                  </a:lnTo>
                  <a:lnTo>
                    <a:pt x="31750" y="119380"/>
                  </a:lnTo>
                  <a:cubicBezTo>
                    <a:pt x="31750" y="123190"/>
                    <a:pt x="35560" y="127000"/>
                    <a:pt x="40005" y="127000"/>
                  </a:cubicBezTo>
                  <a:lnTo>
                    <a:pt x="127000" y="127000"/>
                  </a:lnTo>
                  <a:lnTo>
                    <a:pt x="158750" y="158750"/>
                  </a:lnTo>
                  <a:lnTo>
                    <a:pt x="158750" y="40005"/>
                  </a:lnTo>
                  <a:cubicBezTo>
                    <a:pt x="158750" y="35560"/>
                    <a:pt x="154940" y="31750"/>
                    <a:pt x="151130" y="3175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905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CAD5AEE-A9BE-AED9-1997-707BCB05F17E}"/>
                </a:ext>
              </a:extLst>
            </p:cNvPr>
            <p:cNvSpPr txBox="1"/>
            <p:nvPr userDrawn="1"/>
          </p:nvSpPr>
          <p:spPr>
            <a:xfrm>
              <a:off x="6986705" y="2005263"/>
              <a:ext cx="1462173" cy="836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657" b="1" i="0" u="none">
                  <a:solidFill>
                    <a:srgbClr val="B4B4B6"/>
                  </a:solidFill>
                  <a:latin typeface="+mj-lt"/>
                  <a:ea typeface="Roboto Condensed" panose="02000000000000000000" pitchFamily="2" charset="0"/>
                  <a:cs typeface="Arial Narrow" panose="020B0604020202020204" pitchFamily="34" charset="0"/>
                </a:rPr>
                <a:t>Q&amp;A</a:t>
              </a:r>
            </a:p>
          </p:txBody>
        </p:sp>
      </p:grp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E646F6B5-915C-156A-6221-DA1B0BFAC9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6503" y="1960930"/>
            <a:ext cx="5234888" cy="171861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117" b="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noProof="0">
                <a:latin typeface="+mj-lt"/>
              </a:rPr>
              <a:t>Author Name 1    </a:t>
            </a:r>
            <a:r>
              <a:rPr lang="en-US" noProof="0">
                <a:solidFill>
                  <a:schemeClr val="tx1"/>
                </a:solidFill>
              </a:rPr>
              <a:t>mail1@iis.ee.ethz.ch</a:t>
            </a:r>
            <a:br>
              <a:rPr lang="en-US" noProof="0">
                <a:solidFill>
                  <a:schemeClr val="tx1"/>
                </a:solidFill>
              </a:rPr>
            </a:br>
            <a:r>
              <a:rPr lang="en-US" b="1" noProof="0">
                <a:latin typeface="+mj-lt"/>
              </a:rPr>
              <a:t>Author Name 2    </a:t>
            </a:r>
            <a:r>
              <a:rPr lang="en-US" noProof="0">
                <a:solidFill>
                  <a:schemeClr val="tx1"/>
                </a:solidFill>
              </a:rPr>
              <a:t>mail2@iis.ee.ethz.ch</a:t>
            </a:r>
            <a:br>
              <a:rPr lang="en-US" b="1" noProof="0">
                <a:latin typeface="+mj-lt"/>
              </a:rPr>
            </a:br>
            <a:r>
              <a:rPr lang="en-US" b="1" noProof="0">
                <a:latin typeface="+mj-lt"/>
              </a:rPr>
              <a:t>Author Name 3    </a:t>
            </a:r>
            <a:r>
              <a:rPr lang="en-US" noProof="0">
                <a:solidFill>
                  <a:schemeClr val="tx1"/>
                </a:solidFill>
              </a:rPr>
              <a:t>mail3@unibo.it</a:t>
            </a:r>
            <a:br>
              <a:rPr lang="en-US" b="1" noProof="0">
                <a:latin typeface="+mj-lt"/>
              </a:rPr>
            </a:br>
            <a:r>
              <a:rPr lang="en-US" b="1" noProof="0">
                <a:latin typeface="+mj-lt"/>
              </a:rPr>
              <a:t>Author Name 4    </a:t>
            </a:r>
            <a:r>
              <a:rPr lang="en-US" noProof="0">
                <a:solidFill>
                  <a:schemeClr val="tx1"/>
                </a:solidFill>
              </a:rPr>
              <a:t>mail4@unibo.it</a:t>
            </a:r>
            <a:endParaRPr lang="en-US" b="1" noProof="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258033-34E1-4BC7-15EC-184B6866C6F7}"/>
              </a:ext>
            </a:extLst>
          </p:cNvPr>
          <p:cNvSpPr txBox="1"/>
          <p:nvPr userDrawn="1"/>
        </p:nvSpPr>
        <p:spPr>
          <a:xfrm>
            <a:off x="232612" y="5400935"/>
            <a:ext cx="5325875" cy="825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87" b="1">
                <a:solidFill>
                  <a:schemeClr val="bg2"/>
                </a:solidFill>
                <a:latin typeface="+mn-lt"/>
                <a:cs typeface="Calibri Light" panose="020F0302020204030204" pitchFamily="34" charset="0"/>
              </a:rPr>
              <a:t>DEI – Università di Bologna</a:t>
            </a:r>
            <a:br>
              <a:rPr lang="it-IT" sz="1587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it-IT" sz="1587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Viale del Risorgimento 2</a:t>
            </a:r>
          </a:p>
          <a:p>
            <a:r>
              <a:rPr lang="it-IT" sz="1587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Bologna, </a:t>
            </a:r>
            <a:r>
              <a:rPr lang="it-IT" sz="1587" err="1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Italy</a:t>
            </a:r>
            <a:endParaRPr lang="en-US" sz="1587">
              <a:solidFill>
                <a:schemeClr val="bg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0" name="Picture 19" descr="A logo with text on it&#10;&#10;Description automatically generated">
            <a:extLst>
              <a:ext uri="{FF2B5EF4-FFF2-40B4-BE49-F238E27FC236}">
                <a16:creationId xmlns:a16="http://schemas.microsoft.com/office/drawing/2014/main" id="{5B77CA35-579C-DFE4-21F7-5EDAC64FD8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23879"/>
          <a:stretch/>
        </p:blipFill>
        <p:spPr>
          <a:xfrm>
            <a:off x="28629" y="6367923"/>
            <a:ext cx="774134" cy="437331"/>
          </a:xfrm>
          <a:prstGeom prst="rect">
            <a:avLst/>
          </a:prstGeom>
        </p:spPr>
      </p:pic>
      <p:pic>
        <p:nvPicPr>
          <p:cNvPr id="21" name="Picture 20" descr="A logo with text on it&#10;&#10;Description automatically generated">
            <a:extLst>
              <a:ext uri="{FF2B5EF4-FFF2-40B4-BE49-F238E27FC236}">
                <a16:creationId xmlns:a16="http://schemas.microsoft.com/office/drawing/2014/main" id="{BEFD9DAC-F517-41E8-F366-63203E3B38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6036"/>
          <a:stretch/>
        </p:blipFill>
        <p:spPr>
          <a:xfrm>
            <a:off x="658189" y="6443295"/>
            <a:ext cx="1198213" cy="21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088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HSDES 24/25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9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963876-5B3A-4C67-8E17-35C605EE4C9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76437" y="6401857"/>
            <a:ext cx="382265" cy="37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3977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sempl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1" y="1124745"/>
            <a:ext cx="11233149" cy="511256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aseline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it-IT"/>
              <a:t>Fare clic per modificare il testo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5A909-13C4-6F40-BBCF-31160B52766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0A77F-D04A-354E-AEA1-95FAEFF142F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HSDES 24/25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6A3A1-7094-194F-843C-3B37565CF3F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2EED155-6B16-8D4E-9EBE-C6C9386B6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1" y="476674"/>
            <a:ext cx="11233149" cy="576063"/>
          </a:xfrm>
          <a:prstGeom prst="rect">
            <a:avLst/>
          </a:prstGeom>
        </p:spPr>
        <p:txBody>
          <a:bodyPr/>
          <a:lstStyle>
            <a:lvl1pPr algn="l">
              <a:defRPr sz="2600" b="1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1934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HSDES 24/25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E594E-FBEC-477F-827E-927426328D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64AC092-550C-F046-871B-21DEEC46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60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767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82950C-2A5B-5E4F-B2C0-6D0BC86A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3595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36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sempl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1" y="1124745"/>
            <a:ext cx="11233149" cy="511256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aseline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it-IT"/>
              <a:t>Fare clic per modificare il testo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5A909-13C4-6F40-BBCF-31160B52766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0A77F-D04A-354E-AEA1-95FAEFF142F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HSDES 24/25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6A3A1-7094-194F-843C-3B37565CF3F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2EED155-6B16-8D4E-9EBE-C6C9386B6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1" y="476674"/>
            <a:ext cx="11233149" cy="576063"/>
          </a:xfrm>
          <a:prstGeom prst="rect">
            <a:avLst/>
          </a:prstGeom>
        </p:spPr>
        <p:txBody>
          <a:bodyPr/>
          <a:lstStyle>
            <a:lvl1pPr algn="l">
              <a:defRPr sz="2600" b="1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576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82950C-2A5B-5E4F-B2C0-6D0BC86A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3595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477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2FB80-0278-4A47-9D84-03D331F32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/>
          <a:lstStyle/>
          <a:p>
            <a:r>
              <a:rPr lang="en-US"/>
              <a:t>HSDES 24/25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2948" y="1142969"/>
            <a:ext cx="10667551" cy="5524351"/>
          </a:xfrm>
        </p:spPr>
        <p:txBody>
          <a:bodyPr l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85844A4-0C1D-A84A-A5CA-8EFDA3423416}"/>
              </a:ext>
            </a:extLst>
          </p:cNvPr>
          <p:cNvSpPr txBox="1">
            <a:spLocks/>
          </p:cNvSpPr>
          <p:nvPr userDrawn="1"/>
        </p:nvSpPr>
        <p:spPr>
          <a:xfrm>
            <a:off x="9905580" y="6667320"/>
            <a:ext cx="952460" cy="190495"/>
          </a:xfrm>
          <a:prstGeom prst="rect">
            <a:avLst/>
          </a:prstGeom>
        </p:spPr>
        <p:txBody>
          <a:bodyPr vert="horz" lIns="9677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7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B408E5F-6BA7-1449-BAB6-D773EAAF8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76726" y="6667320"/>
            <a:ext cx="4381314" cy="190495"/>
          </a:xfrm>
          <a:prstGeom prst="rect">
            <a:avLst/>
          </a:prstGeom>
          <a:solidFill>
            <a:schemeClr val="tx1"/>
          </a:solidFill>
        </p:spPr>
        <p:txBody>
          <a:bodyPr lIns="90000" tIns="0" rIns="0" bIns="0" anchor="ctr" anchorCtr="0">
            <a:noAutofit/>
          </a:bodyPr>
          <a:lstStyle>
            <a:lvl1pPr algn="r">
              <a:defRPr sz="1270" b="1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828587-0027-724C-9FA4-71D71E3EE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516" y="6667320"/>
            <a:ext cx="761968" cy="190495"/>
          </a:xfrm>
          <a:prstGeom prst="rect">
            <a:avLst/>
          </a:prstGeom>
        </p:spPr>
        <p:txBody>
          <a:bodyPr vert="horz" lIns="91440" tIns="0" rIns="0" bIns="0" rtlCol="0" anchor="ctr"/>
          <a:lstStyle>
            <a:lvl1pPr algn="r">
              <a:defRPr sz="127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EB6DE79-3EF7-DA4A-A4B3-54448DD08F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6276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in-Th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33BD81-36DA-2A45-83D0-CC9351A64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HSDES 24/25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52790" y="1142969"/>
            <a:ext cx="6857709" cy="552435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2951" y="1142969"/>
            <a:ext cx="3809839" cy="552435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CE66A78-6EF9-1B43-B1AF-8B137E9B82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76726" y="6667320"/>
            <a:ext cx="4381314" cy="190495"/>
          </a:xfrm>
          <a:prstGeom prst="rect">
            <a:avLst/>
          </a:prstGeom>
          <a:solidFill>
            <a:schemeClr val="tx1"/>
          </a:solidFill>
        </p:spPr>
        <p:txBody>
          <a:bodyPr lIns="90000" tIns="0" rIns="0" bIns="0" anchor="ctr" anchorCtr="0">
            <a:noAutofit/>
          </a:bodyPr>
          <a:lstStyle>
            <a:lvl1pPr algn="r">
              <a:defRPr sz="1270" b="1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D4D8562-307B-C149-828F-0553474BB9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516" y="6667320"/>
            <a:ext cx="761968" cy="190495"/>
          </a:xfrm>
          <a:prstGeom prst="rect">
            <a:avLst/>
          </a:prstGeom>
        </p:spPr>
        <p:txBody>
          <a:bodyPr vert="horz" lIns="91440" tIns="0" rIns="0" bIns="0" rtlCol="0" anchor="ctr"/>
          <a:lstStyle>
            <a:lvl1pPr algn="r">
              <a:defRPr sz="127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EB6DE79-3EF7-DA4A-A4B3-54448DD08F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5652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33BD81-36DA-2A45-83D0-CC9351A64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HSDES 24/25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2948" y="1142969"/>
            <a:ext cx="5333774" cy="5524351"/>
          </a:xfrm>
        </p:spPr>
        <p:txBody>
          <a:bodyPr l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76726" y="1142969"/>
            <a:ext cx="5333774" cy="5524351"/>
          </a:xfrm>
        </p:spPr>
        <p:txBody>
          <a:bodyPr l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D9D0185B-D6A4-1E45-872F-45D17A4229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76726" y="6667320"/>
            <a:ext cx="4381314" cy="190495"/>
          </a:xfrm>
          <a:prstGeom prst="rect">
            <a:avLst/>
          </a:prstGeom>
          <a:solidFill>
            <a:schemeClr val="tx1"/>
          </a:solidFill>
        </p:spPr>
        <p:txBody>
          <a:bodyPr lIns="90000" tIns="0" rIns="0" bIns="0" anchor="ctr" anchorCtr="0">
            <a:noAutofit/>
          </a:bodyPr>
          <a:lstStyle>
            <a:lvl1pPr algn="r">
              <a:defRPr sz="1270" b="1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834E1C-61AE-2E49-8D14-46F06456D5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516" y="6667320"/>
            <a:ext cx="761968" cy="190495"/>
          </a:xfrm>
          <a:prstGeom prst="rect">
            <a:avLst/>
          </a:prstGeom>
        </p:spPr>
        <p:txBody>
          <a:bodyPr vert="horz" lIns="91440" tIns="0" rIns="0" bIns="0" rtlCol="0" anchor="ctr"/>
          <a:lstStyle>
            <a:lvl1pPr algn="r">
              <a:defRPr sz="127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EB6DE79-3EF7-DA4A-A4B3-54448DD08F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776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WT_Left_strip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2994F-774A-442E-A35C-507CF02EE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AE407-0350-4669-9226-4E74A47D85D0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E99F8-AFB7-4FC2-B331-A8DF61FBA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067" y="1124744"/>
            <a:ext cx="10515600" cy="50522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1DB346-3EF0-4F3F-A5EB-0086246EA330}"/>
              </a:ext>
            </a:extLst>
          </p:cNvPr>
          <p:cNvSpPr/>
          <p:nvPr userDrawn="1"/>
        </p:nvSpPr>
        <p:spPr>
          <a:xfrm>
            <a:off x="1" y="0"/>
            <a:ext cx="749808" cy="685800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aseline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386E0F-9DF3-43B0-B3F9-D3AAD86B65D0}"/>
              </a:ext>
            </a:extLst>
          </p:cNvPr>
          <p:cNvSpPr/>
          <p:nvPr userDrawn="1"/>
        </p:nvSpPr>
        <p:spPr>
          <a:xfrm>
            <a:off x="0" y="0"/>
            <a:ext cx="64008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aseline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63EF4E6-23B2-4B5D-86C3-6A742F8FB7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0412" y="142469"/>
            <a:ext cx="10486188" cy="69750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2289CE-FACD-42CA-8702-A5A0FDC648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2501" y="6212906"/>
            <a:ext cx="1905000" cy="5842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F6B67AE-389A-478C-BE9B-5FDC7FB974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4792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GB"/>
              <a:t>HSDES 24/25</a:t>
            </a:r>
          </a:p>
        </p:txBody>
      </p:sp>
    </p:spTree>
    <p:extLst>
      <p:ext uri="{BB962C8B-B14F-4D97-AF65-F5344CB8AC3E}">
        <p14:creationId xmlns:p14="http://schemas.microsoft.com/office/powerpoint/2010/main" val="5073047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CHIUS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487488" y="2780928"/>
            <a:ext cx="9217024" cy="43237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/>
              <a:t>Nome Cognome</a:t>
            </a:r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1439483" y="3573017"/>
            <a:ext cx="9313035" cy="936103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/>
              <a:t>Struttura</a:t>
            </a:r>
          </a:p>
        </p:txBody>
      </p:sp>
      <p:sp>
        <p:nvSpPr>
          <p:cNvPr id="16" name="Segnaposto testo 15"/>
          <p:cNvSpPr>
            <a:spLocks noGrp="1"/>
          </p:cNvSpPr>
          <p:nvPr>
            <p:ph type="body" sz="quarter" idx="12" hasCustomPrompt="1"/>
          </p:nvPr>
        </p:nvSpPr>
        <p:spPr>
          <a:xfrm>
            <a:off x="1390651" y="4725144"/>
            <a:ext cx="9410700" cy="144016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3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/>
              <a:t>nome.cognome@unibo.it</a:t>
            </a:r>
          </a:p>
          <a:p>
            <a:pPr lvl="0"/>
            <a:r>
              <a:rPr lang="it-IT"/>
              <a:t>051 20 99982</a:t>
            </a:r>
          </a:p>
        </p:txBody>
      </p:sp>
    </p:spTree>
    <p:extLst>
      <p:ext uri="{BB962C8B-B14F-4D97-AF65-F5344CB8AC3E}">
        <p14:creationId xmlns:p14="http://schemas.microsoft.com/office/powerpoint/2010/main" val="42494506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1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32229" y="1340768"/>
            <a:ext cx="11328400" cy="489334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/>
              <a:t>Erste Ebene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HSDES 24/25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48539108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31808" y="1340768"/>
            <a:ext cx="5472000" cy="4896521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435" indent="-133350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de-CH"/>
              <a:t>Erste Ebene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88029" y="1340768"/>
            <a:ext cx="5472179" cy="4896521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de-CH"/>
              <a:t>Erste Ebene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HSDES 24/25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e-CH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12794759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Freiflä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HSDES 24/25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44967160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8667" y="1355751"/>
            <a:ext cx="11294669" cy="4821213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sz="2400" b="1"/>
            </a:lvl1pPr>
            <a:lvl2pPr>
              <a:defRPr sz="2000" b="1"/>
            </a:lvl2pPr>
            <a:lvl3pPr>
              <a:defRPr sz="2000" b="1"/>
            </a:lvl3pPr>
            <a:lvl4pPr>
              <a:defRPr sz="2000" b="1"/>
            </a:lvl4pPr>
            <a:lvl5pPr>
              <a:defRPr sz="2000" b="1"/>
            </a:lvl5pPr>
            <a:lvl6pPr marL="1885903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 b="1"/>
            </a:lvl6pPr>
            <a:lvl7pPr>
              <a:defRPr sz="2000" b="1"/>
            </a:lvl7pPr>
            <a:lvl8pPr>
              <a:defRPr sz="2000" b="1"/>
            </a:lvl8pPr>
            <a:lvl9pPr>
              <a:defRPr sz="2000" b="1"/>
            </a:lvl9pPr>
          </a:lstStyle>
          <a:p>
            <a:pPr lvl="0"/>
            <a:r>
              <a:rPr lang="en-US" noProof="0"/>
              <a:t>First Level Content</a:t>
            </a:r>
          </a:p>
          <a:p>
            <a:pPr lvl="1"/>
            <a:r>
              <a:rPr lang="en-US" noProof="0"/>
              <a:t>Second Level Content</a:t>
            </a:r>
          </a:p>
          <a:p>
            <a:pPr lvl="2"/>
            <a:r>
              <a:rPr lang="en-US" noProof="0"/>
              <a:t>Third Level Content</a:t>
            </a:r>
          </a:p>
          <a:p>
            <a:pPr lvl="3"/>
            <a:r>
              <a:rPr lang="en-US" noProof="0"/>
              <a:t>Fourth Level Content</a:t>
            </a:r>
          </a:p>
          <a:p>
            <a:pPr lvl="4"/>
            <a:r>
              <a:rPr lang="en-US" noProof="0"/>
              <a:t>Fifth Level Content</a:t>
            </a:r>
          </a:p>
          <a:p>
            <a:pPr marL="1885903" marR="0" lvl="5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Sixth Level Content</a:t>
            </a:r>
          </a:p>
          <a:p>
            <a:pPr lvl="6"/>
            <a:r>
              <a:rPr lang="en-US" noProof="0"/>
              <a:t>Seventh Level Content</a:t>
            </a:r>
          </a:p>
          <a:p>
            <a:pPr lvl="7"/>
            <a:r>
              <a:rPr lang="en-US" noProof="0"/>
              <a:t>Eight Level Content</a:t>
            </a:r>
          </a:p>
          <a:p>
            <a:pPr lvl="8"/>
            <a:r>
              <a:rPr lang="en-US" noProof="0"/>
              <a:t>Ninth Level Content</a:t>
            </a:r>
          </a:p>
        </p:txBody>
      </p:sp>
      <p:sp>
        <p:nvSpPr>
          <p:cNvPr id="25" name="Title 24"/>
          <p:cNvSpPr>
            <a:spLocks noGrp="1"/>
          </p:cNvSpPr>
          <p:nvPr>
            <p:ph type="title" hasCustomPrompt="1"/>
          </p:nvPr>
        </p:nvSpPr>
        <p:spPr>
          <a:xfrm>
            <a:off x="181592" y="126792"/>
            <a:ext cx="11828835" cy="770536"/>
          </a:xfrm>
          <a:prstGeom prst="rect">
            <a:avLst/>
          </a:prstGeom>
        </p:spPr>
        <p:txBody>
          <a:bodyPr wrap="none" anchor="ctr" anchorCtr="0">
            <a:noAutofit/>
          </a:bodyPr>
          <a:lstStyle>
            <a:lvl1pPr>
              <a:defRPr b="1"/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32" name="Date Placeholder 31"/>
          <p:cNvSpPr>
            <a:spLocks noGrp="1"/>
          </p:cNvSpPr>
          <p:nvPr>
            <p:ph type="dt" sz="half" idx="10"/>
          </p:nvPr>
        </p:nvSpPr>
        <p:spPr>
          <a:xfrm>
            <a:off x="448675" y="6356369"/>
            <a:ext cx="3132735" cy="365125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 noProof="1"/>
          </a:p>
        </p:txBody>
      </p:sp>
      <p:sp>
        <p:nvSpPr>
          <p:cNvPr id="33" name="Footer Placeholder 32"/>
          <p:cNvSpPr>
            <a:spLocks noGrp="1"/>
          </p:cNvSpPr>
          <p:nvPr>
            <p:ph type="ftr" sz="quarter" idx="11"/>
          </p:nvPr>
        </p:nvSpPr>
        <p:spPr>
          <a:xfrm>
            <a:off x="4038601" y="6356369"/>
            <a:ext cx="4114800" cy="365125"/>
          </a:xfrm>
          <a:prstGeom prst="rect">
            <a:avLst/>
          </a:prstGeom>
        </p:spPr>
        <p:txBody>
          <a:bodyPr anchor="b"/>
          <a:lstStyle>
            <a:lvl1pPr algn="ctr">
              <a:defRPr sz="1200"/>
            </a:lvl1pPr>
          </a:lstStyle>
          <a:p>
            <a:r>
              <a:rPr lang="en-US" noProof="1"/>
              <a:t>HSDES 24/25</a:t>
            </a: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>
          <a:xfrm>
            <a:off x="8610609" y="6356369"/>
            <a:ext cx="3132735" cy="365125"/>
          </a:xfrm>
          <a:prstGeom prst="rect">
            <a:avLst/>
          </a:prstGeom>
        </p:spPr>
        <p:txBody>
          <a:bodyPr anchor="b"/>
          <a:lstStyle>
            <a:lvl1pPr algn="r">
              <a:defRPr sz="1200"/>
            </a:lvl1pPr>
          </a:lstStyle>
          <a:p>
            <a:fld id="{22DECF6A-13F7-418C-BBFC-95033FFCD5F1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6953288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HSDES 24/25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8D1B-C7FB-4E93-92A2-0EFFE458C7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351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HSDES 24/25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EA8D1B-C7FB-4E93-92A2-0EFFE458C7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089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914400" y="-99392"/>
            <a:ext cx="10363200" cy="93134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6836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09600" y="1125539"/>
            <a:ext cx="10972800" cy="4967287"/>
          </a:xfrm>
        </p:spPr>
        <p:txBody>
          <a:bodyPr>
            <a:noAutofit/>
          </a:bodyPr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11692" y="6542497"/>
            <a:ext cx="6816757" cy="2774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0" i="0">
                <a:solidFill>
                  <a:srgbClr val="FFFFFF"/>
                </a:solidFill>
                <a:latin typeface="Calibri Regular" charset="0"/>
                <a:cs typeface="Calibri Regular" charset="0"/>
              </a:defRPr>
            </a:lvl1pPr>
          </a:lstStyle>
          <a:p>
            <a:r>
              <a:rPr lang="en-US"/>
              <a:t>HSDES 24/25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08501" y="6542497"/>
            <a:ext cx="973899" cy="2813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rgbClr val="FFFFFF"/>
                </a:solidFill>
                <a:latin typeface="Calibri Regular" charset="0"/>
                <a:cs typeface="Calibri Regular" charset="0"/>
              </a:defRPr>
            </a:lvl1pPr>
          </a:lstStyle>
          <a:p>
            <a:fld id="{E83F9070-C0A3-DD40-9D17-9533B7E67F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35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6.xml"/><Relationship Id="rId10" Type="http://schemas.openxmlformats.org/officeDocument/2006/relationships/image" Target="../media/image10.png"/><Relationship Id="rId4" Type="http://schemas.openxmlformats.org/officeDocument/2006/relationships/slideLayout" Target="../slideLayouts/slideLayout35.xml"/><Relationship Id="rId9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2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cxnSp>
        <p:nvCxnSpPr>
          <p:cNvPr id="12" name="Connettore 1 11"/>
          <p:cNvCxnSpPr/>
          <p:nvPr userDrawn="1"/>
        </p:nvCxnSpPr>
        <p:spPr>
          <a:xfrm>
            <a:off x="4367808" y="188640"/>
            <a:ext cx="0" cy="64087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magin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49" y="1556792"/>
            <a:ext cx="3923992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65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6503" y="180326"/>
            <a:ext cx="10667548" cy="65705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6504" y="991347"/>
            <a:ext cx="10667550" cy="5524351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/>
          <a:p>
            <a:pPr lvl="0"/>
            <a:r>
              <a:rPr lang="en-US" noProof="0"/>
              <a:t>First line of text</a:t>
            </a:r>
          </a:p>
          <a:p>
            <a:pPr lvl="1"/>
            <a:r>
              <a:rPr lang="en-US" noProof="0"/>
              <a:t>Subtitle</a:t>
            </a:r>
          </a:p>
          <a:p>
            <a:pPr lvl="2"/>
            <a:r>
              <a:rPr lang="en-US" noProof="0"/>
              <a:t>Sub-subtitle</a:t>
            </a:r>
          </a:p>
          <a:p>
            <a:pPr lvl="3"/>
            <a:r>
              <a:rPr lang="en-US" noProof="0"/>
              <a:t>This level should not be used</a:t>
            </a:r>
          </a:p>
          <a:p>
            <a:pPr lvl="4"/>
            <a:r>
              <a:rPr lang="en-US" noProof="0"/>
              <a:t>This level should not be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254CD-0FE2-BE4E-B26C-04DE1C684BCF}"/>
              </a:ext>
            </a:extLst>
          </p:cNvPr>
          <p:cNvSpPr txBox="1"/>
          <p:nvPr userDrawn="1"/>
        </p:nvSpPr>
        <p:spPr>
          <a:xfrm>
            <a:off x="7484226" y="496210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61976"/>
            <a:endParaRPr lang="en-US" sz="2540" b="0" i="0" noProof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039F93-7DF2-60D6-16FF-CF97CC82260A}"/>
              </a:ext>
            </a:extLst>
          </p:cNvPr>
          <p:cNvSpPr/>
          <p:nvPr userDrawn="1"/>
        </p:nvSpPr>
        <p:spPr>
          <a:xfrm rot="2700000">
            <a:off x="11085905" y="380600"/>
            <a:ext cx="379300" cy="379294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05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CDF760-B7EB-2325-77A0-22D2F750C836}"/>
              </a:ext>
            </a:extLst>
          </p:cNvPr>
          <p:cNvSpPr/>
          <p:nvPr userDrawn="1"/>
        </p:nvSpPr>
        <p:spPr>
          <a:xfrm rot="2700000">
            <a:off x="11288321" y="229855"/>
            <a:ext cx="680796" cy="680785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05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B8319E33-4883-AE4B-34D5-D48A9C68F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10261" y="6495719"/>
            <a:ext cx="7238693" cy="3047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376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9C8C412-C6D2-5E89-86AA-4DBE57662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6374" y="6494903"/>
            <a:ext cx="571476" cy="3047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376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039404-9948-AB49-571D-1FF77377EEFA}"/>
              </a:ext>
            </a:extLst>
          </p:cNvPr>
          <p:cNvGrpSpPr/>
          <p:nvPr userDrawn="1"/>
        </p:nvGrpSpPr>
        <p:grpSpPr>
          <a:xfrm>
            <a:off x="-133657" y="6323742"/>
            <a:ext cx="2034317" cy="533494"/>
            <a:chOff x="1356955" y="6023605"/>
            <a:chExt cx="1617190" cy="42409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5AABE6-3DAE-79EC-6864-C6E1EA8A67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5"/>
            <a:srcRect t="68294"/>
            <a:stretch/>
          </p:blipFill>
          <p:spPr>
            <a:xfrm>
              <a:off x="1820865" y="6127519"/>
              <a:ext cx="1153280" cy="29055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1868362-AE1D-5EC9-F756-A3B567B9C5D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5"/>
            <a:srcRect b="28327"/>
            <a:stretch/>
          </p:blipFill>
          <p:spPr>
            <a:xfrm>
              <a:off x="1356955" y="6023605"/>
              <a:ext cx="744659" cy="4240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0261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  <p:sldLayoutId id="2147483716" r:id="rId19"/>
    <p:sldLayoutId id="2147483717" r:id="rId20"/>
    <p:sldLayoutId id="2147483718" r:id="rId21"/>
    <p:sldLayoutId id="2147483719" r:id="rId22"/>
    <p:sldLayoutId id="2147483720" r:id="rId23"/>
  </p:sldLayoutIdLst>
  <p:hf hdr="0" ftr="0" dt="0"/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3810" b="0" i="0" kern="1200" spc="-106" baseline="0">
          <a:ln w="15875" cmpd="sng">
            <a:noFill/>
            <a:round/>
          </a:ln>
          <a:solidFill>
            <a:srgbClr val="C00000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304795" indent="-304795" algn="l" defTabSz="761976" rtl="0" eaLnBrk="1" latinLnBrk="0" hangingPunct="1">
        <a:lnSpc>
          <a:spcPct val="100000"/>
        </a:lnSpc>
        <a:spcBef>
          <a:spcPts val="1270"/>
        </a:spcBef>
        <a:buClr>
          <a:schemeClr val="tx1"/>
        </a:buClr>
        <a:buSzPct val="90000"/>
        <a:buFont typeface="Arial" panose="020B0604020202020204" pitchFamily="34" charset="0"/>
        <a:buChar char="•"/>
        <a:defRPr sz="2540" b="1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533383" indent="-228597" algn="l" defTabSz="761976" rtl="0" eaLnBrk="1" latinLnBrk="0" hangingPunct="1">
        <a:lnSpc>
          <a:spcPct val="100000"/>
        </a:lnSpc>
        <a:spcBef>
          <a:spcPts val="635"/>
        </a:spcBef>
        <a:buClr>
          <a:schemeClr val="tx1"/>
        </a:buClr>
        <a:buSzPct val="90000"/>
        <a:buFont typeface="Arial" panose="020B0604020202020204" pitchFamily="34" charset="0"/>
        <a:buChar char="•"/>
        <a:defRPr sz="2117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761976" indent="-228597" algn="l" defTabSz="914389" rtl="0" eaLnBrk="1" latinLnBrk="0" hangingPunct="1">
        <a:lnSpc>
          <a:spcPct val="100000"/>
        </a:lnSpc>
        <a:spcBef>
          <a:spcPts val="635"/>
        </a:spcBef>
        <a:buClr>
          <a:schemeClr val="tx1"/>
        </a:buClr>
        <a:buSzPct val="90000"/>
        <a:buFont typeface="Arial" panose="020B0604020202020204" pitchFamily="34" charset="0"/>
        <a:buChar char="•"/>
        <a:defRPr sz="1905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990569" indent="-228597" algn="l" defTabSz="914389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1270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1219162" indent="-228597" algn="l" defTabSz="914389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1164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/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00637" y="5733256"/>
            <a:ext cx="1744036" cy="112474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8BA62-068A-8D43-A8A6-5BCCE5A7F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44406" y="6356351"/>
            <a:ext cx="6562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C2C0BE87-EA49-234B-AB60-DA484B3832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69DF0-7A2D-5142-8835-BD49F048D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/>
              <a:t>HSDES 24/25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9511BC-55BD-8942-997E-32275312BB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5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5" r:id="rId2"/>
    <p:sldLayoutId id="2147483693" r:id="rId3"/>
    <p:sldLayoutId id="2147483694" r:id="rId4"/>
    <p:sldLayoutId id="2147483695" r:id="rId5"/>
    <p:sldLayoutId id="2147483696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2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9" name="CasellaDiTesto 8"/>
          <p:cNvSpPr txBox="1"/>
          <p:nvPr userDrawn="1"/>
        </p:nvSpPr>
        <p:spPr>
          <a:xfrm>
            <a:off x="4175787" y="6453336"/>
            <a:ext cx="3840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>
                <a:solidFill>
                  <a:schemeClr val="bg1"/>
                </a:solidFill>
              </a:rPr>
              <a:t>www.unibo.it</a:t>
            </a:r>
          </a:p>
        </p:txBody>
      </p:sp>
      <p:pic>
        <p:nvPicPr>
          <p:cNvPr id="6" name="Immagin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803" y="332657"/>
            <a:ext cx="3552395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98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583509" y="6308726"/>
            <a:ext cx="816091" cy="46831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ctr">
              <a:defRPr sz="9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096011" y="6308726"/>
            <a:ext cx="4278151" cy="46831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9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de-CH"/>
              <a:t>HSDES 24/25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501809" y="6308726"/>
            <a:ext cx="355600" cy="46831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ctr">
              <a:defRPr sz="9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fld id="{6C6AE60A-B69C-4790-82F7-3882EDF23186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31808" y="1340768"/>
            <a:ext cx="11311917" cy="4896520"/>
          </a:xfrm>
          <a:prstGeom prst="rect">
            <a:avLst/>
          </a:prstGeom>
        </p:spPr>
        <p:txBody>
          <a:bodyPr vert="horz" lIns="140400" tIns="0" rIns="144000" bIns="0" rtlCol="0">
            <a:noAutofit/>
          </a:bodyPr>
          <a:lstStyle/>
          <a:p>
            <a:pPr lvl="0"/>
            <a:r>
              <a:rPr lang="de-CH"/>
              <a:t>Erste Ebene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11413132" y="6300190"/>
            <a:ext cx="141277" cy="468312"/>
          </a:xfrm>
          <a:prstGeom prst="rect">
            <a:avLst/>
          </a:prstGeom>
          <a:noFill/>
        </p:spPr>
        <p:txBody>
          <a:bodyPr wrap="none" lIns="27000" rIns="27000" rtlCol="0" anchor="ctr" anchorCtr="0">
            <a:noAutofit/>
          </a:bodyPr>
          <a:lstStyle/>
          <a:p>
            <a:pPr algn="ctr"/>
            <a:r>
              <a:rPr lang="de-CH" sz="900">
                <a:latin typeface="Arial Narrow" panose="020B0606020202030204" pitchFamily="34" charset="0"/>
              </a:rPr>
              <a:t>|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10446012" y="6300189"/>
            <a:ext cx="141277" cy="468312"/>
          </a:xfrm>
          <a:prstGeom prst="rect">
            <a:avLst/>
          </a:prstGeom>
          <a:noFill/>
        </p:spPr>
        <p:txBody>
          <a:bodyPr wrap="none" lIns="27000" rIns="27000" rtlCol="0" anchor="ctr" anchorCtr="0">
            <a:noAutofit/>
          </a:bodyPr>
          <a:lstStyle/>
          <a:p>
            <a:pPr algn="ctr"/>
            <a:r>
              <a:rPr lang="de-CH" sz="900">
                <a:latin typeface="Arial Narrow" panose="020B0606020202030204" pitchFamily="34" charset="0"/>
              </a:rPr>
              <a:t>|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10" y="6308747"/>
            <a:ext cx="2134777" cy="440511"/>
          </a:xfrm>
          <a:prstGeom prst="rect">
            <a:avLst/>
          </a:prstGeom>
        </p:spPr>
      </p:pic>
      <p:sp>
        <p:nvSpPr>
          <p:cNvPr id="22" name="Rechteck 23"/>
          <p:cNvSpPr/>
          <p:nvPr userDrawn="1"/>
        </p:nvSpPr>
        <p:spPr>
          <a:xfrm>
            <a:off x="8" y="278074"/>
            <a:ext cx="12192000" cy="62899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350">
              <a:solidFill>
                <a:schemeClr val="bg1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15317" y="332656"/>
            <a:ext cx="11328400" cy="504056"/>
          </a:xfrm>
          <a:prstGeom prst="rect">
            <a:avLst/>
          </a:prstGeom>
          <a:noFill/>
        </p:spPr>
        <p:txBody>
          <a:bodyPr vert="horz" lIns="140400" tIns="0" rIns="144000" bIns="0" rtlCol="0" anchor="b" anchorCtr="0">
            <a:noAutofit/>
          </a:bodyPr>
          <a:lstStyle/>
          <a:p>
            <a:r>
              <a:rPr lang="de-CH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86606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</p:sldLayoutIdLst>
  <p:transition>
    <p:fade/>
  </p:transition>
  <p:hf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kern="1200">
          <a:solidFill>
            <a:schemeClr val="tx1"/>
          </a:solidFill>
          <a:latin typeface="Arial Narrow" panose="020B0606020202030204" pitchFamily="34" charset="0"/>
          <a:ea typeface="+mj-ea"/>
          <a:cs typeface="+mj-cs"/>
        </a:defRPr>
      </a:lvl1pPr>
    </p:titleStyle>
    <p:bodyStyle>
      <a:lvl1pPr marL="271463" indent="-271463" algn="l" defTabSz="685800" rtl="0" eaLnBrk="1" latinLnBrk="0" hangingPunct="1">
        <a:lnSpc>
          <a:spcPct val="100000"/>
        </a:lnSpc>
        <a:spcBef>
          <a:spcPts val="375"/>
        </a:spcBef>
        <a:buClr>
          <a:srgbClr val="B4B4B4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1pPr>
      <a:lvl2pPr marL="470297" indent="-198835" algn="l" defTabSz="685800" rtl="0" eaLnBrk="1" latinLnBrk="0" hangingPunct="1">
        <a:lnSpc>
          <a:spcPct val="100000"/>
        </a:lnSpc>
        <a:spcBef>
          <a:spcPts val="300"/>
        </a:spcBef>
        <a:buClr>
          <a:srgbClr val="B4B4B4"/>
        </a:buClr>
        <a:buFont typeface="Wingdings" pitchFamily="2" charset="2"/>
        <a:buChar char="§"/>
        <a:defRPr sz="15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2pPr>
      <a:lvl3pPr marL="670322" indent="-200025" algn="l" defTabSz="685800" rtl="0" eaLnBrk="1" latinLnBrk="0" hangingPunct="1">
        <a:lnSpc>
          <a:spcPct val="100000"/>
        </a:lnSpc>
        <a:spcBef>
          <a:spcPts val="300"/>
        </a:spcBef>
        <a:buClr>
          <a:srgbClr val="B4B4B4"/>
        </a:buClr>
        <a:buFont typeface="Wingdings" pitchFamily="2" charset="2"/>
        <a:buChar char="§"/>
        <a:defRPr sz="135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3pPr>
      <a:lvl4pPr marL="808435" indent="-133350" algn="l" defTabSz="685800" rtl="0" eaLnBrk="1" latinLnBrk="0" hangingPunct="1">
        <a:lnSpc>
          <a:spcPct val="100000"/>
        </a:lnSpc>
        <a:spcBef>
          <a:spcPts val="300"/>
        </a:spcBef>
        <a:buClr>
          <a:srgbClr val="B4B4B4"/>
        </a:buClr>
        <a:buFont typeface="Wingdings" pitchFamily="2" charset="2"/>
        <a:buChar char="§"/>
        <a:defRPr sz="12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4pPr>
      <a:lvl5pPr marL="946547" indent="-138113" algn="l" defTabSz="685800" rtl="0" eaLnBrk="1" latinLnBrk="0" hangingPunct="1">
        <a:lnSpc>
          <a:spcPct val="100000"/>
        </a:lnSpc>
        <a:spcBef>
          <a:spcPts val="300"/>
        </a:spcBef>
        <a:buClr>
          <a:srgbClr val="B4B4B4"/>
        </a:buClr>
        <a:buFont typeface="Wingdings" pitchFamily="2" charset="2"/>
        <a:buChar char="§"/>
        <a:defRPr sz="105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pos="204">
          <p15:clr>
            <a:srgbClr val="F26B43"/>
          </p15:clr>
        </p15:guide>
        <p15:guide id="3" pos="5556">
          <p15:clr>
            <a:srgbClr val="F26B43"/>
          </p15:clr>
        </p15:guide>
        <p15:guide id="4" orient="horz" pos="391">
          <p15:clr>
            <a:srgbClr val="F26B43"/>
          </p15:clr>
        </p15:guide>
        <p15:guide id="5" orient="horz" pos="1275">
          <p15:clr>
            <a:srgbClr val="F26B43"/>
          </p15:clr>
        </p15:guide>
        <p15:guide id="6" orient="horz" pos="2160">
          <p15:clr>
            <a:srgbClr val="F26B43"/>
          </p15:clr>
        </p15:guide>
        <p15:guide id="7" orient="horz" pos="3045">
          <p15:clr>
            <a:srgbClr val="F26B43"/>
          </p15:clr>
        </p15:guide>
        <p15:guide id="8" orient="horz" pos="3929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orient="horz" pos="426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alin.diaconu2@unibo.it" TargetMode="External"/><Relationship Id="rId2" Type="http://schemas.openxmlformats.org/officeDocument/2006/relationships/hyperlink" Target="mailto:alberto.dequino@unibo.it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aw.githubusercontent.com/pulp-platform/pulp/master/doc/datasheet.pdf" TargetMode="External"/><Relationship Id="rId2" Type="http://schemas.openxmlformats.org/officeDocument/2006/relationships/hyperlink" Target="https://github.com/pulp-platform/pulp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ker.com/products/docker-desktop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marketplace.visualstudio.com/items?itemName=ms-vscode-remote.remote-containers" TargetMode="External"/><Relationship Id="rId5" Type="http://schemas.openxmlformats.org/officeDocument/2006/relationships/hyperlink" Target="https://code.visualstudio.com/" TargetMode="External"/><Relationship Id="rId4" Type="http://schemas.openxmlformats.org/officeDocument/2006/relationships/hyperlink" Target="https://learn.microsoft.com/en-us/windows/wsl/instal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news/learn-the-basics-of-git-in-under-10-minutes-da548267cc91/" TargetMode="External"/><Relationship Id="rId2" Type="http://schemas.openxmlformats.org/officeDocument/2006/relationships/hyperlink" Target="https://github.com/EEESlab/HSDES-LAB01-PULP_Embedded_Programming.git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ithub.com/pulp-platform/pulp-sdk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lp-platform.org/docs/ri5cy_user_manual.pdf" TargetMode="External"/><Relationship Id="rId2" Type="http://schemas.openxmlformats.org/officeDocument/2006/relationships/hyperlink" Target="https://riscv.org/wp-content/uploads/2017/05/riscv-spec-v2.2.pdf" TargetMode="Externa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mailto:calin.diaconu2@unibo.it" TargetMode="External"/><Relationship Id="rId2" Type="http://schemas.openxmlformats.org/officeDocument/2006/relationships/hyperlink" Target="mailto:Alberto.dequino@unibo.it" TargetMode="Externa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3489DBF1-A87D-2D2F-82BD-400063825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/>
                <a:ea typeface="Source Sans Pro"/>
                <a:cs typeface="Calibri"/>
              </a:rPr>
              <a:t>LAB01 -  </a:t>
            </a:r>
            <a:br>
              <a:rPr lang="en-US" b="1" dirty="0">
                <a:latin typeface="Calibri"/>
                <a:ea typeface="Source Sans Pro"/>
                <a:cs typeface="Calibri"/>
              </a:rPr>
            </a:br>
            <a:r>
              <a:rPr lang="en-US" b="1" dirty="0">
                <a:latin typeface="Calibri"/>
                <a:ea typeface="Source Sans Pro"/>
                <a:cs typeface="Calibri"/>
              </a:rPr>
              <a:t>Embedded Programming on PULP</a:t>
            </a:r>
            <a:br>
              <a:rPr lang="en-US" dirty="0">
                <a:latin typeface="Calibri"/>
                <a:ea typeface="Source Sans Pro"/>
                <a:cs typeface="Calibri"/>
              </a:rPr>
            </a:br>
            <a:endParaRPr lang="en-US" dirty="0"/>
          </a:p>
        </p:txBody>
      </p:sp>
      <p:sp>
        <p:nvSpPr>
          <p:cNvPr id="2" name="Segnaposto testo 1"/>
          <p:cNvSpPr>
            <a:spLocks noGrp="1"/>
          </p:cNvSpPr>
          <p:nvPr>
            <p:ph type="body" sz="quarter" idx="14"/>
          </p:nvPr>
        </p:nvSpPr>
        <p:spPr/>
        <p:txBody>
          <a:bodyPr lIns="91440" tIns="45720" rIns="91440" bIns="45720" anchor="ctr" anchorCtr="0"/>
          <a:lstStyle/>
          <a:p>
            <a:r>
              <a:rPr lang="en-US" sz="2100" b="1" dirty="0">
                <a:latin typeface="Calibri"/>
                <a:ea typeface="Source Sans Pro"/>
                <a:cs typeface="Calibri"/>
              </a:rPr>
              <a:t>Alberto </a:t>
            </a:r>
            <a:r>
              <a:rPr lang="en-US" sz="2100" b="1" dirty="0" err="1">
                <a:latin typeface="Calibri"/>
                <a:ea typeface="Source Sans Pro"/>
                <a:cs typeface="Calibri"/>
              </a:rPr>
              <a:t>Dequino</a:t>
            </a:r>
            <a:r>
              <a:rPr lang="en-US" sz="2100" b="1" dirty="0">
                <a:latin typeface="Calibri"/>
                <a:ea typeface="Source Sans Pro"/>
                <a:cs typeface="Calibri"/>
              </a:rPr>
              <a:t> (</a:t>
            </a:r>
            <a:r>
              <a:rPr lang="en-US" sz="2100" b="1" dirty="0">
                <a:latin typeface="Calibri"/>
                <a:ea typeface="Source Sans Pro"/>
                <a:cs typeface="Calibri"/>
                <a:hlinkClick r:id="rId2"/>
              </a:rPr>
              <a:t>alberto.dequino@unibo.it</a:t>
            </a:r>
            <a:r>
              <a:rPr lang="en-US" sz="2100" b="1" dirty="0">
                <a:latin typeface="Calibri"/>
                <a:ea typeface="Source Sans Pro"/>
                <a:cs typeface="Calibri"/>
              </a:rPr>
              <a:t>)</a:t>
            </a:r>
          </a:p>
          <a:p>
            <a:r>
              <a:rPr lang="en-US" sz="2100" b="1">
                <a:latin typeface="Calibri"/>
                <a:ea typeface="Source Sans Pro"/>
                <a:cs typeface="Calibri"/>
              </a:rPr>
              <a:t>Calin Diaconu(</a:t>
            </a:r>
            <a:r>
              <a:rPr lang="en-US" sz="2100" b="1" dirty="0">
                <a:latin typeface="Calibri"/>
                <a:ea typeface="Source Sans Pro"/>
                <a:cs typeface="Calibri"/>
                <a:hlinkClick r:id="rId3"/>
              </a:rPr>
              <a:t>calin.diaconu2@unibo.it</a:t>
            </a:r>
            <a:r>
              <a:rPr lang="en-US" sz="2100" b="1">
                <a:latin typeface="Calibri"/>
                <a:ea typeface="Source Sans Pro"/>
                <a:cs typeface="Calibri"/>
              </a:rPr>
              <a:t>)</a:t>
            </a:r>
          </a:p>
          <a:p>
            <a:r>
              <a:rPr lang="it-IT" b="0" dirty="0">
                <a:latin typeface="Calibri" panose="020F0502020204030204" pitchFamily="34" charset="0"/>
                <a:cs typeface="Calibri" panose="020F0502020204030204" pitchFamily="34" charset="0"/>
              </a:rPr>
              <a:t>Francesco Conti</a:t>
            </a:r>
          </a:p>
          <a:p>
            <a:r>
              <a:rPr lang="it-IT" b="0" dirty="0">
                <a:latin typeface="Calibri" panose="020F0502020204030204" pitchFamily="34" charset="0"/>
                <a:cs typeface="Calibri" panose="020F0502020204030204" pitchFamily="34" charset="0"/>
              </a:rPr>
              <a:t>Giuseppe Tagliavini</a:t>
            </a:r>
          </a:p>
          <a:p>
            <a:endParaRPr lang="en-US" b="1" dirty="0">
              <a:latin typeface="Calibri"/>
              <a:ea typeface="Source Sans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5230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7CDE4-B854-493F-A719-1556A2055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Labs (tentative) schedule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B2951-1C84-48C2-9717-82F5FB88E37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1308F9B-9160-3DBE-1833-680D5168C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02415"/>
              </p:ext>
            </p:extLst>
          </p:nvPr>
        </p:nvGraphicFramePr>
        <p:xfrm>
          <a:off x="461962" y="1676400"/>
          <a:ext cx="11268075" cy="3505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322600972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3299718184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1106189784"/>
                    </a:ext>
                  </a:extLst>
                </a:gridCol>
                <a:gridCol w="8162925">
                  <a:extLst>
                    <a:ext uri="{9D8B030D-6E8A-4147-A177-3AD203B41FA5}">
                      <a16:colId xmlns:a16="http://schemas.microsoft.com/office/drawing/2014/main" val="41833389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4F81BD"/>
                          </a:highlight>
                          <a:latin typeface="Calibri"/>
                        </a:rPr>
                        <a:t>LAB1</a:t>
                      </a:r>
                      <a:endParaRPr lang="en-US" dirty="0">
                        <a:effectLst/>
                        <a:highlight>
                          <a:srgbClr val="4F81BD"/>
                        </a:highlight>
                        <a:latin typeface="Calibri"/>
                      </a:endParaRPr>
                    </a:p>
                  </a:txBody>
                  <a:tcPr anchor="ctr">
                    <a:lnL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 dirty="0">
                          <a:effectLst/>
                          <a:highlight>
                            <a:srgbClr val="D0D8E8"/>
                          </a:highlight>
                          <a:latin typeface="Calibri" panose="020F0502020204030204" pitchFamily="34" charset="0"/>
                        </a:rPr>
                        <a:t>Fri. </a:t>
                      </a:r>
                      <a:endParaRPr lang="en-US" dirty="0">
                        <a:effectLst/>
                        <a:highlight>
                          <a:srgbClr val="D0D8E8"/>
                        </a:highlight>
                      </a:endParaRPr>
                    </a:p>
                    <a:p>
                      <a:pPr algn="ctr" fontAlgn="base"/>
                      <a:r>
                        <a:rPr lang="en-US" sz="2000" b="1">
                          <a:effectLst/>
                          <a:highlight>
                            <a:srgbClr val="D0D8E8"/>
                          </a:highlight>
                          <a:latin typeface="Calibri"/>
                        </a:rPr>
                        <a:t>13/03</a:t>
                      </a:r>
                      <a:endParaRPr lang="en-US" dirty="0">
                        <a:effectLst/>
                        <a:highlight>
                          <a:srgbClr val="D0D8E8"/>
                        </a:highlight>
                      </a:endParaRPr>
                    </a:p>
                  </a:txBody>
                  <a:tcPr anchor="ctr">
                    <a:lnL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>
                          <a:effectLst/>
                          <a:highlight>
                            <a:srgbClr val="D0D8E8"/>
                          </a:highlight>
                          <a:latin typeface="Calibri"/>
                        </a:rPr>
                        <a:t>3h</a:t>
                      </a:r>
                      <a:endParaRPr lang="en-US" dirty="0">
                        <a:effectLst/>
                        <a:highlight>
                          <a:srgbClr val="D0D8E8"/>
                        </a:highlight>
                      </a:endParaRPr>
                    </a:p>
                  </a:txBody>
                  <a:tcPr anchor="ctr">
                    <a:lnL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 dirty="0">
                          <a:effectLst/>
                          <a:highlight>
                            <a:srgbClr val="D0D8E8"/>
                          </a:highlight>
                          <a:latin typeface="Calibri" panose="020F0502020204030204" pitchFamily="34" charset="0"/>
                        </a:rPr>
                        <a:t>Embedding Programming on PULP – I</a:t>
                      </a:r>
                      <a:endParaRPr lang="en-US" dirty="0">
                        <a:effectLst/>
                        <a:highlight>
                          <a:srgbClr val="D0D8E8"/>
                        </a:highlight>
                      </a:endParaRPr>
                    </a:p>
                  </a:txBody>
                  <a:tcPr anchor="ctr">
                    <a:lnL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03683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4F81BD"/>
                          </a:highlight>
                          <a:latin typeface="Calibri"/>
                        </a:rPr>
                        <a:t>LAB2</a:t>
                      </a:r>
                      <a:endParaRPr lang="en-US" dirty="0">
                        <a:effectLst/>
                        <a:highlight>
                          <a:srgbClr val="4F81BD"/>
                        </a:highlight>
                        <a:latin typeface="Calibri"/>
                      </a:endParaRPr>
                    </a:p>
                  </a:txBody>
                  <a:tcPr anchor="ctr">
                    <a:lnL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dirty="0">
                          <a:effectLst/>
                          <a:highlight>
                            <a:srgbClr val="E9EDF4"/>
                          </a:highlight>
                          <a:latin typeface="Calibri" panose="020F0502020204030204" pitchFamily="34" charset="0"/>
                        </a:rPr>
                        <a:t>Fri. </a:t>
                      </a:r>
                      <a:endParaRPr lang="en-US" dirty="0">
                        <a:effectLst/>
                        <a:highlight>
                          <a:srgbClr val="E9EDF4"/>
                        </a:highlight>
                      </a:endParaRPr>
                    </a:p>
                    <a:p>
                      <a:pPr algn="ctr" fontAlgn="base"/>
                      <a:r>
                        <a:rPr lang="en-US" sz="2000">
                          <a:effectLst/>
                          <a:highlight>
                            <a:srgbClr val="E9EDF4"/>
                          </a:highlight>
                          <a:latin typeface="Calibri"/>
                        </a:rPr>
                        <a:t>10/04</a:t>
                      </a:r>
                      <a:endParaRPr lang="en-US" dirty="0">
                        <a:effectLst/>
                        <a:highlight>
                          <a:srgbClr val="E9EDF4"/>
                        </a:highlight>
                      </a:endParaRPr>
                    </a:p>
                  </a:txBody>
                  <a:tcPr anchor="ctr">
                    <a:lnL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>
                          <a:effectLst/>
                          <a:highlight>
                            <a:srgbClr val="E9EDF4"/>
                          </a:highlight>
                          <a:latin typeface="Calibri"/>
                        </a:rPr>
                        <a:t>3h</a:t>
                      </a:r>
                      <a:endParaRPr lang="en-US" dirty="0">
                        <a:effectLst/>
                        <a:highlight>
                          <a:srgbClr val="E9EDF4"/>
                        </a:highlight>
                        <a:latin typeface="Calibri"/>
                      </a:endParaRPr>
                    </a:p>
                  </a:txBody>
                  <a:tcPr anchor="ctr">
                    <a:lnL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dirty="0">
                          <a:effectLst/>
                          <a:highlight>
                            <a:srgbClr val="E9EDF4"/>
                          </a:highlight>
                          <a:latin typeface="Calibri" panose="020F0502020204030204" pitchFamily="34" charset="0"/>
                        </a:rPr>
                        <a:t>Embedding Programming on PULP - II</a:t>
                      </a:r>
                      <a:endParaRPr lang="en-US" dirty="0">
                        <a:effectLst/>
                        <a:highlight>
                          <a:srgbClr val="E9EDF4"/>
                        </a:highlight>
                      </a:endParaRPr>
                    </a:p>
                  </a:txBody>
                  <a:tcPr anchor="ctr">
                    <a:lnL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45495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4F81BD"/>
                          </a:highlight>
                          <a:latin typeface="Calibri"/>
                        </a:rPr>
                        <a:t>LAB3</a:t>
                      </a:r>
                      <a:endParaRPr lang="en-US" dirty="0">
                        <a:effectLst/>
                        <a:highlight>
                          <a:srgbClr val="4F81BD"/>
                        </a:highlight>
                        <a:latin typeface="Calibri"/>
                      </a:endParaRPr>
                    </a:p>
                  </a:txBody>
                  <a:tcPr anchor="ctr">
                    <a:lnL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dirty="0">
                          <a:effectLst/>
                          <a:highlight>
                            <a:srgbClr val="D0D8E8"/>
                          </a:highlight>
                          <a:latin typeface="Calibri" panose="020F0502020204030204" pitchFamily="34" charset="0"/>
                        </a:rPr>
                        <a:t>Fri. </a:t>
                      </a:r>
                      <a:endParaRPr lang="en-US" dirty="0">
                        <a:effectLst/>
                        <a:highlight>
                          <a:srgbClr val="D0D8E8"/>
                        </a:highlight>
                      </a:endParaRPr>
                    </a:p>
                    <a:p>
                      <a:pPr algn="ctr" fontAlgn="base"/>
                      <a:r>
                        <a:rPr lang="en-US" sz="2000">
                          <a:effectLst/>
                          <a:highlight>
                            <a:srgbClr val="D0D8E8"/>
                          </a:highlight>
                          <a:latin typeface="Calibri"/>
                        </a:rPr>
                        <a:t>15/05</a:t>
                      </a:r>
                      <a:endParaRPr lang="en-US" dirty="0">
                        <a:effectLst/>
                        <a:highlight>
                          <a:srgbClr val="D0D8E8"/>
                        </a:highlight>
                      </a:endParaRPr>
                    </a:p>
                  </a:txBody>
                  <a:tcPr anchor="ctr">
                    <a:lnL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>
                          <a:effectLst/>
                          <a:highlight>
                            <a:srgbClr val="D0D8E8"/>
                          </a:highlight>
                          <a:latin typeface="Calibri"/>
                        </a:rPr>
                        <a:t>3h</a:t>
                      </a:r>
                      <a:endParaRPr lang="en-US" dirty="0">
                        <a:effectLst/>
                        <a:highlight>
                          <a:srgbClr val="D0D8E8"/>
                        </a:highlight>
                        <a:latin typeface="Calibri"/>
                      </a:endParaRPr>
                    </a:p>
                  </a:txBody>
                  <a:tcPr anchor="ctr">
                    <a:lnL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dirty="0">
                          <a:effectLst/>
                          <a:highlight>
                            <a:srgbClr val="D0D8E8"/>
                          </a:highlight>
                          <a:latin typeface="Calibri" panose="020F0502020204030204" pitchFamily="34" charset="0"/>
                        </a:rPr>
                        <a:t>Digital Signal Processing on MCUs</a:t>
                      </a:r>
                      <a:endParaRPr lang="en-US" dirty="0">
                        <a:effectLst/>
                        <a:highlight>
                          <a:srgbClr val="D0D8E8"/>
                        </a:highlight>
                      </a:endParaRPr>
                    </a:p>
                  </a:txBody>
                  <a:tcPr anchor="ctr">
                    <a:lnL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4938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4F81BD"/>
                          </a:highlight>
                          <a:latin typeface="Calibri"/>
                        </a:rPr>
                        <a:t>LAB4</a:t>
                      </a:r>
                      <a:endParaRPr lang="en-US" dirty="0">
                        <a:effectLst/>
                        <a:highlight>
                          <a:srgbClr val="4F81BD"/>
                        </a:highlight>
                        <a:latin typeface="Calibri"/>
                      </a:endParaRPr>
                    </a:p>
                  </a:txBody>
                  <a:tcPr anchor="ctr">
                    <a:lnL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dirty="0">
                          <a:effectLst/>
                          <a:highlight>
                            <a:srgbClr val="E9EDF4"/>
                          </a:highlight>
                          <a:latin typeface="Calibri" panose="020F0502020204030204" pitchFamily="34" charset="0"/>
                        </a:rPr>
                        <a:t>Fri. </a:t>
                      </a:r>
                      <a:endParaRPr lang="en-US" dirty="0">
                        <a:effectLst/>
                        <a:highlight>
                          <a:srgbClr val="E9EDF4"/>
                        </a:highlight>
                      </a:endParaRPr>
                    </a:p>
                    <a:p>
                      <a:pPr algn="ctr" fontAlgn="base"/>
                      <a:r>
                        <a:rPr lang="en-US" sz="2000">
                          <a:effectLst/>
                          <a:highlight>
                            <a:srgbClr val="E9EDF4"/>
                          </a:highlight>
                          <a:latin typeface="Calibri"/>
                        </a:rPr>
                        <a:t>22/05</a:t>
                      </a:r>
                      <a:endParaRPr lang="en-US" dirty="0">
                        <a:effectLst/>
                        <a:highlight>
                          <a:srgbClr val="E9EDF4"/>
                        </a:highlight>
                      </a:endParaRPr>
                    </a:p>
                  </a:txBody>
                  <a:tcPr anchor="ctr">
                    <a:lnL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>
                          <a:effectLst/>
                          <a:highlight>
                            <a:srgbClr val="E9EDF4"/>
                          </a:highlight>
                          <a:latin typeface="Calibri"/>
                        </a:rPr>
                        <a:t>3h</a:t>
                      </a:r>
                      <a:endParaRPr lang="en-US" dirty="0">
                        <a:effectLst/>
                        <a:highlight>
                          <a:srgbClr val="E9EDF4"/>
                        </a:highlight>
                        <a:latin typeface="Calibri"/>
                      </a:endParaRPr>
                    </a:p>
                  </a:txBody>
                  <a:tcPr anchor="ctr">
                    <a:lnL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dirty="0">
                          <a:effectLst/>
                          <a:highlight>
                            <a:srgbClr val="E9EDF4"/>
                          </a:highlight>
                          <a:latin typeface="Calibri" panose="020F0502020204030204" pitchFamily="34" charset="0"/>
                        </a:rPr>
                        <a:t>Bare-metal parallelization on PULP</a:t>
                      </a:r>
                      <a:endParaRPr lang="en-US" dirty="0">
                        <a:effectLst/>
                        <a:highlight>
                          <a:srgbClr val="E9EDF4"/>
                        </a:highlight>
                      </a:endParaRPr>
                    </a:p>
                  </a:txBody>
                  <a:tcPr anchor="ctr">
                    <a:lnL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23244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4F81BD"/>
                          </a:highlight>
                          <a:latin typeface="Calibri"/>
                        </a:rPr>
                        <a:t>LAB5</a:t>
                      </a:r>
                      <a:endParaRPr lang="en-US" dirty="0">
                        <a:effectLst/>
                        <a:highlight>
                          <a:srgbClr val="4F81BD"/>
                        </a:highlight>
                        <a:latin typeface="Calibri"/>
                      </a:endParaRPr>
                    </a:p>
                  </a:txBody>
                  <a:tcPr anchor="ctr">
                    <a:lnL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dirty="0">
                          <a:effectLst/>
                          <a:highlight>
                            <a:srgbClr val="D0D8E8"/>
                          </a:highlight>
                          <a:latin typeface="Calibri" panose="020F0502020204030204" pitchFamily="34" charset="0"/>
                        </a:rPr>
                        <a:t>Fri.</a:t>
                      </a:r>
                      <a:endParaRPr lang="en-US" dirty="0">
                        <a:effectLst/>
                        <a:highlight>
                          <a:srgbClr val="D0D8E8"/>
                        </a:highlight>
                      </a:endParaRPr>
                    </a:p>
                    <a:p>
                      <a:pPr algn="ctr" fontAlgn="base"/>
                      <a:r>
                        <a:rPr lang="en-US" sz="2000">
                          <a:effectLst/>
                          <a:highlight>
                            <a:srgbClr val="D0D8E8"/>
                          </a:highlight>
                          <a:latin typeface="Calibri"/>
                        </a:rPr>
                        <a:t>29/05</a:t>
                      </a:r>
                      <a:endParaRPr lang="en-US" dirty="0">
                        <a:effectLst/>
                        <a:highlight>
                          <a:srgbClr val="D0D8E8"/>
                        </a:highlight>
                      </a:endParaRPr>
                    </a:p>
                  </a:txBody>
                  <a:tcPr anchor="ctr">
                    <a:lnL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>
                          <a:effectLst/>
                          <a:highlight>
                            <a:srgbClr val="D0D8E8"/>
                          </a:highlight>
                          <a:latin typeface="Calibri"/>
                        </a:rPr>
                        <a:t>3h</a:t>
                      </a:r>
                      <a:endParaRPr lang="en-US" dirty="0">
                        <a:effectLst/>
                        <a:highlight>
                          <a:srgbClr val="D0D8E8"/>
                        </a:highlight>
                        <a:latin typeface="Calibri"/>
                      </a:endParaRPr>
                    </a:p>
                  </a:txBody>
                  <a:tcPr anchor="ctr">
                    <a:lnL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dirty="0">
                          <a:effectLst/>
                          <a:highlight>
                            <a:srgbClr val="D0D8E8"/>
                          </a:highlight>
                          <a:latin typeface="Calibri" panose="020F0502020204030204" pitchFamily="34" charset="0"/>
                        </a:rPr>
                        <a:t>OpenMP parallelization on PULP + Parallel DSP Computation</a:t>
                      </a:r>
                      <a:endParaRPr lang="en-US" dirty="0">
                        <a:effectLst/>
                        <a:highlight>
                          <a:srgbClr val="D0D8E8"/>
                        </a:highlight>
                      </a:endParaRPr>
                    </a:p>
                  </a:txBody>
                  <a:tcPr anchor="ctr">
                    <a:lnL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852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898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6DDAB5-96CB-4CAD-9528-AB294AC5E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the Class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D89CE2-C972-4707-A855-3AAC30F16D8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Intro to the PULP platform and the PULP-SDK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Some basics of C programming on PULP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Measuring Performance and Assembler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r>
              <a:rPr lang="en-US" u="sng" dirty="0"/>
              <a:t>The class is meant to be interactive: code together and on your own!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Now… </a:t>
            </a:r>
          </a:p>
          <a:p>
            <a:r>
              <a:rPr lang="en-US" dirty="0"/>
              <a:t>	Open your container with the PULP-SDK installed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1F8CF-7712-41AD-A855-8A2B78EB88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594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1FE5F4-1BE0-4714-BBF1-717A325CB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confident with the PULP Platform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FB6ED7-E3C9-4E48-9359-8C4CF30801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0" y="990573"/>
            <a:ext cx="5333774" cy="5524351"/>
          </a:xfrm>
        </p:spPr>
        <p:txBody>
          <a:bodyPr lIns="91440" tIns="45720" rIns="91440" bIns="4572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/>
                <a:ea typeface="Source Sans Pro"/>
              </a:rPr>
              <a:t>1 + 8 high-performance cores: extended RISC-V ISA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/>
                <a:ea typeface="Source Sans Pro"/>
              </a:rPr>
              <a:t>On-chip Memories</a:t>
            </a:r>
          </a:p>
          <a:p>
            <a:pPr marL="4572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A level 2 Memory for all the cores</a:t>
            </a:r>
            <a:endParaRPr lang="en-US" sz="1600" dirty="0">
              <a:cs typeface="Calibri"/>
            </a:endParaRPr>
          </a:p>
          <a:p>
            <a:pPr marL="4572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A level 1 Memory shared by all the cores in Cluster</a:t>
            </a:r>
            <a:endParaRPr lang="en-US" sz="1600" dirty="0"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/>
                <a:ea typeface="Source Sans Pro"/>
              </a:rPr>
              <a:t>A multi-channel 1D/2D cluster-DMA controls the transactions between the L2 Memory and L1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/>
                <a:ea typeface="Source Sans Pro"/>
              </a:rPr>
              <a:t>A smart, lightweight and completely autonomous DMA (micro-DMA) capable of handling complex I/O scheme </a:t>
            </a:r>
            <a:endParaRPr lang="en-US" sz="2400" dirty="0"/>
          </a:p>
          <a:p>
            <a:pPr marL="548640" lvl="1" indent="-342900">
              <a:buFont typeface="Arial" panose="020B0604020202020204" pitchFamily="34" charset="0"/>
              <a:buChar char="•"/>
            </a:pPr>
            <a:r>
              <a:rPr lang="en-US" sz="1800" dirty="0" err="1"/>
              <a:t>HyperBus</a:t>
            </a:r>
            <a:r>
              <a:rPr lang="en-US" sz="1800" dirty="0"/>
              <a:t>, I2S, CPI, timers, SPI, GPIOs, </a:t>
            </a:r>
            <a:r>
              <a:rPr lang="en-US" sz="1800" dirty="0" err="1"/>
              <a:t>etc</a:t>
            </a:r>
            <a:r>
              <a:rPr lang="en-US" sz="1800" dirty="0"/>
              <a:t>…</a:t>
            </a:r>
            <a:endParaRPr lang="en-US" sz="1800" dirty="0">
              <a:cs typeface="Calibri"/>
            </a:endParaRP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E0E8BB-13C6-4ABB-B6CB-BC82F9FA28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4F2163-93A8-46C5-883F-E0E615D92E5A}"/>
              </a:ext>
            </a:extLst>
          </p:cNvPr>
          <p:cNvSpPr txBox="1"/>
          <p:nvPr/>
        </p:nvSpPr>
        <p:spPr>
          <a:xfrm>
            <a:off x="5819040" y="5512625"/>
            <a:ext cx="61816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GitHub</a:t>
            </a:r>
            <a:r>
              <a:rPr lang="en-US" dirty="0"/>
              <a:t> HW Project: </a:t>
            </a:r>
            <a:r>
              <a:rPr lang="en-US" dirty="0">
                <a:hlinkClick r:id="rId2"/>
              </a:rPr>
              <a:t>https://github.com/pulp-platform/pulp</a:t>
            </a:r>
            <a:endParaRPr lang="en-US" dirty="0"/>
          </a:p>
          <a:p>
            <a:r>
              <a:rPr lang="en-US" b="1" dirty="0"/>
              <a:t>HW Documentation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https://raw.githubusercontent.com/pulp-platform/pulp/master/doc/datasheet.pdf</a:t>
            </a:r>
            <a:endParaRPr lang="en-US" dirty="0"/>
          </a:p>
        </p:txBody>
      </p:sp>
      <p:pic>
        <p:nvPicPr>
          <p:cNvPr id="4" name="Picture 3" descr="A diagram of a computer system&#10;&#10;Description automatically generated">
            <a:extLst>
              <a:ext uri="{FF2B5EF4-FFF2-40B4-BE49-F238E27FC236}">
                <a16:creationId xmlns:a16="http://schemas.microsoft.com/office/drawing/2014/main" id="{5EAF5A11-57BE-91AC-261E-F8A549283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225" y="1722837"/>
            <a:ext cx="658177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909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ocker">
            <a:extLst>
              <a:ext uri="{FF2B5EF4-FFF2-40B4-BE49-F238E27FC236}">
                <a16:creationId xmlns:a16="http://schemas.microsoft.com/office/drawing/2014/main" id="{CD2716C7-1FDA-51D2-043E-1CB0B90BC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509" y="58305"/>
            <a:ext cx="2343341" cy="2036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EC0630E-C222-40B9-A611-FE326FF37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Started: </a:t>
            </a:r>
            <a:r>
              <a:rPr lang="en-US" i="1" dirty="0"/>
              <a:t>Docker setup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D5B1D9-4131-4B30-8D14-F243373CA1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1" y="990573"/>
            <a:ext cx="10667551" cy="3772312"/>
          </a:xfrm>
        </p:spPr>
        <p:txBody>
          <a:bodyPr lIns="91440" tIns="45720" rIns="91440" bIns="4572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ource Sans Pro"/>
                <a:ea typeface="Source Sans Pro"/>
              </a:rPr>
              <a:t>How to install:</a:t>
            </a:r>
          </a:p>
          <a:p>
            <a:pPr marL="571488" lvl="1" indent="-342900"/>
            <a:r>
              <a:rPr lang="en-US" dirty="0">
                <a:latin typeface="Source Sans Pro"/>
                <a:ea typeface="Source Sans Pro"/>
              </a:rPr>
              <a:t>Install Docker Desktop* - </a:t>
            </a:r>
            <a:r>
              <a:rPr lang="en-US" dirty="0">
                <a:latin typeface="Source Sans Pro"/>
                <a:ea typeface="Source Sans Pro"/>
                <a:hlinkClick r:id="rId3"/>
              </a:rPr>
              <a:t>https://www.docker.com/products/docker-desktop/</a:t>
            </a:r>
            <a:endParaRPr lang="en-US" dirty="0">
              <a:latin typeface="Source Sans Pro"/>
              <a:ea typeface="Source Sans Pro"/>
            </a:endParaRPr>
          </a:p>
          <a:p>
            <a:pPr marL="990600" lvl="1" indent="0">
              <a:buNone/>
            </a:pPr>
            <a:r>
              <a:rPr lang="en-US" dirty="0">
                <a:latin typeface="Source Sans Pro"/>
                <a:ea typeface="Source Sans Pro"/>
              </a:rPr>
              <a:t>*For Windows users, it’s recommended to use it through Windows Subsystem for Linux - WSL (</a:t>
            </a:r>
            <a:r>
              <a:rPr lang="en-US" dirty="0">
                <a:latin typeface="Source Sans Pro"/>
                <a:ea typeface="Source Sans Pro"/>
                <a:hlinkClick r:id="rId4"/>
              </a:rPr>
              <a:t>install instructions</a:t>
            </a:r>
            <a:r>
              <a:rPr lang="en-US" dirty="0">
                <a:latin typeface="Source Sans Pro"/>
                <a:ea typeface="Source Sans Pro"/>
              </a:rPr>
              <a:t>); otherwise, it would become quite  computationally-intensive, since it runs through a virtual machine.</a:t>
            </a:r>
          </a:p>
          <a:p>
            <a:pPr marL="990600" lvl="1" indent="0">
              <a:buNone/>
            </a:pPr>
            <a:endParaRPr lang="en-US" sz="800" dirty="0">
              <a:latin typeface="Source Sans Pro"/>
              <a:ea typeface="Source Sans Pro"/>
            </a:endParaRPr>
          </a:p>
          <a:p>
            <a:pPr marL="571488" lvl="1" indent="-342900"/>
            <a:r>
              <a:rPr lang="en-US" dirty="0">
                <a:latin typeface="Source Sans Pro"/>
                <a:ea typeface="Source Sans Pro"/>
              </a:rPr>
              <a:t>Install VS Code </a:t>
            </a:r>
            <a:r>
              <a:rPr lang="en-US" dirty="0">
                <a:latin typeface="Source Sans Pro"/>
                <a:ea typeface="Source Sans Pro"/>
                <a:hlinkClick r:id="rId5"/>
              </a:rPr>
              <a:t>https://code.visualstudio.com/</a:t>
            </a:r>
            <a:endParaRPr lang="en-US" dirty="0">
              <a:latin typeface="Source Sans Pro"/>
              <a:ea typeface="Source Sans Pro"/>
            </a:endParaRPr>
          </a:p>
          <a:p>
            <a:pPr marL="571488" lvl="1" indent="-342900"/>
            <a:endParaRPr lang="en-US" sz="800" dirty="0">
              <a:latin typeface="Source Sans Pro"/>
              <a:ea typeface="Source Sans Pro"/>
            </a:endParaRPr>
          </a:p>
          <a:p>
            <a:pPr marL="571488" lvl="1" indent="-342900"/>
            <a:r>
              <a:rPr lang="en-US" dirty="0">
                <a:latin typeface="Source Sans Pro"/>
                <a:ea typeface="Source Sans Pro"/>
              </a:rPr>
              <a:t>In VS Code, install the Dev Containers extension: </a:t>
            </a:r>
            <a:r>
              <a:rPr lang="en-US" dirty="0">
                <a:latin typeface="Source Sans Pro"/>
                <a:ea typeface="Source Sans Pro"/>
                <a:hlinkClick r:id="rId6"/>
              </a:rPr>
              <a:t>https://marketplace.visualstudio.com/items?itemName=ms-vscode-remote.remote-containers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2161B-3262-4C99-8301-BB7E718363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95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E2D4B-B559-DB0D-A5DC-C72F112A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2B2E1E-F242-BB9C-5588-FE102D08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Started: </a:t>
            </a:r>
            <a:r>
              <a:rPr lang="en-US" i="1" dirty="0"/>
              <a:t>Open project in the Docker container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138B7-CB52-D8B9-5E3F-F789C0B7469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766711-3824-F5B4-4125-83A70C43CF0D}"/>
              </a:ext>
            </a:extLst>
          </p:cNvPr>
          <p:cNvSpPr/>
          <p:nvPr/>
        </p:nvSpPr>
        <p:spPr>
          <a:xfrm>
            <a:off x="316503" y="2446437"/>
            <a:ext cx="7380051" cy="1200329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/>
                <a:ea typeface="Times New Roman" panose="02020603050405020304" pitchFamily="18" charset="0"/>
                <a:cs typeface="Times New Roman"/>
              </a:rPr>
              <a:t>$ git clone </a:t>
            </a:r>
            <a:r>
              <a:rPr lang="en-US" dirty="0">
                <a:solidFill>
                  <a:srgbClr val="000000"/>
                </a:solidFill>
                <a:latin typeface="Courier New"/>
                <a:cs typeface="Times New Roman"/>
                <a:hlinkClick r:id="rId2"/>
              </a:rPr>
              <a:t>https://github.com/EEESlab/HSDES-LAB01-PULP_Embedded_Programming.git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latin typeface="Courier New"/>
                <a:ea typeface="Times New Roman" panose="02020603050405020304" pitchFamily="18" charset="0"/>
                <a:cs typeface="Times New Roman"/>
              </a:rPr>
              <a:t>$ cd HSDES-LAB01-PULP_Embedded_Programming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ea typeface="Times New Roman" panose="02020603050405020304" pitchFamily="18" charset="0"/>
                <a:cs typeface="Times New Roman"/>
              </a:rPr>
              <a:t>$ code .</a:t>
            </a:r>
            <a:endParaRPr lang="en-US" b="1" dirty="0">
              <a:solidFill>
                <a:srgbClr val="C00000"/>
              </a:solidFill>
              <a:latin typeface="Times New Roman"/>
              <a:ea typeface="Calibri"/>
              <a:cs typeface="Calibri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7A9D3FE-6A33-2047-DB4A-77AE9EE7644C}"/>
              </a:ext>
            </a:extLst>
          </p:cNvPr>
          <p:cNvSpPr txBox="1">
            <a:spLocks/>
          </p:cNvSpPr>
          <p:nvPr/>
        </p:nvSpPr>
        <p:spPr>
          <a:xfrm>
            <a:off x="7943850" y="3370776"/>
            <a:ext cx="4174001" cy="115212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Source Sans Pro"/>
                <a:ea typeface="Source Sans Pro"/>
              </a:rPr>
              <a:t>*In these labs we will always use Git. It is widely used, so a good skill to have. Here is a good </a:t>
            </a:r>
            <a:r>
              <a:rPr lang="en-US" dirty="0">
                <a:latin typeface="Source Sans Pro"/>
                <a:ea typeface="Source Sans Pro"/>
                <a:hlinkClick r:id="rId3"/>
              </a:rPr>
              <a:t>intro tutorial</a:t>
            </a:r>
            <a:r>
              <a:rPr lang="en-US" dirty="0">
                <a:latin typeface="Source Sans Pro"/>
                <a:ea typeface="Source Sans Pro"/>
              </a:rPr>
              <a:t>.</a:t>
            </a:r>
          </a:p>
          <a:p>
            <a:pPr algn="r"/>
            <a:endParaRPr lang="en-US" dirty="0"/>
          </a:p>
        </p:txBody>
      </p:sp>
      <p:pic>
        <p:nvPicPr>
          <p:cNvPr id="1026" name="Picture 2" descr="Git · GitHub">
            <a:extLst>
              <a:ext uri="{FF2B5EF4-FFF2-40B4-BE49-F238E27FC236}">
                <a16:creationId xmlns:a16="http://schemas.microsoft.com/office/drawing/2014/main" id="{CE2D60A4-85FD-57D8-D169-91D94F077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7363" y="2115212"/>
            <a:ext cx="1146973" cy="114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BA0B719-D43E-1324-2FFC-3DAA50CEAB22}"/>
              </a:ext>
            </a:extLst>
          </p:cNvPr>
          <p:cNvSpPr txBox="1"/>
          <p:nvPr/>
        </p:nvSpPr>
        <p:spPr>
          <a:xfrm>
            <a:off x="316503" y="1136197"/>
            <a:ext cx="7229828" cy="142155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2000" b="0" i="0" dirty="0">
                <a:latin typeface="+mn-lt"/>
                <a:cs typeface="Arial Narrow" panose="020B0604020202020204" pitchFamily="34" charset="0"/>
              </a:rPr>
              <a:t>First steps:</a:t>
            </a:r>
          </a:p>
          <a:p>
            <a:pPr algn="l" defTabSz="720000"/>
            <a:r>
              <a:rPr lang="en-US" sz="2000" dirty="0">
                <a:cs typeface="Arial Narrow" panose="020B0604020202020204" pitchFamily="34" charset="0"/>
              </a:rPr>
              <a:t>    </a:t>
            </a:r>
            <a:r>
              <a:rPr lang="en-US" sz="2000" b="0" i="0" dirty="0">
                <a:latin typeface="+mn-lt"/>
                <a:cs typeface="Arial Narrow" panose="020B0604020202020204" pitchFamily="34" charset="0"/>
              </a:rPr>
              <a:t>1. Clone* this lab’s project locally (in WSL, if using it)</a:t>
            </a:r>
          </a:p>
          <a:p>
            <a:pPr algn="l" defTabSz="720000"/>
            <a:r>
              <a:rPr lang="en-US" sz="2000" b="0" i="0" dirty="0">
                <a:latin typeface="+mn-lt"/>
                <a:cs typeface="Arial Narrow" panose="020B0604020202020204" pitchFamily="34" charset="0"/>
              </a:rPr>
              <a:t>    2. Enter the newly created local directory of the project</a:t>
            </a:r>
          </a:p>
          <a:p>
            <a:pPr algn="l" defTabSz="720000"/>
            <a:r>
              <a:rPr lang="en-US" sz="2000" dirty="0">
                <a:cs typeface="Arial Narrow" panose="020B0604020202020204" pitchFamily="34" charset="0"/>
              </a:rPr>
              <a:t>    3. Open the project in VS Code</a:t>
            </a:r>
            <a:endParaRPr lang="en-US" sz="2000" b="0" i="0" dirty="0">
              <a:latin typeface="+mn-lt"/>
              <a:cs typeface="Arial Narrow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8A8595-DDBF-E503-8EF9-C2F6F83F7FEC}"/>
              </a:ext>
            </a:extLst>
          </p:cNvPr>
          <p:cNvSpPr txBox="1"/>
          <p:nvPr/>
        </p:nvSpPr>
        <p:spPr>
          <a:xfrm>
            <a:off x="316502" y="3885126"/>
            <a:ext cx="7380049" cy="196322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2000" dirty="0">
                <a:cs typeface="Arial Narrow" panose="020B0604020202020204" pitchFamily="34" charset="0"/>
              </a:rPr>
              <a:t>At this moment, the project is open in your local “environment”.</a:t>
            </a:r>
          </a:p>
          <a:p>
            <a:pPr algn="l" defTabSz="720000"/>
            <a:r>
              <a:rPr lang="en-US" sz="2000" dirty="0">
                <a:cs typeface="Arial Narrow" panose="020B0604020202020204" pitchFamily="34" charset="0"/>
              </a:rPr>
              <a:t>We need to open it in the Docker container. For this, in VS Code:</a:t>
            </a:r>
          </a:p>
          <a:p>
            <a:pPr algn="l" defTabSz="720000"/>
            <a:r>
              <a:rPr lang="en-US" sz="2000" dirty="0">
                <a:cs typeface="Arial Narrow" panose="020B0604020202020204" pitchFamily="34" charset="0"/>
              </a:rPr>
              <a:t>    1. Press </a:t>
            </a:r>
            <a:r>
              <a:rPr lang="en-US" sz="2000" dirty="0" err="1">
                <a:cs typeface="Arial Narrow" panose="020B0604020202020204" pitchFamily="34" charset="0"/>
              </a:rPr>
              <a:t>CTRL+Shift+P</a:t>
            </a:r>
            <a:r>
              <a:rPr lang="en-US" sz="2000" dirty="0">
                <a:cs typeface="Arial Narrow" panose="020B0604020202020204" pitchFamily="34" charset="0"/>
              </a:rPr>
              <a:t> (open command palette)</a:t>
            </a:r>
          </a:p>
          <a:p>
            <a:pPr defTabSz="720000"/>
            <a:r>
              <a:rPr lang="en-US" sz="2000" dirty="0">
                <a:cs typeface="Arial Narrow" panose="020B0604020202020204" pitchFamily="34" charset="0"/>
              </a:rPr>
              <a:t>    2. Type in “</a:t>
            </a:r>
            <a:r>
              <a:rPr lang="en-US" sz="2000" i="1" dirty="0">
                <a:cs typeface="Arial Narrow" panose="020B0604020202020204" pitchFamily="34" charset="0"/>
              </a:rPr>
              <a:t>Dev Containers: Reopen in Container” </a:t>
            </a:r>
            <a:r>
              <a:rPr lang="en-US" sz="2000" dirty="0">
                <a:cs typeface="Arial Narrow" panose="020B0604020202020204" pitchFamily="34" charset="0"/>
              </a:rPr>
              <a:t>and press </a:t>
            </a:r>
            <a:r>
              <a:rPr lang="en-US" sz="2000" i="1" dirty="0">
                <a:cs typeface="Arial Narrow" panose="020B0604020202020204" pitchFamily="34" charset="0"/>
              </a:rPr>
              <a:t>Enter</a:t>
            </a:r>
          </a:p>
          <a:p>
            <a:pPr defTabSz="720000"/>
            <a:endParaRPr lang="en-US" sz="800" i="1" dirty="0">
              <a:cs typeface="Arial Narrow" panose="020B0604020202020204" pitchFamily="34" charset="0"/>
            </a:endParaRPr>
          </a:p>
          <a:p>
            <a:pPr defTabSz="720000"/>
            <a:r>
              <a:rPr lang="en-US" sz="2000" dirty="0">
                <a:cs typeface="Arial Narrow" panose="020B0604020202020204" pitchFamily="34" charset="0"/>
              </a:rPr>
              <a:t>We are now inside the container. From now on, when opening VS Code,</a:t>
            </a:r>
          </a:p>
          <a:p>
            <a:pPr defTabSz="720000"/>
            <a:r>
              <a:rPr lang="en-US" sz="2000" dirty="0">
                <a:cs typeface="Arial Narrow" panose="020B0604020202020204" pitchFamily="34" charset="0"/>
              </a:rPr>
              <a:t>the project will automatically open inside the Docker Container.</a:t>
            </a:r>
          </a:p>
        </p:txBody>
      </p:sp>
    </p:spTree>
    <p:extLst>
      <p:ext uri="{BB962C8B-B14F-4D97-AF65-F5344CB8AC3E}">
        <p14:creationId xmlns:p14="http://schemas.microsoft.com/office/powerpoint/2010/main" val="850944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EABBD-4184-5E16-48E7-3DB43141C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2C61C8-CDA2-EAE1-B70A-D389F15A7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Started: </a:t>
            </a:r>
            <a:r>
              <a:rPr lang="en-US" i="1" dirty="0" err="1"/>
              <a:t>Helloworld</a:t>
            </a:r>
            <a:endParaRPr lang="en-US" i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807D9-E410-2B6D-7969-D411A49294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B2B310-0E72-D5FF-5B54-E864009E0813}"/>
              </a:ext>
            </a:extLst>
          </p:cNvPr>
          <p:cNvSpPr txBox="1"/>
          <p:nvPr/>
        </p:nvSpPr>
        <p:spPr>
          <a:xfrm>
            <a:off x="249827" y="1047749"/>
            <a:ext cx="5779497" cy="307657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2400" b="0" i="0" dirty="0">
                <a:latin typeface="+mn-lt"/>
                <a:cs typeface="Arial Narrow" panose="020B0604020202020204" pitchFamily="34" charset="0"/>
              </a:rPr>
              <a:t>From now on, we need to work through</a:t>
            </a:r>
          </a:p>
          <a:p>
            <a:pPr algn="l" defTabSz="720000"/>
            <a:r>
              <a:rPr lang="en-US" sz="2400" b="0" i="0" dirty="0">
                <a:latin typeface="+mn-lt"/>
                <a:cs typeface="Arial Narrow" panose="020B0604020202020204" pitchFamily="34" charset="0"/>
              </a:rPr>
              <a:t>VS Code, since now it’s the Docker container’s</a:t>
            </a:r>
          </a:p>
          <a:p>
            <a:pPr algn="l" defTabSz="720000"/>
            <a:r>
              <a:rPr lang="en-US" sz="2400" b="0" i="0" dirty="0">
                <a:latin typeface="+mn-lt"/>
                <a:cs typeface="Arial Narrow" panose="020B0604020202020204" pitchFamily="34" charset="0"/>
              </a:rPr>
              <a:t>access point. Now, we need to open a terminal</a:t>
            </a:r>
          </a:p>
          <a:p>
            <a:pPr algn="l" defTabSz="720000"/>
            <a:r>
              <a:rPr lang="en-US" sz="2400" b="0" i="0" dirty="0">
                <a:latin typeface="+mn-lt"/>
                <a:cs typeface="Arial Narrow" panose="020B0604020202020204" pitchFamily="34" charset="0"/>
              </a:rPr>
              <a:t>inside the container, also through VS Code.</a:t>
            </a:r>
          </a:p>
          <a:p>
            <a:pPr algn="l" defTabSz="720000"/>
            <a:endParaRPr lang="en-US" sz="800" b="0" i="0" dirty="0">
              <a:latin typeface="+mn-lt"/>
              <a:cs typeface="Arial Narrow" panose="020B0604020202020204" pitchFamily="34" charset="0"/>
            </a:endParaRPr>
          </a:p>
          <a:p>
            <a:pPr algn="l" defTabSz="720000"/>
            <a:r>
              <a:rPr lang="en-US" sz="2400" b="0" i="0" dirty="0">
                <a:latin typeface="+mn-lt"/>
                <a:cs typeface="Arial Narrow" panose="020B0604020202020204" pitchFamily="34" charset="0"/>
              </a:rPr>
              <a:t>Access it like in the image on the right,</a:t>
            </a:r>
          </a:p>
          <a:p>
            <a:pPr algn="l" defTabSz="720000"/>
            <a:r>
              <a:rPr lang="en-US" sz="2400" b="0" i="0" dirty="0">
                <a:latin typeface="+mn-lt"/>
                <a:cs typeface="Arial Narrow" panose="020B0604020202020204" pitchFamily="34" charset="0"/>
              </a:rPr>
              <a:t>through the top-left task bar.</a:t>
            </a:r>
          </a:p>
          <a:p>
            <a:pPr algn="l" defTabSz="720000"/>
            <a:r>
              <a:rPr lang="en-US" sz="2400" dirty="0">
                <a:cs typeface="Arial Narrow" panose="020B0604020202020204" pitchFamily="34" charset="0"/>
              </a:rPr>
              <a:t>The terminal will open in the bottom part of</a:t>
            </a:r>
          </a:p>
          <a:p>
            <a:pPr algn="l" defTabSz="720000"/>
            <a:r>
              <a:rPr lang="en-US" sz="2400" b="0" i="0" dirty="0">
                <a:latin typeface="+mn-lt"/>
                <a:cs typeface="Arial Narrow" panose="020B0604020202020204" pitchFamily="34" charset="0"/>
              </a:rPr>
              <a:t>the window.</a:t>
            </a:r>
          </a:p>
          <a:p>
            <a:pPr algn="l" defTabSz="720000"/>
            <a:endParaRPr lang="en-US" sz="2400" dirty="0">
              <a:cs typeface="Arial Narrow" panose="020B0604020202020204" pitchFamily="34" charset="0"/>
            </a:endParaRPr>
          </a:p>
          <a:p>
            <a:pPr algn="l" defTabSz="720000"/>
            <a:r>
              <a:rPr lang="en-US" sz="2400" b="0" i="0" dirty="0">
                <a:latin typeface="+mn-lt"/>
                <a:cs typeface="Arial Narrow" panose="020B0604020202020204" pitchFamily="34" charset="0"/>
              </a:rPr>
              <a:t>Now we are ready to run the “Hello , world” example. Use the commands below: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6A98CE-FD1F-5F3B-9A58-BC5BA560C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678" y="1123795"/>
            <a:ext cx="5693114" cy="292448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308B966-81F0-37B0-F3AF-1128AB53E886}"/>
              </a:ext>
            </a:extLst>
          </p:cNvPr>
          <p:cNvSpPr/>
          <p:nvPr/>
        </p:nvSpPr>
        <p:spPr>
          <a:xfrm>
            <a:off x="249827" y="4948424"/>
            <a:ext cx="10170522" cy="646331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/>
                <a:ea typeface="Times New Roman" panose="02020603050405020304" pitchFamily="18" charset="0"/>
                <a:cs typeface="Times New Roman"/>
              </a:rPr>
              <a:t>$ cd pulp-</a:t>
            </a:r>
            <a:r>
              <a:rPr lang="en-US" dirty="0" err="1">
                <a:solidFill>
                  <a:srgbClr val="000000"/>
                </a:solidFill>
                <a:latin typeface="Courier New"/>
                <a:ea typeface="Times New Roman" panose="02020603050405020304" pitchFamily="18" charset="0"/>
                <a:cs typeface="Times New Roman"/>
              </a:rPr>
              <a:t>helloworld</a:t>
            </a:r>
            <a:endParaRPr lang="en-US" dirty="0">
              <a:solidFill>
                <a:srgbClr val="000000"/>
              </a:solidFill>
              <a:latin typeface="Courier New"/>
              <a:ea typeface="Times New Roman" panose="02020603050405020304" pitchFamily="18" charset="0"/>
              <a:cs typeface="Times New Roman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/>
                <a:ea typeface="Times New Roman" panose="02020603050405020304" pitchFamily="18" charset="0"/>
                <a:cs typeface="Times New Roman"/>
              </a:rPr>
              <a:t>$ make clean all run</a:t>
            </a:r>
            <a:endParaRPr lang="en-US" b="1" dirty="0">
              <a:solidFill>
                <a:srgbClr val="C00000"/>
              </a:solidFill>
              <a:latin typeface="Times New Roman"/>
              <a:ea typeface="Calibri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C58554-24BB-30E7-29A4-74BDE687AD58}"/>
              </a:ext>
            </a:extLst>
          </p:cNvPr>
          <p:cNvSpPr txBox="1"/>
          <p:nvPr/>
        </p:nvSpPr>
        <p:spPr>
          <a:xfrm>
            <a:off x="262004" y="5734205"/>
            <a:ext cx="11801347" cy="39052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720000"/>
            <a:r>
              <a:rPr lang="en-US" sz="2000" b="0" i="0" dirty="0">
                <a:latin typeface="+mn-lt"/>
                <a:cs typeface="Arial Narrow" panose="020B0604020202020204" pitchFamily="34" charset="0"/>
              </a:rPr>
              <a:t>If everything went well, you wil</a:t>
            </a:r>
            <a:r>
              <a:rPr lang="en-US" sz="2000" dirty="0">
                <a:cs typeface="Arial Narrow" panose="020B0604020202020204" pitchFamily="34" charset="0"/>
              </a:rPr>
              <a:t>l now see the “</a:t>
            </a:r>
            <a:r>
              <a:rPr lang="en-US" sz="2000" dirty="0" err="1">
                <a:cs typeface="Arial Narrow" panose="020B0604020202020204" pitchFamily="34" charset="0"/>
              </a:rPr>
              <a:t>Helloworld</a:t>
            </a:r>
            <a:r>
              <a:rPr lang="en-US" sz="2000" dirty="0">
                <a:cs typeface="Arial Narrow" panose="020B0604020202020204" pitchFamily="34" charset="0"/>
              </a:rPr>
              <a:t> from PULP!” message in the terminal.</a:t>
            </a:r>
            <a:endParaRPr lang="en-US" sz="2000" b="0" i="0" dirty="0">
              <a:latin typeface="+mn-lt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642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57E815-B186-4EC2-9BC8-50A4DBF11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Behind the scenes: Build Automation with </a:t>
            </a:r>
            <a:r>
              <a:rPr lang="en-US" dirty="0" err="1"/>
              <a:t>Makefiles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132191-FF6B-494B-B0B9-5D5223F5049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46800" rIns="0" bIns="45720" rtlCol="0" anchor="t">
            <a:noAutofit/>
          </a:bodyPr>
          <a:lstStyle/>
          <a:p>
            <a:pPr marL="304165" indent="-304165"/>
            <a:r>
              <a:rPr lang="en-GB" sz="1800" b="1" dirty="0">
                <a:ea typeface="Roboto Light"/>
                <a:cs typeface="Roboto Light"/>
              </a:rPr>
              <a:t>Build automation</a:t>
            </a:r>
            <a:r>
              <a:rPr lang="en-GB" sz="1800" dirty="0">
                <a:ea typeface="Roboto Light"/>
                <a:cs typeface="Roboto Light"/>
              </a:rPr>
              <a:t> is the process of automating the main steps required to create a software, including </a:t>
            </a:r>
            <a:r>
              <a:rPr lang="en-GB" sz="1800" i="1" dirty="0">
                <a:ea typeface="Roboto Light"/>
                <a:cs typeface="Roboto Light"/>
              </a:rPr>
              <a:t>compiling</a:t>
            </a:r>
            <a:r>
              <a:rPr lang="en-GB" sz="1800" dirty="0">
                <a:ea typeface="Roboto Light"/>
                <a:cs typeface="Roboto Light"/>
              </a:rPr>
              <a:t>, </a:t>
            </a:r>
            <a:r>
              <a:rPr lang="en-GB" sz="1800" i="1" dirty="0">
                <a:ea typeface="Roboto Light"/>
                <a:cs typeface="Roboto Light"/>
              </a:rPr>
              <a:t>assembling</a:t>
            </a:r>
            <a:r>
              <a:rPr lang="en-GB" sz="1800" dirty="0">
                <a:ea typeface="Roboto Light"/>
                <a:cs typeface="Roboto Light"/>
              </a:rPr>
              <a:t>, </a:t>
            </a:r>
            <a:r>
              <a:rPr lang="en-GB" sz="1800" i="1" dirty="0">
                <a:ea typeface="Roboto Light"/>
                <a:cs typeface="Roboto Light"/>
              </a:rPr>
              <a:t>linking</a:t>
            </a:r>
            <a:r>
              <a:rPr lang="en-GB" sz="1800" dirty="0">
                <a:ea typeface="Roboto Light"/>
                <a:cs typeface="Roboto Light"/>
              </a:rPr>
              <a:t> and </a:t>
            </a:r>
            <a:r>
              <a:rPr lang="en-GB" sz="1800" i="1" dirty="0">
                <a:ea typeface="Roboto Light"/>
                <a:cs typeface="Roboto Light"/>
              </a:rPr>
              <a:t>testing</a:t>
            </a:r>
            <a:endParaRPr lang="en-US">
              <a:ea typeface="Roboto Light"/>
              <a:cs typeface="Roboto Light"/>
            </a:endParaRPr>
          </a:p>
          <a:p>
            <a:r>
              <a:rPr lang="en-GB" sz="1800" b="1" dirty="0"/>
              <a:t>Make</a:t>
            </a:r>
            <a:r>
              <a:rPr lang="en-GB" sz="1800" dirty="0"/>
              <a:t> is one of the most widespread utilities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800" dirty="0">
                <a:sym typeface="Wingdings" panose="05000000000000000000" pitchFamily="2" charset="2"/>
              </a:rPr>
              <a:t>configuration files are called </a:t>
            </a:r>
            <a:r>
              <a:rPr lang="en-GB" sz="1800" b="1" dirty="0" err="1">
                <a:sym typeface="Wingdings" panose="05000000000000000000" pitchFamily="2" charset="2"/>
              </a:rPr>
              <a:t>Makefiles</a:t>
            </a:r>
            <a:endParaRPr lang="en-GB" sz="1800" b="1" dirty="0">
              <a:sym typeface="Wingdings" panose="05000000000000000000" pitchFamily="2" charset="2"/>
            </a:endParaRPr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pPr marL="304165" indent="-304165"/>
            <a:r>
              <a:rPr lang="en-GB" sz="1800" dirty="0">
                <a:ea typeface="Roboto Light"/>
                <a:cs typeface="Roboto Light"/>
              </a:rPr>
              <a:t>A </a:t>
            </a:r>
            <a:r>
              <a:rPr lang="en-GB" sz="1800" i="1" dirty="0" err="1">
                <a:ea typeface="Roboto Light"/>
                <a:cs typeface="Roboto Light"/>
              </a:rPr>
              <a:t>Makefile</a:t>
            </a:r>
            <a:r>
              <a:rPr lang="en-GB" sz="1800" dirty="0">
                <a:ea typeface="Roboto Light"/>
                <a:cs typeface="Roboto Light"/>
              </a:rPr>
              <a:t> contains rules in the form:</a:t>
            </a:r>
            <a:br>
              <a:rPr lang="en-GB" sz="1800" dirty="0"/>
            </a:br>
            <a:r>
              <a:rPr lang="en-GB" sz="1800" dirty="0">
                <a:latin typeface="Consolas"/>
                <a:ea typeface="Roboto Light"/>
                <a:cs typeface="Roboto Light"/>
              </a:rPr>
              <a:t>target: prerequisites</a:t>
            </a:r>
            <a:br>
              <a:rPr lang="en-GB" sz="1800" dirty="0">
                <a:latin typeface="Consolas" panose="020B0609020204030204" pitchFamily="49" charset="0"/>
              </a:rPr>
            </a:br>
            <a:r>
              <a:rPr lang="en-GB" sz="1800" dirty="0">
                <a:latin typeface="Consolas"/>
                <a:ea typeface="Roboto Light"/>
                <a:cs typeface="Roboto Light"/>
              </a:rPr>
              <a:t>&lt;TAB&gt; command</a:t>
            </a:r>
            <a:endParaRPr lang="en-GB" sz="1800" b="1" dirty="0">
              <a:latin typeface="Consolas"/>
              <a:ea typeface="Roboto Light"/>
              <a:cs typeface="Roboto Ligh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A9DA4-B010-45FD-8727-071BA67C7E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3EB149-6714-46C7-8956-CD450BCA7203}"/>
              </a:ext>
            </a:extLst>
          </p:cNvPr>
          <p:cNvSpPr/>
          <p:nvPr/>
        </p:nvSpPr>
        <p:spPr>
          <a:xfrm>
            <a:off x="2348423" y="3846191"/>
            <a:ext cx="421246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make clean all run</a:t>
            </a:r>
            <a:endParaRPr lang="en-US" b="1">
              <a:solidFill>
                <a:srgbClr val="C0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645FEB9-4FBF-4E3B-B813-AB94DBA2076B}"/>
              </a:ext>
            </a:extLst>
          </p:cNvPr>
          <p:cNvCxnSpPr>
            <a:cxnSpLocks/>
          </p:cNvCxnSpPr>
          <p:nvPr/>
        </p:nvCxnSpPr>
        <p:spPr>
          <a:xfrm>
            <a:off x="2107100" y="3238546"/>
            <a:ext cx="1532212" cy="723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BCFB30-953B-4246-A31B-810CCC91612B}"/>
              </a:ext>
            </a:extLst>
          </p:cNvPr>
          <p:cNvCxnSpPr>
            <a:cxnSpLocks/>
          </p:cNvCxnSpPr>
          <p:nvPr/>
        </p:nvCxnSpPr>
        <p:spPr>
          <a:xfrm flipH="1">
            <a:off x="4451853" y="3261057"/>
            <a:ext cx="252028" cy="628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3F0D92B-5B99-4693-A6E2-860CCB6C7611}"/>
              </a:ext>
            </a:extLst>
          </p:cNvPr>
          <p:cNvSpPr txBox="1">
            <a:spLocks/>
          </p:cNvSpPr>
          <p:nvPr/>
        </p:nvSpPr>
        <p:spPr>
          <a:xfrm>
            <a:off x="335360" y="2829706"/>
            <a:ext cx="2952327" cy="6283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Clean</a:t>
            </a:r>
            <a:r>
              <a:rPr lang="en-US" dirty="0"/>
              <a:t> previous build processes </a:t>
            </a:r>
            <a:br>
              <a:rPr lang="en-US" dirty="0"/>
            </a:br>
            <a:r>
              <a:rPr lang="en-US" dirty="0"/>
              <a:t>( folder </a:t>
            </a:r>
            <a:r>
              <a:rPr lang="en-US" i="1" dirty="0"/>
              <a:t>BUILD/ </a:t>
            </a:r>
            <a:r>
              <a:rPr lang="en-US" dirty="0"/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530AA9-088C-4AFC-B7D0-A68F51F4A630}"/>
              </a:ext>
            </a:extLst>
          </p:cNvPr>
          <p:cNvSpPr txBox="1"/>
          <p:nvPr/>
        </p:nvSpPr>
        <p:spPr>
          <a:xfrm>
            <a:off x="3731741" y="2553918"/>
            <a:ext cx="2952327" cy="64271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indent="0">
              <a:spcBef>
                <a:spcPct val="20000"/>
              </a:spcBef>
              <a:buFont typeface="Arial" panose="020B0604020202020204" pitchFamily="34" charset="0"/>
              <a:buNone/>
              <a:defRPr sz="2000" baseline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b="1" dirty="0"/>
              <a:t>Compile</a:t>
            </a:r>
            <a:r>
              <a:rPr lang="en-US" dirty="0"/>
              <a:t> the program and produce the </a:t>
            </a:r>
            <a:r>
              <a:rPr lang="en-US" b="1" i="1" dirty="0"/>
              <a:t>binary code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B6F7F8-CF97-435E-8776-FBE8E5EC4BA9}"/>
              </a:ext>
            </a:extLst>
          </p:cNvPr>
          <p:cNvSpPr txBox="1"/>
          <p:nvPr/>
        </p:nvSpPr>
        <p:spPr>
          <a:xfrm>
            <a:off x="6914377" y="2692156"/>
            <a:ext cx="2952327" cy="64271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indent="0">
              <a:spcBef>
                <a:spcPct val="20000"/>
              </a:spcBef>
              <a:buFont typeface="Arial" panose="020B0604020202020204" pitchFamily="34" charset="0"/>
              <a:buNone/>
              <a:defRPr sz="2000" baseline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dirty="0"/>
              <a:t>Run the </a:t>
            </a:r>
            <a:r>
              <a:rPr lang="en-US" b="1" i="1" dirty="0"/>
              <a:t>binary code </a:t>
            </a:r>
            <a:r>
              <a:rPr lang="en-US" i="1" dirty="0"/>
              <a:t>on the target platform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8EF1B12-7D8A-4B6B-93EA-41467F14413E}"/>
              </a:ext>
            </a:extLst>
          </p:cNvPr>
          <p:cNvCxnSpPr>
            <a:cxnSpLocks/>
          </p:cNvCxnSpPr>
          <p:nvPr/>
        </p:nvCxnSpPr>
        <p:spPr>
          <a:xfrm flipH="1">
            <a:off x="5168747" y="3196635"/>
            <a:ext cx="1756644" cy="773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40D7731-5059-460D-A80E-DEB7B19541A9}"/>
              </a:ext>
            </a:extLst>
          </p:cNvPr>
          <p:cNvSpPr/>
          <p:nvPr/>
        </p:nvSpPr>
        <p:spPr>
          <a:xfrm>
            <a:off x="7433479" y="3596418"/>
            <a:ext cx="4368156" cy="21468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D3DBDE-EC94-4659-BDA5-F3DF3AB5D9DA}"/>
              </a:ext>
            </a:extLst>
          </p:cNvPr>
          <p:cNvSpPr/>
          <p:nvPr/>
        </p:nvSpPr>
        <p:spPr>
          <a:xfrm>
            <a:off x="7541492" y="3716044"/>
            <a:ext cx="411612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 = test</a:t>
            </a:r>
          </a:p>
          <a:p>
            <a:endParaRPr lang="en-US" sz="140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This is a comment</a:t>
            </a:r>
          </a:p>
          <a:p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APP_SRCS	   += </a:t>
            </a:r>
            <a:r>
              <a:rPr lang="en-US" sz="140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test.c</a:t>
            </a:r>
            <a:endParaRPr lang="en-US" sz="140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APP_CFLAGS  += -O3 -g</a:t>
            </a:r>
          </a:p>
          <a:p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APP_LDFLAGS += </a:t>
            </a:r>
          </a:p>
          <a:p>
            <a:endParaRPr lang="en-US" sz="140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include $(RULES_DIR)/pmsis_rules.mk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DBD1AB-5615-4FCA-B3E0-70959F3597C7}"/>
              </a:ext>
            </a:extLst>
          </p:cNvPr>
          <p:cNvSpPr txBox="1"/>
          <p:nvPr/>
        </p:nvSpPr>
        <p:spPr>
          <a:xfrm>
            <a:off x="10200456" y="3234491"/>
            <a:ext cx="1656184" cy="381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err="1"/>
              <a:t>Makefile</a:t>
            </a:r>
            <a:endParaRPr lang="en-US" i="1"/>
          </a:p>
        </p:txBody>
      </p:sp>
    </p:spTree>
    <p:extLst>
      <p:ext uri="{BB962C8B-B14F-4D97-AF65-F5344CB8AC3E}">
        <p14:creationId xmlns:p14="http://schemas.microsoft.com/office/powerpoint/2010/main" val="3102154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2F15B4-2035-4A74-AD37-7CCCC2147BB1}"/>
              </a:ext>
            </a:extLst>
          </p:cNvPr>
          <p:cNvSpPr/>
          <p:nvPr/>
        </p:nvSpPr>
        <p:spPr>
          <a:xfrm>
            <a:off x="407368" y="4598682"/>
            <a:ext cx="6460467" cy="10625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E8DEC5-C307-4CA5-B228-93F90D8DB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/>
              <a:t>Compilation toolchain</a:t>
            </a:r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74FB68-3DD1-41EC-AE2A-BEE2F50DEA7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CA6A4-0DB3-47B6-9231-9F9379463ACA}"/>
              </a:ext>
            </a:extLst>
          </p:cNvPr>
          <p:cNvSpPr txBox="1">
            <a:spLocks/>
          </p:cNvSpPr>
          <p:nvPr/>
        </p:nvSpPr>
        <p:spPr>
          <a:xfrm>
            <a:off x="527051" y="908720"/>
            <a:ext cx="11401597" cy="225471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/>
              <a:t>A </a:t>
            </a:r>
            <a:r>
              <a:rPr lang="en-GB" sz="2000" u="sng" dirty="0"/>
              <a:t>compilation toolchain </a:t>
            </a:r>
            <a:r>
              <a:rPr lang="en-GB" sz="2000" dirty="0"/>
              <a:t>includes several tools to achieve its final goal</a:t>
            </a:r>
          </a:p>
          <a:p>
            <a:r>
              <a:rPr lang="en-GB" sz="2000" dirty="0"/>
              <a:t>The</a:t>
            </a:r>
            <a:r>
              <a:rPr lang="en-GB" sz="2000" b="1" dirty="0"/>
              <a:t> COMPILER </a:t>
            </a:r>
            <a:r>
              <a:rPr lang="en-GB" sz="2000" dirty="0">
                <a:sym typeface="Wingdings" panose="05000000000000000000" pitchFamily="2" charset="2"/>
              </a:rPr>
              <a:t>translates high-level source code (e.g., C) to a lower-level representation (e.g., assembly)</a:t>
            </a:r>
          </a:p>
          <a:p>
            <a:r>
              <a:rPr lang="en-GB" sz="2000" dirty="0">
                <a:sym typeface="Wingdings" panose="05000000000000000000" pitchFamily="2" charset="2"/>
              </a:rPr>
              <a:t>The</a:t>
            </a:r>
            <a:r>
              <a:rPr lang="en-GB" sz="2000" b="1" dirty="0">
                <a:sym typeface="Wingdings" panose="05000000000000000000" pitchFamily="2" charset="2"/>
              </a:rPr>
              <a:t> ASSEMBLER </a:t>
            </a:r>
            <a:r>
              <a:rPr lang="en-GB" sz="2000" dirty="0">
                <a:sym typeface="Wingdings" panose="05000000000000000000" pitchFamily="2" charset="2"/>
              </a:rPr>
              <a:t>is a program that translates assembly language to machine language </a:t>
            </a:r>
            <a:endParaRPr lang="it-IT" sz="2000" dirty="0"/>
          </a:p>
          <a:p>
            <a:r>
              <a:rPr lang="it-IT" sz="2000" dirty="0"/>
              <a:t>The</a:t>
            </a:r>
            <a:r>
              <a:rPr lang="it-IT" sz="2000" b="1" dirty="0"/>
              <a:t> LINKER</a:t>
            </a:r>
            <a:r>
              <a:rPr lang="en-GB" sz="2000" dirty="0">
                <a:sym typeface="Wingdings" panose="05000000000000000000" pitchFamily="2" charset="2"/>
              </a:rPr>
              <a:t> combines multiple object files into a single executable</a:t>
            </a:r>
            <a:r>
              <a:rPr lang="it-IT" sz="2000" dirty="0"/>
              <a:t> </a:t>
            </a:r>
            <a:endParaRPr lang="en-GB" sz="2000" dirty="0"/>
          </a:p>
          <a:p>
            <a:pPr marL="0" indent="0">
              <a:buNone/>
            </a:pPr>
            <a:endParaRPr lang="en-GB" sz="2000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EFD592-E3CC-468F-B370-C8284C8906F6}"/>
              </a:ext>
            </a:extLst>
          </p:cNvPr>
          <p:cNvSpPr/>
          <p:nvPr/>
        </p:nvSpPr>
        <p:spPr>
          <a:xfrm>
            <a:off x="1132131" y="2795058"/>
            <a:ext cx="792088" cy="5163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/>
              <a:t>file1.c</a:t>
            </a:r>
            <a:endParaRPr lang="it-IT" sz="16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961778-4F53-4DD8-A89F-3117D7181CFE}"/>
              </a:ext>
            </a:extLst>
          </p:cNvPr>
          <p:cNvSpPr/>
          <p:nvPr/>
        </p:nvSpPr>
        <p:spPr>
          <a:xfrm>
            <a:off x="1133502" y="3521012"/>
            <a:ext cx="792088" cy="5163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/>
              <a:t>file2.c</a:t>
            </a:r>
            <a:endParaRPr lang="it-IT" sz="16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F051C0-15E8-465B-8F57-0BEA62D99017}"/>
              </a:ext>
            </a:extLst>
          </p:cNvPr>
          <p:cNvSpPr/>
          <p:nvPr/>
        </p:nvSpPr>
        <p:spPr>
          <a:xfrm>
            <a:off x="4278052" y="2795058"/>
            <a:ext cx="792088" cy="51635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</a:rPr>
              <a:t>file1.s</a:t>
            </a:r>
            <a:endParaRPr lang="it-IT" sz="16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D3A46D-88C9-41A2-BA06-0F200BC7A14B}"/>
              </a:ext>
            </a:extLst>
          </p:cNvPr>
          <p:cNvSpPr/>
          <p:nvPr/>
        </p:nvSpPr>
        <p:spPr>
          <a:xfrm>
            <a:off x="4286684" y="3527438"/>
            <a:ext cx="792088" cy="51635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</a:rPr>
              <a:t>file2.s</a:t>
            </a:r>
            <a:endParaRPr lang="it-IT" sz="16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4EBEC7-7C75-4DD4-A114-720E80960DD4}"/>
              </a:ext>
            </a:extLst>
          </p:cNvPr>
          <p:cNvSpPr/>
          <p:nvPr/>
        </p:nvSpPr>
        <p:spPr>
          <a:xfrm>
            <a:off x="5625835" y="2795058"/>
            <a:ext cx="1242000" cy="12420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b="1"/>
              <a:t>Assembler</a:t>
            </a:r>
            <a:endParaRPr lang="it-IT" b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C7D0BC-6BEF-4B6E-89BA-0D07A6038069}"/>
              </a:ext>
            </a:extLst>
          </p:cNvPr>
          <p:cNvSpPr/>
          <p:nvPr/>
        </p:nvSpPr>
        <p:spPr>
          <a:xfrm>
            <a:off x="7424568" y="2797973"/>
            <a:ext cx="792088" cy="516355"/>
          </a:xfrm>
          <a:prstGeom prst="rect">
            <a:avLst/>
          </a:prstGeom>
          <a:solidFill>
            <a:srgbClr val="008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</a:rPr>
              <a:t>file1.o</a:t>
            </a:r>
            <a:endParaRPr lang="it-IT" sz="16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122104-EC90-470E-B8DB-6602F855E991}"/>
              </a:ext>
            </a:extLst>
          </p:cNvPr>
          <p:cNvSpPr/>
          <p:nvPr/>
        </p:nvSpPr>
        <p:spPr>
          <a:xfrm>
            <a:off x="7434522" y="3518053"/>
            <a:ext cx="792088" cy="516355"/>
          </a:xfrm>
          <a:prstGeom prst="rect">
            <a:avLst/>
          </a:prstGeom>
          <a:solidFill>
            <a:srgbClr val="008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</a:rPr>
              <a:t>file2.o</a:t>
            </a:r>
            <a:endParaRPr lang="it-IT" sz="160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D4BEC5-07C3-491C-8ECB-BD228BAEFFD0}"/>
              </a:ext>
            </a:extLst>
          </p:cNvPr>
          <p:cNvSpPr/>
          <p:nvPr/>
        </p:nvSpPr>
        <p:spPr>
          <a:xfrm>
            <a:off x="7412926" y="4673140"/>
            <a:ext cx="792088" cy="51635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err="1">
                <a:solidFill>
                  <a:schemeClr val="bg1"/>
                </a:solidFill>
              </a:rPr>
              <a:t>libxyz.a</a:t>
            </a:r>
            <a:endParaRPr lang="it-IT" sz="16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B8D0A4-F5DB-4732-94A7-4BC6D7540C1E}"/>
              </a:ext>
            </a:extLst>
          </p:cNvPr>
          <p:cNvSpPr/>
          <p:nvPr/>
        </p:nvSpPr>
        <p:spPr>
          <a:xfrm>
            <a:off x="2477900" y="2795058"/>
            <a:ext cx="1242000" cy="12420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b="1"/>
              <a:t>Compiler</a:t>
            </a:r>
            <a:endParaRPr lang="it-IT" b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CAE585-3EA9-40D8-AD06-CAF2E1D7EF88}"/>
              </a:ext>
            </a:extLst>
          </p:cNvPr>
          <p:cNvSpPr/>
          <p:nvPr/>
        </p:nvSpPr>
        <p:spPr>
          <a:xfrm>
            <a:off x="8764979" y="2788632"/>
            <a:ext cx="1242000" cy="12420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b="1"/>
              <a:t>Linker</a:t>
            </a:r>
            <a:endParaRPr lang="it-IT" b="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C4E93A-3E79-4103-AEC8-8CE345341D00}"/>
              </a:ext>
            </a:extLst>
          </p:cNvPr>
          <p:cNvSpPr/>
          <p:nvPr/>
        </p:nvSpPr>
        <p:spPr>
          <a:xfrm>
            <a:off x="10565179" y="3157880"/>
            <a:ext cx="1131481" cy="516355"/>
          </a:xfrm>
          <a:prstGeom prst="rect">
            <a:avLst/>
          </a:prstGeom>
          <a:solidFill>
            <a:srgbClr val="294B2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/>
              <a:t>executable</a:t>
            </a:r>
          </a:p>
          <a:p>
            <a:pPr algn="ctr"/>
            <a:r>
              <a:rPr lang="en-GB" sz="1600"/>
              <a:t>program</a:t>
            </a:r>
            <a:endParaRPr lang="it-IT" sz="160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3F685FF-328A-49F7-9059-CAD4505054E0}"/>
              </a:ext>
            </a:extLst>
          </p:cNvPr>
          <p:cNvCxnSpPr>
            <a:cxnSpLocks/>
          </p:cNvCxnSpPr>
          <p:nvPr/>
        </p:nvCxnSpPr>
        <p:spPr>
          <a:xfrm>
            <a:off x="1931177" y="3067596"/>
            <a:ext cx="540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4185CF1-0FFC-4D43-9591-169382D1DF4E}"/>
              </a:ext>
            </a:extLst>
          </p:cNvPr>
          <p:cNvCxnSpPr>
            <a:stCxn id="17" idx="3"/>
          </p:cNvCxnSpPr>
          <p:nvPr/>
        </p:nvCxnSpPr>
        <p:spPr>
          <a:xfrm flipV="1">
            <a:off x="1925590" y="3779189"/>
            <a:ext cx="540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B201B99-1670-4481-82F2-55CB93CB0E9D}"/>
              </a:ext>
            </a:extLst>
          </p:cNvPr>
          <p:cNvCxnSpPr/>
          <p:nvPr/>
        </p:nvCxnSpPr>
        <p:spPr>
          <a:xfrm flipV="1">
            <a:off x="3733803" y="3017761"/>
            <a:ext cx="540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0F1D04-1345-46C3-92FC-6AD3C41F0E92}"/>
              </a:ext>
            </a:extLst>
          </p:cNvPr>
          <p:cNvCxnSpPr/>
          <p:nvPr/>
        </p:nvCxnSpPr>
        <p:spPr>
          <a:xfrm flipV="1">
            <a:off x="3732689" y="3737841"/>
            <a:ext cx="540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5CDE99C-F5A7-4BD2-A2AE-DF96EBA0C656}"/>
              </a:ext>
            </a:extLst>
          </p:cNvPr>
          <p:cNvCxnSpPr/>
          <p:nvPr/>
        </p:nvCxnSpPr>
        <p:spPr>
          <a:xfrm flipV="1">
            <a:off x="5078775" y="3053234"/>
            <a:ext cx="540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5285E11-E31A-4CB5-8442-7546071A5037}"/>
              </a:ext>
            </a:extLst>
          </p:cNvPr>
          <p:cNvCxnSpPr/>
          <p:nvPr/>
        </p:nvCxnSpPr>
        <p:spPr>
          <a:xfrm flipV="1">
            <a:off x="5076345" y="3776849"/>
            <a:ext cx="540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3CDD056-D7A1-433F-8F85-1CAC7F4C4866}"/>
              </a:ext>
            </a:extLst>
          </p:cNvPr>
          <p:cNvCxnSpPr/>
          <p:nvPr/>
        </p:nvCxnSpPr>
        <p:spPr>
          <a:xfrm flipV="1">
            <a:off x="6877361" y="3043937"/>
            <a:ext cx="540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FABC68-388B-4C12-B4FE-41FCD7AA8753}"/>
              </a:ext>
            </a:extLst>
          </p:cNvPr>
          <p:cNvCxnSpPr/>
          <p:nvPr/>
        </p:nvCxnSpPr>
        <p:spPr>
          <a:xfrm flipV="1">
            <a:off x="6875595" y="3771229"/>
            <a:ext cx="540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2B50C04-6E02-4216-930F-BEA82EF75BE2}"/>
              </a:ext>
            </a:extLst>
          </p:cNvPr>
          <p:cNvCxnSpPr>
            <a:cxnSpLocks/>
          </p:cNvCxnSpPr>
          <p:nvPr/>
        </p:nvCxnSpPr>
        <p:spPr>
          <a:xfrm>
            <a:off x="8231371" y="3037971"/>
            <a:ext cx="517641" cy="59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2E91BBA8-49D4-4FE4-B618-542C6B1584E1}"/>
              </a:ext>
            </a:extLst>
          </p:cNvPr>
          <p:cNvCxnSpPr>
            <a:cxnSpLocks/>
            <a:stCxn id="23" idx="3"/>
            <a:endCxn id="26" idx="2"/>
          </p:cNvCxnSpPr>
          <p:nvPr/>
        </p:nvCxnSpPr>
        <p:spPr>
          <a:xfrm flipV="1">
            <a:off x="8205014" y="4030632"/>
            <a:ext cx="1180965" cy="9006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121CCE8-2F71-495C-A023-A817A68D101E}"/>
              </a:ext>
            </a:extLst>
          </p:cNvPr>
          <p:cNvCxnSpPr>
            <a:cxnSpLocks/>
          </p:cNvCxnSpPr>
          <p:nvPr/>
        </p:nvCxnSpPr>
        <p:spPr>
          <a:xfrm flipV="1">
            <a:off x="10015302" y="3408663"/>
            <a:ext cx="540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95014763-272D-469B-9914-27F1ED53B2FA}"/>
              </a:ext>
            </a:extLst>
          </p:cNvPr>
          <p:cNvSpPr/>
          <p:nvPr/>
        </p:nvSpPr>
        <p:spPr>
          <a:xfrm>
            <a:off x="1135610" y="2795058"/>
            <a:ext cx="792088" cy="516355"/>
          </a:xfrm>
          <a:prstGeom prst="rect">
            <a:avLst/>
          </a:prstGeom>
          <a:solidFill>
            <a:srgbClr val="AAF96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</a:rPr>
              <a:t>file1.c</a:t>
            </a:r>
            <a:endParaRPr lang="it-IT" sz="160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CB547AA-F707-4E20-9E2D-D2A13A6B89B5}"/>
              </a:ext>
            </a:extLst>
          </p:cNvPr>
          <p:cNvSpPr/>
          <p:nvPr/>
        </p:nvSpPr>
        <p:spPr>
          <a:xfrm>
            <a:off x="1136981" y="3521012"/>
            <a:ext cx="792088" cy="516355"/>
          </a:xfrm>
          <a:prstGeom prst="rect">
            <a:avLst/>
          </a:prstGeom>
          <a:solidFill>
            <a:srgbClr val="AAF96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</a:rPr>
              <a:t>file2.c</a:t>
            </a:r>
            <a:endParaRPr lang="it-IT" sz="1600">
              <a:solidFill>
                <a:schemeClr val="tx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BE9ECEB-3011-4B41-AE4C-D4E27FB333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323" y="3191732"/>
            <a:ext cx="505226" cy="67702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68426F5-F6C9-457E-ABF4-34E413948F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468" y="3305349"/>
            <a:ext cx="508868" cy="60549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C1A0FEE-0C8C-4E75-B0D4-52729A5B78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6548" y="3207887"/>
            <a:ext cx="508868" cy="6821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3BFDA41-C4BE-4D01-BC79-1F035B155B54}"/>
              </a:ext>
            </a:extLst>
          </p:cNvPr>
          <p:cNvSpPr/>
          <p:nvPr/>
        </p:nvSpPr>
        <p:spPr>
          <a:xfrm>
            <a:off x="1024119" y="2644616"/>
            <a:ext cx="1008112" cy="1656183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000" b="1">
                <a:solidFill>
                  <a:srgbClr val="FF0000"/>
                </a:solidFill>
              </a:rPr>
              <a:t>Source code</a:t>
            </a:r>
            <a:endParaRPr lang="it-IT" sz="1000" b="1">
              <a:solidFill>
                <a:srgbClr val="FF0000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A791837-E8E4-4F68-BBE6-F6E76333E929}"/>
              </a:ext>
            </a:extLst>
          </p:cNvPr>
          <p:cNvCxnSpPr>
            <a:cxnSpLocks/>
          </p:cNvCxnSpPr>
          <p:nvPr/>
        </p:nvCxnSpPr>
        <p:spPr>
          <a:xfrm flipV="1">
            <a:off x="8232623" y="3779189"/>
            <a:ext cx="516389" cy="64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38DB53A-B2EE-4D6C-B269-3B4432709C14}"/>
              </a:ext>
            </a:extLst>
          </p:cNvPr>
          <p:cNvSpPr/>
          <p:nvPr/>
        </p:nvSpPr>
        <p:spPr>
          <a:xfrm>
            <a:off x="4164416" y="2668779"/>
            <a:ext cx="1008112" cy="1632016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000" b="1">
                <a:solidFill>
                  <a:srgbClr val="FF0000"/>
                </a:solidFill>
              </a:rPr>
              <a:t>Assembly</a:t>
            </a:r>
            <a:endParaRPr lang="it-IT" sz="1000" b="1">
              <a:solidFill>
                <a:srgbClr val="FF0000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176385C-B57C-4338-B901-DB7976A3E74E}"/>
              </a:ext>
            </a:extLst>
          </p:cNvPr>
          <p:cNvSpPr/>
          <p:nvPr/>
        </p:nvSpPr>
        <p:spPr>
          <a:xfrm>
            <a:off x="7244548" y="2644616"/>
            <a:ext cx="1080120" cy="1649751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000" b="1">
                <a:solidFill>
                  <a:srgbClr val="FF0000"/>
                </a:solidFill>
              </a:rPr>
              <a:t>Object files</a:t>
            </a:r>
            <a:endParaRPr lang="it-IT" sz="1000" b="1">
              <a:solidFill>
                <a:srgbClr val="FF0000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EC9358B-C477-4E48-A915-9C43E2CF81FF}"/>
              </a:ext>
            </a:extLst>
          </p:cNvPr>
          <p:cNvSpPr/>
          <p:nvPr/>
        </p:nvSpPr>
        <p:spPr>
          <a:xfrm>
            <a:off x="7252811" y="4509120"/>
            <a:ext cx="1080120" cy="1649751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000" b="1">
                <a:solidFill>
                  <a:srgbClr val="FF0000"/>
                </a:solidFill>
              </a:rPr>
              <a:t>User libraries</a:t>
            </a:r>
          </a:p>
          <a:p>
            <a:pPr algn="ctr"/>
            <a:r>
              <a:rPr lang="en-GB" sz="1000" b="1">
                <a:solidFill>
                  <a:srgbClr val="FF0000"/>
                </a:solidFill>
              </a:rPr>
              <a:t>+</a:t>
            </a:r>
          </a:p>
          <a:p>
            <a:pPr algn="ctr"/>
            <a:r>
              <a:rPr lang="en-GB" sz="1000" b="1">
                <a:solidFill>
                  <a:srgbClr val="FF0000"/>
                </a:solidFill>
              </a:rPr>
              <a:t>System libraries</a:t>
            </a:r>
            <a:endParaRPr lang="it-IT" sz="1000" b="1">
              <a:solidFill>
                <a:srgbClr val="FF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F822F6A-5174-41AE-A372-E14E290A1669}"/>
              </a:ext>
            </a:extLst>
          </p:cNvPr>
          <p:cNvSpPr txBox="1"/>
          <p:nvPr/>
        </p:nvSpPr>
        <p:spPr>
          <a:xfrm>
            <a:off x="527051" y="4618204"/>
            <a:ext cx="6217021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/>
              <a:t>A </a:t>
            </a:r>
            <a:r>
              <a:rPr lang="en-GB" sz="1600" b="1"/>
              <a:t>cross compiler </a:t>
            </a:r>
            <a:r>
              <a:rPr lang="en-GB" sz="1600"/>
              <a:t>creates binary code for a platform different from the one on which it is running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Typically used to compile code for embedded platforms on a development host (e.g., PULP)</a:t>
            </a:r>
          </a:p>
          <a:p>
            <a:pPr lvl="1"/>
            <a:endParaRPr lang="en-GB" sz="1600"/>
          </a:p>
          <a:p>
            <a:r>
              <a:rPr lang="en-GB" sz="1600"/>
              <a:t>Cross compiler for PULP:</a:t>
            </a:r>
            <a:br>
              <a:rPr lang="en-GB" sz="1600"/>
            </a:br>
            <a:r>
              <a:rPr lang="en-GB" sz="1600"/>
              <a:t>	</a:t>
            </a:r>
            <a:r>
              <a:rPr lang="en-GB" sz="1600" b="1"/>
              <a:t>build == host == x86_64-linux</a:t>
            </a:r>
            <a:br>
              <a:rPr lang="en-GB" sz="1600"/>
            </a:br>
            <a:r>
              <a:rPr lang="en-GB" sz="1600"/>
              <a:t>	</a:t>
            </a:r>
            <a:r>
              <a:rPr lang="en-GB" sz="1600" b="1"/>
              <a:t>target = </a:t>
            </a:r>
            <a:r>
              <a:rPr lang="en-GB" sz="1600" b="1" err="1"/>
              <a:t>riscv</a:t>
            </a:r>
            <a:r>
              <a:rPr lang="en-GB" sz="1600" b="1"/>
              <a:t>-none</a:t>
            </a:r>
          </a:p>
        </p:txBody>
      </p:sp>
    </p:spTree>
    <p:extLst>
      <p:ext uri="{BB962C8B-B14F-4D97-AF65-F5344CB8AC3E}">
        <p14:creationId xmlns:p14="http://schemas.microsoft.com/office/powerpoint/2010/main" val="312910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1C09E9-AF20-42B5-89CC-0B004A7A2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PULP Software Environment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BAF5C-B81F-495F-AA07-2EE9A0EDE9B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D585D2D0-BFA3-43E1-8A49-88AECD3480BE}"/>
              </a:ext>
            </a:extLst>
          </p:cNvPr>
          <p:cNvSpPr/>
          <p:nvPr/>
        </p:nvSpPr>
        <p:spPr>
          <a:xfrm>
            <a:off x="4661763" y="1278314"/>
            <a:ext cx="2408493" cy="4160080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83855"/>
            <a:endParaRPr lang="it-IT" sz="1905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7A36BB0F-6EA3-4174-AC99-A1350E92C3AF}"/>
              </a:ext>
            </a:extLst>
          </p:cNvPr>
          <p:cNvSpPr txBox="1"/>
          <p:nvPr/>
        </p:nvSpPr>
        <p:spPr>
          <a:xfrm>
            <a:off x="4726857" y="1463817"/>
            <a:ext cx="2266792" cy="548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83855"/>
            <a:r>
              <a:rPr lang="it-IT" sz="2963" b="1" err="1">
                <a:solidFill>
                  <a:srgbClr val="000000"/>
                </a:solidFill>
                <a:latin typeface="Arial Narrow" panose="020B0606020202030204" pitchFamily="34" charset="0"/>
              </a:rPr>
              <a:t>Compiling</a:t>
            </a:r>
            <a:endParaRPr lang="it-IT" sz="2963" b="1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59" name="Documento multiplo 58">
            <a:extLst>
              <a:ext uri="{FF2B5EF4-FFF2-40B4-BE49-F238E27FC236}">
                <a16:creationId xmlns:a16="http://schemas.microsoft.com/office/drawing/2014/main" id="{559E27F4-95FE-4A0A-9C54-B0DA624F0288}"/>
              </a:ext>
            </a:extLst>
          </p:cNvPr>
          <p:cNvSpPr/>
          <p:nvPr/>
        </p:nvSpPr>
        <p:spPr>
          <a:xfrm>
            <a:off x="4942618" y="2284407"/>
            <a:ext cx="1018143" cy="1129641"/>
          </a:xfrm>
          <a:prstGeom prst="flowChartMultidocumen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3855"/>
            <a:r>
              <a:rPr lang="it-IT" sz="1905" b="1">
                <a:solidFill>
                  <a:srgbClr val="FFFFFF"/>
                </a:solidFill>
                <a:latin typeface="Arial Narrow" panose="020B0606020202030204" pitchFamily="34" charset="0"/>
              </a:rPr>
              <a:t>Code</a:t>
            </a:r>
          </a:p>
        </p:txBody>
      </p:sp>
      <p:cxnSp>
        <p:nvCxnSpPr>
          <p:cNvPr id="60" name="Connettore a gomito 59">
            <a:extLst>
              <a:ext uri="{FF2B5EF4-FFF2-40B4-BE49-F238E27FC236}">
                <a16:creationId xmlns:a16="http://schemas.microsoft.com/office/drawing/2014/main" id="{6C1B3621-C0E3-4307-9236-E5F3190F2B95}"/>
              </a:ext>
            </a:extLst>
          </p:cNvPr>
          <p:cNvCxnSpPr>
            <a:cxnSpLocks/>
            <a:stCxn id="59" idx="3"/>
            <a:endCxn id="62" idx="0"/>
          </p:cNvCxnSpPr>
          <p:nvPr/>
        </p:nvCxnSpPr>
        <p:spPr>
          <a:xfrm>
            <a:off x="5960762" y="2849229"/>
            <a:ext cx="335252" cy="1300485"/>
          </a:xfrm>
          <a:prstGeom prst="bentConnector2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onnettore 61">
            <a:extLst>
              <a:ext uri="{FF2B5EF4-FFF2-40B4-BE49-F238E27FC236}">
                <a16:creationId xmlns:a16="http://schemas.microsoft.com/office/drawing/2014/main" id="{3AAEC394-E81F-4BB0-99FA-F7D1E1EF0894}"/>
              </a:ext>
            </a:extLst>
          </p:cNvPr>
          <p:cNvSpPr/>
          <p:nvPr/>
        </p:nvSpPr>
        <p:spPr>
          <a:xfrm>
            <a:off x="6237810" y="4149714"/>
            <a:ext cx="116405" cy="146737"/>
          </a:xfrm>
          <a:prstGeom prst="flowChartConnector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3855"/>
            <a:endParaRPr lang="it-IT" sz="1905">
              <a:solidFill>
                <a:srgbClr val="ABABAB"/>
              </a:solidFill>
              <a:latin typeface="Arial Narrow" panose="020B0606020202030204" pitchFamily="34" charset="0"/>
            </a:endParaRPr>
          </a:p>
        </p:txBody>
      </p:sp>
      <p:sp>
        <p:nvSpPr>
          <p:cNvPr id="37" name="Documento multiplo 36">
            <a:extLst>
              <a:ext uri="{FF2B5EF4-FFF2-40B4-BE49-F238E27FC236}">
                <a16:creationId xmlns:a16="http://schemas.microsoft.com/office/drawing/2014/main" id="{68E97AA9-1235-408D-9D24-4EB712884C62}"/>
              </a:ext>
            </a:extLst>
          </p:cNvPr>
          <p:cNvSpPr/>
          <p:nvPr/>
        </p:nvSpPr>
        <p:spPr>
          <a:xfrm>
            <a:off x="4914916" y="3662925"/>
            <a:ext cx="1018143" cy="1129641"/>
          </a:xfrm>
          <a:prstGeom prst="flowChartMultidocumen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3855"/>
            <a:r>
              <a:rPr lang="it-IT" sz="1693" b="1">
                <a:solidFill>
                  <a:srgbClr val="FFFFFF"/>
                </a:solidFill>
                <a:latin typeface="Arial Narrow" panose="020B0606020202030204" pitchFamily="34" charset="0"/>
              </a:rPr>
              <a:t>PMSIS</a:t>
            </a:r>
          </a:p>
        </p:txBody>
      </p:sp>
      <p:cxnSp>
        <p:nvCxnSpPr>
          <p:cNvPr id="38" name="Connettore a gomito 37">
            <a:extLst>
              <a:ext uri="{FF2B5EF4-FFF2-40B4-BE49-F238E27FC236}">
                <a16:creationId xmlns:a16="http://schemas.microsoft.com/office/drawing/2014/main" id="{D5BE5BCC-C50E-4F38-9E44-6EC7B7424D1F}"/>
              </a:ext>
            </a:extLst>
          </p:cNvPr>
          <p:cNvCxnSpPr>
            <a:cxnSpLocks/>
            <a:stCxn id="37" idx="3"/>
            <a:endCxn id="62" idx="2"/>
          </p:cNvCxnSpPr>
          <p:nvPr/>
        </p:nvCxnSpPr>
        <p:spPr>
          <a:xfrm flipV="1">
            <a:off x="5933064" y="4223188"/>
            <a:ext cx="304754" cy="4663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ttangolo 42">
            <a:extLst>
              <a:ext uri="{FF2B5EF4-FFF2-40B4-BE49-F238E27FC236}">
                <a16:creationId xmlns:a16="http://schemas.microsoft.com/office/drawing/2014/main" id="{CA54775D-2354-4A2F-8A7A-EEB641624BD0}"/>
              </a:ext>
            </a:extLst>
          </p:cNvPr>
          <p:cNvSpPr/>
          <p:nvPr/>
        </p:nvSpPr>
        <p:spPr>
          <a:xfrm>
            <a:off x="7200445" y="1270540"/>
            <a:ext cx="4559755" cy="4160080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83855"/>
            <a:endParaRPr lang="it-IT" sz="1905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1808E6ED-5C08-40AE-9F80-ED53A8721980}"/>
              </a:ext>
            </a:extLst>
          </p:cNvPr>
          <p:cNvSpPr/>
          <p:nvPr/>
        </p:nvSpPr>
        <p:spPr>
          <a:xfrm>
            <a:off x="7591008" y="4486542"/>
            <a:ext cx="3645287" cy="6936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83855"/>
            <a:r>
              <a:rPr lang="it-IT" sz="1905" b="1">
                <a:solidFill>
                  <a:srgbClr val="FFFFFF"/>
                </a:solidFill>
                <a:latin typeface="Arial Narrow" panose="020B0606020202030204" pitchFamily="34" charset="0"/>
              </a:rPr>
              <a:t>Board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6BBF9944-1598-4FA9-953B-915041692358}"/>
              </a:ext>
            </a:extLst>
          </p:cNvPr>
          <p:cNvSpPr/>
          <p:nvPr/>
        </p:nvSpPr>
        <p:spPr>
          <a:xfrm>
            <a:off x="7605473" y="3645024"/>
            <a:ext cx="3664232" cy="69368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83855"/>
            <a:r>
              <a:rPr lang="it-IT" sz="1905" b="1">
                <a:solidFill>
                  <a:srgbClr val="FFFFFF"/>
                </a:solidFill>
                <a:latin typeface="Arial Narrow" panose="020B0606020202030204" pitchFamily="34" charset="0"/>
              </a:rPr>
              <a:t>RTL Platform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6F27A641-2562-4A4D-A3B8-EFFF4E3D9F23}"/>
              </a:ext>
            </a:extLst>
          </p:cNvPr>
          <p:cNvSpPr txBox="1"/>
          <p:nvPr/>
        </p:nvSpPr>
        <p:spPr>
          <a:xfrm>
            <a:off x="7801522" y="1427380"/>
            <a:ext cx="3243207" cy="917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83855"/>
            <a:r>
              <a:rPr lang="it-IT" sz="2963" b="1">
                <a:solidFill>
                  <a:srgbClr val="000000"/>
                </a:solidFill>
                <a:latin typeface="Arial Narrow" panose="020B0606020202030204" pitchFamily="34" charset="0"/>
              </a:rPr>
              <a:t>Executing</a:t>
            </a:r>
          </a:p>
          <a:p>
            <a:pPr algn="ctr" defTabSz="483855"/>
            <a:r>
              <a:rPr lang="it-IT" sz="2400">
                <a:solidFill>
                  <a:srgbClr val="000000"/>
                </a:solidFill>
                <a:latin typeface="Arial Narrow" panose="020B0606020202030204" pitchFamily="34" charset="0"/>
              </a:rPr>
              <a:t>Multiple Targets</a:t>
            </a:r>
          </a:p>
        </p:txBody>
      </p:sp>
      <p:cxnSp>
        <p:nvCxnSpPr>
          <p:cNvPr id="52" name="Connettore a gomito 51">
            <a:extLst>
              <a:ext uri="{FF2B5EF4-FFF2-40B4-BE49-F238E27FC236}">
                <a16:creationId xmlns:a16="http://schemas.microsoft.com/office/drawing/2014/main" id="{BDEC63D9-7A8F-4E6C-B9E1-E264ED271EA5}"/>
              </a:ext>
            </a:extLst>
          </p:cNvPr>
          <p:cNvCxnSpPr>
            <a:cxnSpLocks/>
            <a:stCxn id="62" idx="6"/>
            <a:endCxn id="44" idx="1"/>
          </p:cNvCxnSpPr>
          <p:nvPr/>
        </p:nvCxnSpPr>
        <p:spPr>
          <a:xfrm flipV="1">
            <a:off x="6354215" y="3032667"/>
            <a:ext cx="1232190" cy="1190416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a gomito 52">
            <a:extLst>
              <a:ext uri="{FF2B5EF4-FFF2-40B4-BE49-F238E27FC236}">
                <a16:creationId xmlns:a16="http://schemas.microsoft.com/office/drawing/2014/main" id="{6C5F379B-02B6-4951-97E6-F14974C3BD98}"/>
              </a:ext>
            </a:extLst>
          </p:cNvPr>
          <p:cNvCxnSpPr>
            <a:cxnSpLocks/>
            <a:stCxn id="62" idx="6"/>
            <a:endCxn id="46" idx="1"/>
          </p:cNvCxnSpPr>
          <p:nvPr/>
        </p:nvCxnSpPr>
        <p:spPr>
          <a:xfrm flipV="1">
            <a:off x="6354215" y="3991865"/>
            <a:ext cx="1251258" cy="231218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a gomito 53">
            <a:extLst>
              <a:ext uri="{FF2B5EF4-FFF2-40B4-BE49-F238E27FC236}">
                <a16:creationId xmlns:a16="http://schemas.microsoft.com/office/drawing/2014/main" id="{CFD87508-27BC-4317-BC72-1D544ED8EF71}"/>
              </a:ext>
            </a:extLst>
          </p:cNvPr>
          <p:cNvCxnSpPr>
            <a:cxnSpLocks/>
            <a:stCxn id="62" idx="7"/>
            <a:endCxn id="45" idx="1"/>
          </p:cNvCxnSpPr>
          <p:nvPr/>
        </p:nvCxnSpPr>
        <p:spPr>
          <a:xfrm rot="16200000" flipH="1">
            <a:off x="6632998" y="3875372"/>
            <a:ext cx="662179" cy="1253840"/>
          </a:xfrm>
          <a:prstGeom prst="bentConnector4">
            <a:avLst>
              <a:gd name="adj1" fmla="val 5754"/>
              <a:gd name="adj2" fmla="val 50680"/>
            </a:avLst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ttangolo 43">
            <a:extLst>
              <a:ext uri="{FF2B5EF4-FFF2-40B4-BE49-F238E27FC236}">
                <a16:creationId xmlns:a16="http://schemas.microsoft.com/office/drawing/2014/main" id="{25C8CEAB-126E-4087-A679-78C244607BF7}"/>
              </a:ext>
            </a:extLst>
          </p:cNvPr>
          <p:cNvSpPr/>
          <p:nvPr/>
        </p:nvSpPr>
        <p:spPr>
          <a:xfrm>
            <a:off x="7586405" y="2613062"/>
            <a:ext cx="3645286" cy="83920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83855"/>
            <a:r>
              <a:rPr lang="it-IT" sz="1905" b="1">
                <a:solidFill>
                  <a:srgbClr val="FFFFFF"/>
                </a:solidFill>
                <a:latin typeface="Arial Narrow" panose="020B0606020202030204" pitchFamily="34" charset="0"/>
              </a:rPr>
              <a:t>Virtual Platform</a:t>
            </a:r>
          </a:p>
          <a:p>
            <a:pPr algn="ctr" defTabSz="483855"/>
            <a:r>
              <a:rPr lang="it-IT" sz="1905" b="1">
                <a:solidFill>
                  <a:srgbClr val="FFFFFF"/>
                </a:solidFill>
                <a:latin typeface="Arial Narrow" panose="020B0606020202030204" pitchFamily="34" charset="0"/>
              </a:rPr>
              <a:t>Simulator (GVSOC)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B8FC12-F1DE-41A6-AD75-EF39A4CF23E9}"/>
              </a:ext>
            </a:extLst>
          </p:cNvPr>
          <p:cNvSpPr txBox="1"/>
          <p:nvPr/>
        </p:nvSpPr>
        <p:spPr>
          <a:xfrm rot="5400000">
            <a:off x="10961498" y="2858487"/>
            <a:ext cx="985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/>
              <a:t>Default </a:t>
            </a:r>
          </a:p>
        </p:txBody>
      </p:sp>
      <p:sp>
        <p:nvSpPr>
          <p:cNvPr id="64" name="Text Placeholder 3">
            <a:extLst>
              <a:ext uri="{FF2B5EF4-FFF2-40B4-BE49-F238E27FC236}">
                <a16:creationId xmlns:a16="http://schemas.microsoft.com/office/drawing/2014/main" id="{A34ED025-3B15-40F3-B86C-79D50F895B5B}"/>
              </a:ext>
            </a:extLst>
          </p:cNvPr>
          <p:cNvSpPr txBox="1">
            <a:spLocks/>
          </p:cNvSpPr>
          <p:nvPr/>
        </p:nvSpPr>
        <p:spPr>
          <a:xfrm>
            <a:off x="1147271" y="1730386"/>
            <a:ext cx="3353438" cy="124614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/>
              <a:t>Application code: </a:t>
            </a:r>
            <a:r>
              <a:rPr lang="en-GB" sz="2000" i="1"/>
              <a:t>main</a:t>
            </a:r>
            <a:r>
              <a:rPr lang="en-GB" sz="2000"/>
              <a:t> function, application libraries, e.g. CNN inference function code… </a:t>
            </a:r>
          </a:p>
          <a:p>
            <a:pPr marL="0" indent="0">
              <a:buNone/>
            </a:pPr>
            <a:endParaRPr lang="en-GB" sz="2000" i="1"/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624B4D6-A75C-421F-8146-17938390DE93}"/>
              </a:ext>
            </a:extLst>
          </p:cNvPr>
          <p:cNvSpPr txBox="1">
            <a:spLocks/>
          </p:cNvSpPr>
          <p:nvPr/>
        </p:nvSpPr>
        <p:spPr>
          <a:xfrm>
            <a:off x="1134917" y="3411137"/>
            <a:ext cx="3367110" cy="198864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/>
              <a:t>Runtime SW: </a:t>
            </a:r>
            <a:r>
              <a:rPr lang="en-GB" sz="2000"/>
              <a:t>Peripheral</a:t>
            </a:r>
            <a:r>
              <a:rPr lang="en-GB" sz="2000" b="1"/>
              <a:t> </a:t>
            </a:r>
            <a:r>
              <a:rPr lang="en-GB" sz="2000" i="1"/>
              <a:t>Drivers</a:t>
            </a:r>
            <a:r>
              <a:rPr lang="en-GB" sz="2000"/>
              <a:t>, API, Board support packages (BSP)</a:t>
            </a:r>
          </a:p>
          <a:p>
            <a:r>
              <a:rPr lang="en-GB" sz="2000" i="1"/>
              <a:t>PULP </a:t>
            </a:r>
            <a:r>
              <a:rPr lang="en-GB" sz="2000" i="1" err="1"/>
              <a:t>Microcontoller</a:t>
            </a:r>
            <a:r>
              <a:rPr lang="en-GB" sz="2000" i="1"/>
              <a:t> Software Interface Standard (PMSIS) layer</a:t>
            </a:r>
            <a:endParaRPr lang="en-GB" sz="2000" i="1">
              <a:ea typeface="Calibri"/>
              <a:cs typeface="Calibri"/>
            </a:endParaRPr>
          </a:p>
          <a:p>
            <a:pPr marL="57150" indent="0">
              <a:buNone/>
            </a:pPr>
            <a:r>
              <a:rPr lang="en-GB" sz="2000" i="1">
                <a:ea typeface="Calibri"/>
                <a:cs typeface="Calibri"/>
              </a:rPr>
              <a:t> </a:t>
            </a:r>
            <a:endParaRPr lang="en-GB" sz="2000" i="1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i="1">
              <a:ea typeface="Calibri"/>
              <a:cs typeface="Calibri"/>
            </a:endParaRPr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9451A051-8BE3-4AEA-9E23-151152E171A6}"/>
              </a:ext>
            </a:extLst>
          </p:cNvPr>
          <p:cNvSpPr txBox="1">
            <a:spLocks/>
          </p:cNvSpPr>
          <p:nvPr/>
        </p:nvSpPr>
        <p:spPr>
          <a:xfrm>
            <a:off x="4947135" y="5187868"/>
            <a:ext cx="1896532" cy="9988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800" b="1">
                <a:solidFill>
                  <a:srgbClr val="C00000"/>
                </a:solidFill>
              </a:rPr>
              <a:t>GCC-RISCV compiler</a:t>
            </a:r>
            <a:endParaRPr lang="en-GB" sz="28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658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1C09E9-AF20-42B5-89CC-0B004A7A2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PULP Software Environment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A6CC2-7A94-4FFD-93E6-1F97D68C3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8B6C65F5-70AF-4756-8BBF-B117F63381D0}"/>
              </a:ext>
            </a:extLst>
          </p:cNvPr>
          <p:cNvSpPr/>
          <p:nvPr/>
        </p:nvSpPr>
        <p:spPr>
          <a:xfrm>
            <a:off x="1122185" y="2284406"/>
            <a:ext cx="3388623" cy="4096919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83855"/>
            <a:endParaRPr lang="it-IT" sz="1905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92F66DA9-F0ED-494D-931F-1A1C2218DA8D}"/>
              </a:ext>
            </a:extLst>
          </p:cNvPr>
          <p:cNvSpPr/>
          <p:nvPr/>
        </p:nvSpPr>
        <p:spPr>
          <a:xfrm>
            <a:off x="1597000" y="5537668"/>
            <a:ext cx="2408492" cy="70015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3855"/>
            <a:r>
              <a:rPr lang="it-IT" sz="1905" b="1">
                <a:solidFill>
                  <a:srgbClr val="FFFFFF"/>
                </a:solidFill>
                <a:latin typeface="Arial Narrow" panose="020B0606020202030204" pitchFamily="34" charset="0"/>
              </a:rPr>
              <a:t>SoC Model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59D85AAB-8BAE-4A25-93C8-2EC2FFA08574}"/>
              </a:ext>
            </a:extLst>
          </p:cNvPr>
          <p:cNvSpPr/>
          <p:nvPr/>
        </p:nvSpPr>
        <p:spPr>
          <a:xfrm>
            <a:off x="1612251" y="3121229"/>
            <a:ext cx="2408492" cy="79277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83855"/>
            <a:r>
              <a:rPr lang="it-IT" sz="1905" b="1" err="1">
                <a:solidFill>
                  <a:srgbClr val="FFFFFF"/>
                </a:solidFill>
                <a:latin typeface="Arial Narrow" panose="020B0606020202030204" pitchFamily="34" charset="0"/>
              </a:rPr>
              <a:t>Configuration</a:t>
            </a:r>
            <a:r>
              <a:rPr lang="it-IT" sz="1905" b="1">
                <a:solidFill>
                  <a:srgbClr val="FFFFFF"/>
                </a:solidFill>
                <a:latin typeface="Arial Narrow" panose="020B0606020202030204" pitchFamily="34" charset="0"/>
              </a:rPr>
              <a:t> Files</a:t>
            </a: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78B76639-A136-40F1-A3A1-E4B63AFBC925}"/>
              </a:ext>
            </a:extLst>
          </p:cNvPr>
          <p:cNvSpPr/>
          <p:nvPr/>
        </p:nvSpPr>
        <p:spPr>
          <a:xfrm>
            <a:off x="1612251" y="4318409"/>
            <a:ext cx="2408492" cy="79277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83855"/>
            <a:r>
              <a:rPr lang="it-IT" sz="1905" b="1" err="1">
                <a:solidFill>
                  <a:srgbClr val="FFFFFF"/>
                </a:solidFill>
                <a:latin typeface="Arial Narrow" panose="020B0606020202030204" pitchFamily="34" charset="0"/>
              </a:rPr>
              <a:t>Generators</a:t>
            </a:r>
            <a:endParaRPr lang="it-IT" sz="1905" b="1">
              <a:solidFill>
                <a:srgbClr val="FFFFFF"/>
              </a:solidFill>
              <a:latin typeface="Arial Narrow" panose="020B0606020202030204" pitchFamily="34" charset="0"/>
            </a:endParaRPr>
          </a:p>
        </p:txBody>
      </p:sp>
      <p:sp>
        <p:nvSpPr>
          <p:cNvPr id="51" name="Freccia in giù 50">
            <a:extLst>
              <a:ext uri="{FF2B5EF4-FFF2-40B4-BE49-F238E27FC236}">
                <a16:creationId xmlns:a16="http://schemas.microsoft.com/office/drawing/2014/main" id="{A17AD909-579B-4A75-8E0C-32EE182A38EB}"/>
              </a:ext>
            </a:extLst>
          </p:cNvPr>
          <p:cNvSpPr/>
          <p:nvPr/>
        </p:nvSpPr>
        <p:spPr>
          <a:xfrm>
            <a:off x="2734804" y="3981118"/>
            <a:ext cx="163385" cy="277950"/>
          </a:xfrm>
          <a:prstGeom prst="down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3855"/>
            <a:endParaRPr lang="it-IT" sz="1905">
              <a:solidFill>
                <a:srgbClr val="ABABAB"/>
              </a:solidFill>
              <a:latin typeface="Arial Narrow" panose="020B0606020202030204" pitchFamily="34" charset="0"/>
            </a:endParaRPr>
          </a:p>
        </p:txBody>
      </p:sp>
      <p:sp>
        <p:nvSpPr>
          <p:cNvPr id="55" name="Freccia in giù 54">
            <a:extLst>
              <a:ext uri="{FF2B5EF4-FFF2-40B4-BE49-F238E27FC236}">
                <a16:creationId xmlns:a16="http://schemas.microsoft.com/office/drawing/2014/main" id="{0FBD531E-951E-4534-A01C-5722834AA346}"/>
              </a:ext>
            </a:extLst>
          </p:cNvPr>
          <p:cNvSpPr/>
          <p:nvPr/>
        </p:nvSpPr>
        <p:spPr>
          <a:xfrm>
            <a:off x="2733645" y="5167274"/>
            <a:ext cx="163385" cy="277950"/>
          </a:xfrm>
          <a:prstGeom prst="down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3855"/>
            <a:endParaRPr lang="it-IT" sz="1905">
              <a:solidFill>
                <a:srgbClr val="ABABAB"/>
              </a:solidFill>
              <a:latin typeface="Arial Narrow" panose="020B0606020202030204" pitchFamily="34" charset="0"/>
            </a:endParaRPr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16648871-5207-472A-AE7E-3DAF953CEE93}"/>
              </a:ext>
            </a:extLst>
          </p:cNvPr>
          <p:cNvSpPr txBox="1"/>
          <p:nvPr/>
        </p:nvSpPr>
        <p:spPr>
          <a:xfrm>
            <a:off x="1597000" y="2400713"/>
            <a:ext cx="2408492" cy="548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83855"/>
            <a:r>
              <a:rPr lang="it-IT" sz="2963" b="1">
                <a:solidFill>
                  <a:srgbClr val="000000"/>
                </a:solidFill>
                <a:latin typeface="Arial Narrow" panose="020B0606020202030204" pitchFamily="34" charset="0"/>
              </a:rPr>
              <a:t>GVSOC</a:t>
            </a:r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D585D2D0-BFA3-43E1-8A49-88AECD3480BE}"/>
              </a:ext>
            </a:extLst>
          </p:cNvPr>
          <p:cNvSpPr/>
          <p:nvPr/>
        </p:nvSpPr>
        <p:spPr>
          <a:xfrm>
            <a:off x="4661763" y="1278314"/>
            <a:ext cx="2408493" cy="4160080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83855"/>
            <a:endParaRPr lang="it-IT" sz="1905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7A36BB0F-6EA3-4174-AC99-A1350E92C3AF}"/>
              </a:ext>
            </a:extLst>
          </p:cNvPr>
          <p:cNvSpPr txBox="1"/>
          <p:nvPr/>
        </p:nvSpPr>
        <p:spPr>
          <a:xfrm>
            <a:off x="4726857" y="1463817"/>
            <a:ext cx="2266792" cy="548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83855"/>
            <a:r>
              <a:rPr lang="it-IT" sz="2963" b="1" err="1">
                <a:solidFill>
                  <a:srgbClr val="000000"/>
                </a:solidFill>
                <a:latin typeface="Arial Narrow" panose="020B0606020202030204" pitchFamily="34" charset="0"/>
              </a:rPr>
              <a:t>Compiling</a:t>
            </a:r>
            <a:endParaRPr lang="it-IT" sz="2963" b="1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59" name="Documento multiplo 58">
            <a:extLst>
              <a:ext uri="{FF2B5EF4-FFF2-40B4-BE49-F238E27FC236}">
                <a16:creationId xmlns:a16="http://schemas.microsoft.com/office/drawing/2014/main" id="{559E27F4-95FE-4A0A-9C54-B0DA624F0288}"/>
              </a:ext>
            </a:extLst>
          </p:cNvPr>
          <p:cNvSpPr/>
          <p:nvPr/>
        </p:nvSpPr>
        <p:spPr>
          <a:xfrm>
            <a:off x="4942618" y="2284407"/>
            <a:ext cx="1018143" cy="1129641"/>
          </a:xfrm>
          <a:prstGeom prst="flowChartMultidocumen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3855"/>
            <a:r>
              <a:rPr lang="it-IT" sz="1905" b="1">
                <a:solidFill>
                  <a:srgbClr val="FFFFFF"/>
                </a:solidFill>
                <a:latin typeface="Arial Narrow" panose="020B0606020202030204" pitchFamily="34" charset="0"/>
              </a:rPr>
              <a:t>Code</a:t>
            </a:r>
          </a:p>
        </p:txBody>
      </p:sp>
      <p:cxnSp>
        <p:nvCxnSpPr>
          <p:cNvPr id="60" name="Connettore a gomito 59">
            <a:extLst>
              <a:ext uri="{FF2B5EF4-FFF2-40B4-BE49-F238E27FC236}">
                <a16:creationId xmlns:a16="http://schemas.microsoft.com/office/drawing/2014/main" id="{6C1B3621-C0E3-4307-9236-E5F3190F2B95}"/>
              </a:ext>
            </a:extLst>
          </p:cNvPr>
          <p:cNvCxnSpPr>
            <a:cxnSpLocks/>
            <a:stCxn id="59" idx="3"/>
            <a:endCxn id="62" idx="0"/>
          </p:cNvCxnSpPr>
          <p:nvPr/>
        </p:nvCxnSpPr>
        <p:spPr>
          <a:xfrm>
            <a:off x="5960762" y="2849229"/>
            <a:ext cx="335252" cy="1300485"/>
          </a:xfrm>
          <a:prstGeom prst="bentConnector2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a gomito 60">
            <a:extLst>
              <a:ext uri="{FF2B5EF4-FFF2-40B4-BE49-F238E27FC236}">
                <a16:creationId xmlns:a16="http://schemas.microsoft.com/office/drawing/2014/main" id="{C1BF3515-F6F2-478F-9F8A-57AD483BF37C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4005492" y="4259068"/>
            <a:ext cx="2666572" cy="1628677"/>
          </a:xfrm>
          <a:prstGeom prst="bentConnector3">
            <a:avLst>
              <a:gd name="adj1" fmla="val 100088"/>
            </a:avLst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onnettore 61">
            <a:extLst>
              <a:ext uri="{FF2B5EF4-FFF2-40B4-BE49-F238E27FC236}">
                <a16:creationId xmlns:a16="http://schemas.microsoft.com/office/drawing/2014/main" id="{3AAEC394-E81F-4BB0-99FA-F7D1E1EF0894}"/>
              </a:ext>
            </a:extLst>
          </p:cNvPr>
          <p:cNvSpPr/>
          <p:nvPr/>
        </p:nvSpPr>
        <p:spPr>
          <a:xfrm>
            <a:off x="6237810" y="4149714"/>
            <a:ext cx="116405" cy="146737"/>
          </a:xfrm>
          <a:prstGeom prst="flowChartConnector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3855"/>
            <a:endParaRPr lang="it-IT" sz="1905">
              <a:solidFill>
                <a:srgbClr val="ABABAB"/>
              </a:solidFill>
              <a:latin typeface="Arial Narrow" panose="020B0606020202030204" pitchFamily="34" charset="0"/>
            </a:endParaRPr>
          </a:p>
        </p:txBody>
      </p:sp>
      <p:sp>
        <p:nvSpPr>
          <p:cNvPr id="37" name="Documento multiplo 36">
            <a:extLst>
              <a:ext uri="{FF2B5EF4-FFF2-40B4-BE49-F238E27FC236}">
                <a16:creationId xmlns:a16="http://schemas.microsoft.com/office/drawing/2014/main" id="{68E97AA9-1235-408D-9D24-4EB712884C62}"/>
              </a:ext>
            </a:extLst>
          </p:cNvPr>
          <p:cNvSpPr/>
          <p:nvPr/>
        </p:nvSpPr>
        <p:spPr>
          <a:xfrm>
            <a:off x="4914916" y="3662925"/>
            <a:ext cx="1018143" cy="1129641"/>
          </a:xfrm>
          <a:prstGeom prst="flowChartMultidocumen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3855"/>
            <a:r>
              <a:rPr lang="it-IT" sz="1693" b="1">
                <a:solidFill>
                  <a:srgbClr val="FFFFFF"/>
                </a:solidFill>
                <a:latin typeface="Arial Narrow" panose="020B0606020202030204" pitchFamily="34" charset="0"/>
              </a:rPr>
              <a:t>PMSIS</a:t>
            </a:r>
          </a:p>
        </p:txBody>
      </p:sp>
      <p:cxnSp>
        <p:nvCxnSpPr>
          <p:cNvPr id="38" name="Connettore a gomito 37">
            <a:extLst>
              <a:ext uri="{FF2B5EF4-FFF2-40B4-BE49-F238E27FC236}">
                <a16:creationId xmlns:a16="http://schemas.microsoft.com/office/drawing/2014/main" id="{D5BE5BCC-C50E-4F38-9E44-6EC7B7424D1F}"/>
              </a:ext>
            </a:extLst>
          </p:cNvPr>
          <p:cNvCxnSpPr>
            <a:cxnSpLocks/>
            <a:stCxn id="37" idx="3"/>
            <a:endCxn id="62" idx="2"/>
          </p:cNvCxnSpPr>
          <p:nvPr/>
        </p:nvCxnSpPr>
        <p:spPr>
          <a:xfrm flipV="1">
            <a:off x="5933064" y="4223188"/>
            <a:ext cx="304754" cy="4663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ttangolo 42">
            <a:extLst>
              <a:ext uri="{FF2B5EF4-FFF2-40B4-BE49-F238E27FC236}">
                <a16:creationId xmlns:a16="http://schemas.microsoft.com/office/drawing/2014/main" id="{CA54775D-2354-4A2F-8A7A-EEB641624BD0}"/>
              </a:ext>
            </a:extLst>
          </p:cNvPr>
          <p:cNvSpPr/>
          <p:nvPr/>
        </p:nvSpPr>
        <p:spPr>
          <a:xfrm>
            <a:off x="7200445" y="1270540"/>
            <a:ext cx="4559755" cy="4160080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83855"/>
            <a:endParaRPr lang="it-IT" sz="1905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1808E6ED-5C08-40AE-9F80-ED53A8721980}"/>
              </a:ext>
            </a:extLst>
          </p:cNvPr>
          <p:cNvSpPr/>
          <p:nvPr/>
        </p:nvSpPr>
        <p:spPr>
          <a:xfrm>
            <a:off x="7591008" y="4486542"/>
            <a:ext cx="3645287" cy="6936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83855"/>
            <a:r>
              <a:rPr lang="it-IT" sz="1905" b="1">
                <a:solidFill>
                  <a:srgbClr val="FFFFFF"/>
                </a:solidFill>
                <a:latin typeface="Arial Narrow" panose="020B0606020202030204" pitchFamily="34" charset="0"/>
              </a:rPr>
              <a:t>Board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6BBF9944-1598-4FA9-953B-915041692358}"/>
              </a:ext>
            </a:extLst>
          </p:cNvPr>
          <p:cNvSpPr/>
          <p:nvPr/>
        </p:nvSpPr>
        <p:spPr>
          <a:xfrm>
            <a:off x="7605473" y="3645024"/>
            <a:ext cx="3664232" cy="69368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83855"/>
            <a:r>
              <a:rPr lang="it-IT" sz="1905" b="1">
                <a:solidFill>
                  <a:srgbClr val="FFFFFF"/>
                </a:solidFill>
                <a:latin typeface="Arial Narrow" panose="020B0606020202030204" pitchFamily="34" charset="0"/>
              </a:rPr>
              <a:t>RTL Platform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6F27A641-2562-4A4D-A3B8-EFFF4E3D9F23}"/>
              </a:ext>
            </a:extLst>
          </p:cNvPr>
          <p:cNvSpPr txBox="1"/>
          <p:nvPr/>
        </p:nvSpPr>
        <p:spPr>
          <a:xfrm>
            <a:off x="7801522" y="1427380"/>
            <a:ext cx="3243207" cy="917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83855"/>
            <a:r>
              <a:rPr lang="it-IT" sz="2963" b="1">
                <a:solidFill>
                  <a:srgbClr val="000000"/>
                </a:solidFill>
                <a:latin typeface="Arial Narrow" panose="020B0606020202030204" pitchFamily="34" charset="0"/>
              </a:rPr>
              <a:t>Executing</a:t>
            </a:r>
          </a:p>
          <a:p>
            <a:pPr algn="ctr" defTabSz="483855"/>
            <a:r>
              <a:rPr lang="it-IT" sz="2400">
                <a:solidFill>
                  <a:srgbClr val="000000"/>
                </a:solidFill>
                <a:latin typeface="Arial Narrow" panose="020B0606020202030204" pitchFamily="34" charset="0"/>
              </a:rPr>
              <a:t>Multiple Targets</a:t>
            </a:r>
          </a:p>
        </p:txBody>
      </p:sp>
      <p:cxnSp>
        <p:nvCxnSpPr>
          <p:cNvPr id="52" name="Connettore a gomito 51">
            <a:extLst>
              <a:ext uri="{FF2B5EF4-FFF2-40B4-BE49-F238E27FC236}">
                <a16:creationId xmlns:a16="http://schemas.microsoft.com/office/drawing/2014/main" id="{BDEC63D9-7A8F-4E6C-B9E1-E264ED271EA5}"/>
              </a:ext>
            </a:extLst>
          </p:cNvPr>
          <p:cNvCxnSpPr>
            <a:cxnSpLocks/>
            <a:stCxn id="62" idx="6"/>
            <a:endCxn id="44" idx="1"/>
          </p:cNvCxnSpPr>
          <p:nvPr/>
        </p:nvCxnSpPr>
        <p:spPr>
          <a:xfrm flipV="1">
            <a:off x="6354215" y="3032667"/>
            <a:ext cx="1232190" cy="1190416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a gomito 52">
            <a:extLst>
              <a:ext uri="{FF2B5EF4-FFF2-40B4-BE49-F238E27FC236}">
                <a16:creationId xmlns:a16="http://schemas.microsoft.com/office/drawing/2014/main" id="{6C5F379B-02B6-4951-97E6-F14974C3BD98}"/>
              </a:ext>
            </a:extLst>
          </p:cNvPr>
          <p:cNvCxnSpPr>
            <a:cxnSpLocks/>
            <a:stCxn id="62" idx="6"/>
            <a:endCxn id="46" idx="1"/>
          </p:cNvCxnSpPr>
          <p:nvPr/>
        </p:nvCxnSpPr>
        <p:spPr>
          <a:xfrm flipV="1">
            <a:off x="6354215" y="3991865"/>
            <a:ext cx="1251258" cy="231218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a gomito 53">
            <a:extLst>
              <a:ext uri="{FF2B5EF4-FFF2-40B4-BE49-F238E27FC236}">
                <a16:creationId xmlns:a16="http://schemas.microsoft.com/office/drawing/2014/main" id="{CFD87508-27BC-4317-BC72-1D544ED8EF71}"/>
              </a:ext>
            </a:extLst>
          </p:cNvPr>
          <p:cNvCxnSpPr>
            <a:cxnSpLocks/>
            <a:stCxn id="62" idx="7"/>
            <a:endCxn id="45" idx="1"/>
          </p:cNvCxnSpPr>
          <p:nvPr/>
        </p:nvCxnSpPr>
        <p:spPr>
          <a:xfrm rot="16200000" flipH="1">
            <a:off x="6632998" y="3875372"/>
            <a:ext cx="662179" cy="1253840"/>
          </a:xfrm>
          <a:prstGeom prst="bentConnector4">
            <a:avLst>
              <a:gd name="adj1" fmla="val 5754"/>
              <a:gd name="adj2" fmla="val 50680"/>
            </a:avLst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ttangolo 43">
            <a:extLst>
              <a:ext uri="{FF2B5EF4-FFF2-40B4-BE49-F238E27FC236}">
                <a16:creationId xmlns:a16="http://schemas.microsoft.com/office/drawing/2014/main" id="{25C8CEAB-126E-4087-A679-78C244607BF7}"/>
              </a:ext>
            </a:extLst>
          </p:cNvPr>
          <p:cNvSpPr/>
          <p:nvPr/>
        </p:nvSpPr>
        <p:spPr>
          <a:xfrm>
            <a:off x="7586405" y="2613062"/>
            <a:ext cx="3645286" cy="83920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83855"/>
            <a:r>
              <a:rPr lang="it-IT" sz="1905" b="1">
                <a:solidFill>
                  <a:srgbClr val="FFFFFF"/>
                </a:solidFill>
                <a:latin typeface="Arial Narrow" panose="020B0606020202030204" pitchFamily="34" charset="0"/>
              </a:rPr>
              <a:t>Virtual Platform</a:t>
            </a:r>
          </a:p>
          <a:p>
            <a:pPr algn="ctr" defTabSz="483855"/>
            <a:r>
              <a:rPr lang="it-IT" sz="1905" b="1">
                <a:solidFill>
                  <a:srgbClr val="FFFFFF"/>
                </a:solidFill>
                <a:latin typeface="Arial Narrow" panose="020B0606020202030204" pitchFamily="34" charset="0"/>
              </a:rPr>
              <a:t>Simulator (GVSOC)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B8FC12-F1DE-41A6-AD75-EF39A4CF23E9}"/>
              </a:ext>
            </a:extLst>
          </p:cNvPr>
          <p:cNvSpPr txBox="1"/>
          <p:nvPr/>
        </p:nvSpPr>
        <p:spPr>
          <a:xfrm rot="5400000">
            <a:off x="10961498" y="2858487"/>
            <a:ext cx="985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/>
              <a:t>Default 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AB8753F3-1A71-4D38-AFF9-7CAD1CC5A2F7}"/>
              </a:ext>
            </a:extLst>
          </p:cNvPr>
          <p:cNvSpPr txBox="1">
            <a:spLocks/>
          </p:cNvSpPr>
          <p:nvPr/>
        </p:nvSpPr>
        <p:spPr>
          <a:xfrm>
            <a:off x="1966068" y="1528624"/>
            <a:ext cx="2188831" cy="45262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/>
              <a:t>Building</a:t>
            </a:r>
            <a:r>
              <a:rPr lang="en-GB" sz="2000"/>
              <a:t> the GVSOC simulator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5E42E63-61C2-4CAF-82C0-88B68BA3197D}"/>
              </a:ext>
            </a:extLst>
          </p:cNvPr>
          <p:cNvSpPr/>
          <p:nvPr/>
        </p:nvSpPr>
        <p:spPr>
          <a:xfrm>
            <a:off x="778894" y="2197611"/>
            <a:ext cx="5770242" cy="4471749"/>
          </a:xfrm>
          <a:custGeom>
            <a:avLst/>
            <a:gdLst>
              <a:gd name="connsiteX0" fmla="*/ 2529385 w 5770242"/>
              <a:gd name="connsiteY0" fmla="*/ 37514 h 4667686"/>
              <a:gd name="connsiteX1" fmla="*/ 351263 w 5770242"/>
              <a:gd name="connsiteY1" fmla="*/ 623141 h 4667686"/>
              <a:gd name="connsiteX2" fmla="*/ 32764 w 5770242"/>
              <a:gd name="connsiteY2" fmla="*/ 2606053 h 4667686"/>
              <a:gd name="connsiteX3" fmla="*/ 659488 w 5770242"/>
              <a:gd name="connsiteY3" fmla="*/ 4517046 h 4667686"/>
              <a:gd name="connsiteX4" fmla="*/ 3228027 w 5770242"/>
              <a:gd name="connsiteY4" fmla="*/ 4424579 h 4667686"/>
              <a:gd name="connsiteX5" fmla="*/ 4984908 w 5770242"/>
              <a:gd name="connsiteY5" fmla="*/ 3458808 h 4667686"/>
              <a:gd name="connsiteX6" fmla="*/ 5755470 w 5770242"/>
              <a:gd name="connsiteY6" fmla="*/ 1712201 h 4667686"/>
              <a:gd name="connsiteX7" fmla="*/ 4368459 w 5770242"/>
              <a:gd name="connsiteY7" fmla="*/ 1044381 h 4667686"/>
              <a:gd name="connsiteX8" fmla="*/ 3638994 w 5770242"/>
              <a:gd name="connsiteY8" fmla="*/ 407383 h 4667686"/>
              <a:gd name="connsiteX9" fmla="*/ 3022544 w 5770242"/>
              <a:gd name="connsiteY9" fmla="*/ 99159 h 4667686"/>
              <a:gd name="connsiteX10" fmla="*/ 2529385 w 5770242"/>
              <a:gd name="connsiteY10" fmla="*/ 37514 h 4667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70242" h="4667686">
                <a:moveTo>
                  <a:pt x="2529385" y="37514"/>
                </a:moveTo>
                <a:cubicBezTo>
                  <a:pt x="2084171" y="124844"/>
                  <a:pt x="767366" y="195051"/>
                  <a:pt x="351263" y="623141"/>
                </a:cubicBezTo>
                <a:cubicBezTo>
                  <a:pt x="-64841" y="1051231"/>
                  <a:pt x="-18607" y="1957069"/>
                  <a:pt x="32764" y="2606053"/>
                </a:cubicBezTo>
                <a:cubicBezTo>
                  <a:pt x="84135" y="3255037"/>
                  <a:pt x="126944" y="4213958"/>
                  <a:pt x="659488" y="4517046"/>
                </a:cubicBezTo>
                <a:cubicBezTo>
                  <a:pt x="1192032" y="4820134"/>
                  <a:pt x="2507124" y="4600952"/>
                  <a:pt x="3228027" y="4424579"/>
                </a:cubicBezTo>
                <a:cubicBezTo>
                  <a:pt x="3948930" y="4248206"/>
                  <a:pt x="4563668" y="3910871"/>
                  <a:pt x="4984908" y="3458808"/>
                </a:cubicBezTo>
                <a:cubicBezTo>
                  <a:pt x="5406148" y="3006745"/>
                  <a:pt x="5858211" y="2114605"/>
                  <a:pt x="5755470" y="1712201"/>
                </a:cubicBezTo>
                <a:cubicBezTo>
                  <a:pt x="5652729" y="1309797"/>
                  <a:pt x="4721205" y="1261851"/>
                  <a:pt x="4368459" y="1044381"/>
                </a:cubicBezTo>
                <a:cubicBezTo>
                  <a:pt x="4015713" y="826911"/>
                  <a:pt x="3863313" y="564920"/>
                  <a:pt x="3638994" y="407383"/>
                </a:cubicBezTo>
                <a:cubicBezTo>
                  <a:pt x="3414675" y="249846"/>
                  <a:pt x="3207479" y="164229"/>
                  <a:pt x="3022544" y="99159"/>
                </a:cubicBezTo>
                <a:cubicBezTo>
                  <a:pt x="2837609" y="34089"/>
                  <a:pt x="2974599" y="-49816"/>
                  <a:pt x="2529385" y="37514"/>
                </a:cubicBezTo>
                <a:close/>
              </a:path>
            </a:pathLst>
          </a:cu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536B5931-353C-4EA5-BFFA-CFAF957873BB}"/>
              </a:ext>
            </a:extLst>
          </p:cNvPr>
          <p:cNvSpPr txBox="1">
            <a:spLocks/>
          </p:cNvSpPr>
          <p:nvPr/>
        </p:nvSpPr>
        <p:spPr>
          <a:xfrm rot="18900000">
            <a:off x="73387" y="2261714"/>
            <a:ext cx="1795686" cy="45262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b="1">
                <a:solidFill>
                  <a:srgbClr val="C00000"/>
                </a:solidFill>
              </a:rPr>
              <a:t>PULP-SDK</a:t>
            </a:r>
            <a:endParaRPr lang="en-GB" sz="28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947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4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FC51-9167-408B-845E-3BFE98670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/>
              <a:t>PULP SDK</a:t>
            </a:r>
            <a:endParaRPr lang="it-IT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849B898-0111-47A9-A7B4-075FDF67C9E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11F9EC9-0E27-4C12-9800-0342F344E803}"/>
              </a:ext>
            </a:extLst>
          </p:cNvPr>
          <p:cNvSpPr txBox="1">
            <a:spLocks/>
          </p:cNvSpPr>
          <p:nvPr/>
        </p:nvSpPr>
        <p:spPr>
          <a:xfrm>
            <a:off x="527051" y="1124744"/>
            <a:ext cx="6145013" cy="345434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/>
              <a:t>The PULP-SDK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  <a:hlinkClick r:id="rId2"/>
              </a:rPr>
              <a:t>https://github.com/pulp-platform/pulp-sdk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) includes a </a:t>
            </a:r>
            <a:r>
              <a:rPr kumimoji="0" lang="en-US" sz="18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PULP platform simulator (GVSOC)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and the SW libraries.</a:t>
            </a:r>
            <a:endParaRPr lang="en-GB" sz="2000"/>
          </a:p>
          <a:p>
            <a:pPr marL="0" indent="0">
              <a:buNone/>
            </a:pPr>
            <a:r>
              <a:rPr lang="en-GB" sz="2000"/>
              <a:t>Check</a:t>
            </a:r>
            <a:r>
              <a:rPr lang="en-GB" sz="2000" i="1"/>
              <a:t> </a:t>
            </a:r>
            <a:r>
              <a:rPr lang="en-GB" sz="2000"/>
              <a:t>the</a:t>
            </a:r>
            <a:r>
              <a:rPr lang="en-GB" sz="2000" i="1"/>
              <a:t> /pulp/pulp-</a:t>
            </a:r>
            <a:r>
              <a:rPr lang="en-GB" sz="2000" i="1" err="1"/>
              <a:t>sdk</a:t>
            </a:r>
            <a:r>
              <a:rPr lang="en-GB" sz="2000" i="1"/>
              <a:t> </a:t>
            </a:r>
            <a:r>
              <a:rPr lang="en-GB" sz="2000"/>
              <a:t>folder:</a:t>
            </a:r>
          </a:p>
          <a:p>
            <a:r>
              <a:rPr lang="en-GB" sz="2000" err="1">
                <a:latin typeface="Consolas" panose="020B0609020204030204" pitchFamily="49" charset="0"/>
              </a:rPr>
              <a:t>rtos</a:t>
            </a:r>
            <a:r>
              <a:rPr lang="en-GB" sz="2000">
                <a:latin typeface="Consolas" panose="020B0609020204030204" pitchFamily="49" charset="0"/>
              </a:rPr>
              <a:t>/ </a:t>
            </a:r>
            <a:r>
              <a:rPr lang="en-GB" sz="2000"/>
              <a:t>runtime code and software stack </a:t>
            </a:r>
          </a:p>
          <a:p>
            <a:r>
              <a:rPr lang="en-GB" sz="2000">
                <a:latin typeface="Consolas" panose="020B0609020204030204" pitchFamily="49" charset="0"/>
              </a:rPr>
              <a:t>tools/ c</a:t>
            </a:r>
            <a:r>
              <a:rPr lang="en-GB" sz="2000"/>
              <a:t>onfiguration files, python generators, </a:t>
            </a:r>
            <a:br>
              <a:rPr lang="en-GB" sz="2000"/>
            </a:br>
            <a:r>
              <a:rPr lang="en-GB" sz="2000"/>
              <a:t>pulp runner and the </a:t>
            </a:r>
            <a:r>
              <a:rPr lang="en-GB" sz="2000" err="1"/>
              <a:t>gvsoc</a:t>
            </a:r>
            <a:r>
              <a:rPr lang="en-GB" sz="2000"/>
              <a:t> components</a:t>
            </a:r>
          </a:p>
          <a:p>
            <a:r>
              <a:rPr lang="en-GB" sz="2000">
                <a:latin typeface="Consolas" panose="020B0609020204030204" pitchFamily="49" charset="0"/>
              </a:rPr>
              <a:t>tests/ </a:t>
            </a:r>
            <a:r>
              <a:rPr lang="en-GB" sz="2000"/>
              <a:t>sample code to test the platform’s features</a:t>
            </a:r>
          </a:p>
          <a:p>
            <a:r>
              <a:rPr lang="en-GB" sz="2000">
                <a:latin typeface="Consolas" panose="020B0609020204030204" pitchFamily="49" charset="0"/>
              </a:rPr>
              <a:t>applications/ </a:t>
            </a:r>
            <a:r>
              <a:rPr lang="en-GB" sz="2000"/>
              <a:t>full-application codes</a:t>
            </a:r>
          </a:p>
          <a:p>
            <a:endParaRPr lang="en-GB" sz="2000"/>
          </a:p>
          <a:p>
            <a:pPr marL="0" indent="0">
              <a:buNone/>
            </a:pPr>
            <a:endParaRPr lang="en-GB" sz="2000"/>
          </a:p>
          <a:p>
            <a:pPr marL="457200" indent="-457200">
              <a:buFont typeface="+mj-lt"/>
              <a:buAutoNum type="arabicPeriod"/>
            </a:pPr>
            <a:endParaRPr lang="en-GB" sz="2000" i="1"/>
          </a:p>
          <a:p>
            <a:pPr marL="0" indent="0">
              <a:buNone/>
            </a:pPr>
            <a:endParaRPr lang="en-GB" sz="2000" i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8747BD-05ED-4987-85F5-88FF5D5E15BE}"/>
              </a:ext>
            </a:extLst>
          </p:cNvPr>
          <p:cNvSpPr/>
          <p:nvPr/>
        </p:nvSpPr>
        <p:spPr>
          <a:xfrm>
            <a:off x="5807968" y="5029856"/>
            <a:ext cx="4680520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git pull origin main</a:t>
            </a:r>
          </a:p>
          <a:p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source configs/pulp-open.sh</a:t>
            </a:r>
          </a:p>
          <a:p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make build</a:t>
            </a:r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9A708F-0619-496E-B56F-DC228C73A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334" y="4929265"/>
            <a:ext cx="136815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2FF99A-4F03-4566-8FFD-3BA412501E14}"/>
              </a:ext>
            </a:extLst>
          </p:cNvPr>
          <p:cNvSpPr txBox="1"/>
          <p:nvPr/>
        </p:nvSpPr>
        <p:spPr>
          <a:xfrm>
            <a:off x="2022785" y="4973978"/>
            <a:ext cx="34563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/>
              <a:t>You could get the latest update from the open-source community and rebuild the GVSOC simulator</a:t>
            </a:r>
            <a:endParaRPr lang="en-US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47DA28-96B9-4628-9FA5-C77646FCDDE6}"/>
              </a:ext>
            </a:extLst>
          </p:cNvPr>
          <p:cNvSpPr txBox="1"/>
          <p:nvPr/>
        </p:nvSpPr>
        <p:spPr>
          <a:xfrm>
            <a:off x="8891474" y="4782344"/>
            <a:ext cx="330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DON’T do 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79D3A1-8454-4C26-9ED7-BE0C6621FFF6}"/>
              </a:ext>
            </a:extLst>
          </p:cNvPr>
          <p:cNvSpPr txBox="1"/>
          <p:nvPr/>
        </p:nvSpPr>
        <p:spPr>
          <a:xfrm>
            <a:off x="7089923" y="1197900"/>
            <a:ext cx="36004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it-IT"/>
            </a:defPPr>
            <a:lvl1pPr>
              <a:defRPr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/>
              <a:t>$ cd /pulp/pulp-</a:t>
            </a:r>
            <a:r>
              <a:rPr lang="en-US" err="1"/>
              <a:t>sdk</a:t>
            </a:r>
            <a:r>
              <a:rPr lang="en-US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F47AD1-57A7-4528-8AAD-02AA92317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933" y="1762858"/>
            <a:ext cx="4673840" cy="207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803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6B3A38-4DF7-45C5-9917-47910A920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GVSoC</a:t>
            </a:r>
            <a:r>
              <a:rPr lang="it-IT"/>
              <a:t> – Features</a:t>
            </a:r>
          </a:p>
        </p:txBody>
      </p:sp>
      <p:sp>
        <p:nvSpPr>
          <p:cNvPr id="22" name="Segnaposto contenuto 12">
            <a:extLst>
              <a:ext uri="{FF2B5EF4-FFF2-40B4-BE49-F238E27FC236}">
                <a16:creationId xmlns:a16="http://schemas.microsoft.com/office/drawing/2014/main" id="{DF3DD6C6-1CED-4677-85E4-AAC03DBC2AC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lIns="91440" tIns="45720" rIns="91440" bIns="45720" anchor="t"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500" b="1" dirty="0">
                <a:latin typeface="Source Sans Pro"/>
                <a:ea typeface="Source Sans Pro"/>
              </a:rPr>
              <a:t>Virtual platform features</a:t>
            </a:r>
            <a:r>
              <a:rPr lang="en-US" sz="2500" dirty="0">
                <a:latin typeface="Source Sans Pro"/>
                <a:ea typeface="Source Sans Pro"/>
              </a:rPr>
              <a:t>:</a:t>
            </a:r>
            <a:endParaRPr lang="en-US" sz="2500" b="1" dirty="0">
              <a:latin typeface="Source Sans Pro"/>
              <a:ea typeface="Source Sans Pro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i="1" dirty="0"/>
              <a:t>C++</a:t>
            </a:r>
            <a:r>
              <a:rPr lang="en-US" sz="2100" dirty="0"/>
              <a:t> for fast native simulation</a:t>
            </a:r>
            <a:endParaRPr lang="en-US" sz="2100" dirty="0">
              <a:ea typeface="Calibri"/>
              <a:cs typeface="Calibri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i="1" dirty="0"/>
              <a:t>Python</a:t>
            </a:r>
            <a:r>
              <a:rPr lang="en-US" sz="2100" dirty="0"/>
              <a:t> for instantiation + configuration</a:t>
            </a:r>
            <a:endParaRPr lang="en-US" sz="2100" dirty="0">
              <a:ea typeface="Calibri"/>
              <a:cs typeface="Calibri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Complete set of traces to see what happens</a:t>
            </a:r>
            <a:endParaRPr lang="en-US" sz="2100" dirty="0">
              <a:ea typeface="Calibri"/>
              <a:cs typeface="Calibri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500" b="1" dirty="0">
                <a:latin typeface="Source Sans Pro"/>
                <a:ea typeface="Source Sans Pro"/>
              </a:rPr>
              <a:t>Timing model: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Fully-event based (cycle-accurate), instances can generate events at specific time</a:t>
            </a:r>
            <a:endParaRPr lang="en-US" sz="2100" dirty="0">
              <a:ea typeface="Calibri"/>
              <a:cs typeface="Calibri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Includes timing models for interconnects, DMACs, memories…</a:t>
            </a:r>
            <a:endParaRPr lang="en-US" sz="2100" dirty="0">
              <a:ea typeface="Calibri"/>
              <a:cs typeface="Calibri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Performance counters for information on the execution</a:t>
            </a:r>
            <a:endParaRPr lang="en-US" sz="2100" dirty="0">
              <a:ea typeface="Calibri"/>
              <a:cs typeface="Calibri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500" b="1" dirty="0">
                <a:latin typeface="Source Sans Pro"/>
                <a:ea typeface="Source Sans Pro"/>
              </a:rPr>
              <a:t>Simulation performance</a:t>
            </a:r>
            <a:r>
              <a:rPr lang="en-US" sz="2500" dirty="0">
                <a:latin typeface="Source Sans Pro"/>
                <a:ea typeface="Source Sans Pro"/>
              </a:rPr>
              <a:t>:</a:t>
            </a:r>
            <a:endParaRPr lang="en-US" sz="2500" b="1" dirty="0">
              <a:latin typeface="Source Sans Pro"/>
              <a:ea typeface="Source Sans Pro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Around 1 Million Instructions Per Second (MIPS)</a:t>
            </a:r>
            <a:endParaRPr lang="en-US" sz="2100" dirty="0">
              <a:ea typeface="Calibri"/>
              <a:cs typeface="Calibri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Functionally aligned and calibrated with HW</a:t>
            </a:r>
            <a:endParaRPr lang="en-US" sz="2100" dirty="0">
              <a:ea typeface="Calibri"/>
              <a:cs typeface="Calibri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Timing accuracy is within 10-20% of target HW</a:t>
            </a:r>
            <a:endParaRPr lang="en-US" sz="2100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6F033-7188-4139-B672-EBF500EF328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50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68553D9B-52A9-47F6-8B1B-0A5053EA7F83}"/>
              </a:ext>
            </a:extLst>
          </p:cNvPr>
          <p:cNvSpPr/>
          <p:nvPr/>
        </p:nvSpPr>
        <p:spPr>
          <a:xfrm>
            <a:off x="5735960" y="5111025"/>
            <a:ext cx="4896544" cy="1576471"/>
          </a:xfrm>
          <a:prstGeom prst="rect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5B859A-AAE4-4390-BFAA-0A9244218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I: Sum values of a Vector on the PULP platform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630833A-4C8D-4F66-ADA3-A8B078C4EBDB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316501" y="990573"/>
                <a:ext cx="5596665" cy="5524351"/>
              </a:xfrm>
            </p:spPr>
            <p:txBody>
              <a:bodyPr/>
              <a:lstStyle/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sz="1800" dirty="0" err="1">
                    <a:solidFill>
                      <a:srgbClr val="00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vector_sum</a:t>
                </a:r>
                <a:r>
                  <a:rPr lang="en-US" sz="18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() </a:t>
                </a:r>
                <a:r>
                  <a:rPr lang="en-US" dirty="0"/>
                  <a:t>function returns the element-wise add of the values in </a:t>
                </a:r>
                <a:r>
                  <a:rPr lang="en-US" sz="18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array_1[N]</a:t>
                </a:r>
                <a:endParaRPr lang="en-US" dirty="0"/>
              </a:p>
              <a:p>
                <a:r>
                  <a:rPr lang="en-US" sz="18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main</a:t>
                </a:r>
                <a:r>
                  <a:rPr lang="en-US" dirty="0"/>
                  <a:t> includes the function testbench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nary>
                        <m:naryPr>
                          <m:chr m:val="∑"/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630833A-4C8D-4F66-ADA3-A8B078C4EB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16501" y="990573"/>
                <a:ext cx="5596665" cy="5524351"/>
              </a:xfrm>
              <a:blipFill>
                <a:blip r:embed="rId2"/>
                <a:stretch>
                  <a:fillRect l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D09EA1DA-6877-4129-8F68-FC65FD984E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300369-02D5-4B82-9EFD-32F751C7EF17}"/>
              </a:ext>
            </a:extLst>
          </p:cNvPr>
          <p:cNvSpPr/>
          <p:nvPr/>
        </p:nvSpPr>
        <p:spPr>
          <a:xfrm>
            <a:off x="6227012" y="3001911"/>
            <a:ext cx="984027" cy="311851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Arial Narrow" panose="020B0606020202030204" pitchFamily="34" charset="0"/>
              </a:rPr>
              <a:t>UART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D3D764-D5DB-4FE9-BBA1-EB5027854C0A}"/>
              </a:ext>
            </a:extLst>
          </p:cNvPr>
          <p:cNvSpPr/>
          <p:nvPr/>
        </p:nvSpPr>
        <p:spPr>
          <a:xfrm>
            <a:off x="6227012" y="3401616"/>
            <a:ext cx="984027" cy="311851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Arial Narrow" panose="020B0606020202030204" pitchFamily="34" charset="0"/>
              </a:rPr>
              <a:t>I2C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F20D9E-E86C-4B82-8001-8171FA3284A6}"/>
              </a:ext>
            </a:extLst>
          </p:cNvPr>
          <p:cNvSpPr/>
          <p:nvPr/>
        </p:nvSpPr>
        <p:spPr>
          <a:xfrm>
            <a:off x="6231249" y="3812537"/>
            <a:ext cx="984027" cy="311851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Arial Narrow" panose="020B0606020202030204" pitchFamily="34" charset="0"/>
              </a:rPr>
              <a:t>CPI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DA700E-4EB4-487B-8E79-EEBEA7BFE682}"/>
              </a:ext>
            </a:extLst>
          </p:cNvPr>
          <p:cNvSpPr/>
          <p:nvPr/>
        </p:nvSpPr>
        <p:spPr>
          <a:xfrm>
            <a:off x="6227012" y="2587571"/>
            <a:ext cx="984027" cy="311851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Arial Narrow" panose="020B0606020202030204" pitchFamily="34" charset="0"/>
              </a:rPr>
              <a:t>SPI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63610E-4A40-47E0-85EA-C4E45B2C0A0D}"/>
              </a:ext>
            </a:extLst>
          </p:cNvPr>
          <p:cNvSpPr/>
          <p:nvPr/>
        </p:nvSpPr>
        <p:spPr>
          <a:xfrm>
            <a:off x="6227012" y="2196628"/>
            <a:ext cx="984027" cy="311851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Arial Narrow" panose="020B0606020202030204" pitchFamily="34" charset="0"/>
              </a:rPr>
              <a:t>HyperBus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A23929-8F3D-49F6-BC8A-557FCC1EC992}"/>
              </a:ext>
            </a:extLst>
          </p:cNvPr>
          <p:cNvSpPr/>
          <p:nvPr/>
        </p:nvSpPr>
        <p:spPr>
          <a:xfrm>
            <a:off x="6227012" y="4200042"/>
            <a:ext cx="984027" cy="311851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Arial Narrow" panose="020B0606020202030204" pitchFamily="34" charset="0"/>
              </a:rPr>
              <a:t>GPIO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8C57E0-09A3-4E07-A55E-AA14B0356CF4}"/>
              </a:ext>
            </a:extLst>
          </p:cNvPr>
          <p:cNvSpPr/>
          <p:nvPr/>
        </p:nvSpPr>
        <p:spPr>
          <a:xfrm rot="5400000">
            <a:off x="6277685" y="3198335"/>
            <a:ext cx="2315264" cy="311851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Arial Narrow" panose="020B0606020202030204" pitchFamily="34" charset="0"/>
              </a:rPr>
              <a:t>Micro DMA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CDBD75-AE45-41DC-9273-A120BE36BD5E}"/>
              </a:ext>
            </a:extLst>
          </p:cNvPr>
          <p:cNvSpPr/>
          <p:nvPr/>
        </p:nvSpPr>
        <p:spPr>
          <a:xfrm>
            <a:off x="7659294" y="2822668"/>
            <a:ext cx="1347636" cy="169098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Arial Narrow" panose="020B0606020202030204" pitchFamily="34" charset="0"/>
              </a:rPr>
              <a:t>L2</a:t>
            </a:r>
          </a:p>
          <a:p>
            <a:pPr algn="ctr"/>
            <a:r>
              <a:rPr lang="en-US">
                <a:latin typeface="Arial Narrow" panose="020B0606020202030204" pitchFamily="34" charset="0"/>
              </a:rPr>
              <a:t>Memory</a:t>
            </a:r>
          </a:p>
          <a:p>
            <a:pPr algn="ctr"/>
            <a:r>
              <a:rPr lang="en-US">
                <a:latin typeface="Arial Narrow" panose="020B0606020202030204" pitchFamily="34" charset="0"/>
              </a:rPr>
              <a:t>512kB</a:t>
            </a:r>
          </a:p>
          <a:p>
            <a:pPr algn="ctr"/>
            <a:endParaRPr lang="en-US">
              <a:latin typeface="Arial Narrow" panose="020B0606020202030204" pitchFamily="34" charset="0"/>
            </a:endParaRPr>
          </a:p>
          <a:p>
            <a:pPr algn="ctr"/>
            <a:endParaRPr lang="en-US">
              <a:latin typeface="Arial Narrow" panose="020B0606020202030204" pitchFamily="34" charset="0"/>
            </a:endParaRPr>
          </a:p>
          <a:p>
            <a:pPr algn="ctr"/>
            <a:endParaRPr lang="en-US">
              <a:latin typeface="Arial Narrow" panose="020B0606020202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0A5BF0-B07D-474A-84E7-32CE52D681A0}"/>
              </a:ext>
            </a:extLst>
          </p:cNvPr>
          <p:cNvSpPr/>
          <p:nvPr/>
        </p:nvSpPr>
        <p:spPr>
          <a:xfrm>
            <a:off x="7681026" y="2204875"/>
            <a:ext cx="639847" cy="55114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Arial Narrow" panose="020B0606020202030204" pitchFamily="34" charset="0"/>
              </a:rPr>
              <a:t>FC</a:t>
            </a:r>
          </a:p>
          <a:p>
            <a:pPr algn="ctr"/>
            <a:r>
              <a:rPr lang="en-US">
                <a:latin typeface="Arial Narrow" panose="020B0606020202030204" pitchFamily="34" charset="0"/>
              </a:rPr>
              <a:t>Core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04A4CF-0FA6-4969-A8BA-A9427238ADAA}"/>
              </a:ext>
            </a:extLst>
          </p:cNvPr>
          <p:cNvSpPr/>
          <p:nvPr/>
        </p:nvSpPr>
        <p:spPr>
          <a:xfrm>
            <a:off x="6047166" y="1793039"/>
            <a:ext cx="5656313" cy="2952080"/>
          </a:xfrm>
          <a:prstGeom prst="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6DEA17-3F8F-4ACF-BBA9-2829192C3085}"/>
              </a:ext>
            </a:extLst>
          </p:cNvPr>
          <p:cNvSpPr/>
          <p:nvPr/>
        </p:nvSpPr>
        <p:spPr>
          <a:xfrm>
            <a:off x="9273733" y="2187199"/>
            <a:ext cx="761709" cy="556298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Arial Narrow" panose="020B0606020202030204" pitchFamily="34" charset="0"/>
              </a:rPr>
              <a:t>DMA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D21DCE-2AB4-49E6-8853-0BD93702B61A}"/>
              </a:ext>
            </a:extLst>
          </p:cNvPr>
          <p:cNvSpPr/>
          <p:nvPr/>
        </p:nvSpPr>
        <p:spPr>
          <a:xfrm>
            <a:off x="9273733" y="2822668"/>
            <a:ext cx="779776" cy="168922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Arial Narrow" panose="020B0606020202030204" pitchFamily="34" charset="0"/>
              </a:rPr>
              <a:t>L1 Cluster TCDM </a:t>
            </a:r>
          </a:p>
          <a:p>
            <a:pPr algn="ctr"/>
            <a:r>
              <a:rPr lang="en-US">
                <a:latin typeface="Arial Narrow" panose="020B0606020202030204" pitchFamily="34" charset="0"/>
              </a:rPr>
              <a:t>Mem</a:t>
            </a:r>
          </a:p>
          <a:p>
            <a:pPr algn="ctr"/>
            <a:r>
              <a:rPr lang="en-US">
                <a:latin typeface="Arial Narrow" panose="020B0606020202030204" pitchFamily="34" charset="0"/>
              </a:rPr>
              <a:t>64kB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9ED85-7F67-430A-BE1E-D6BA31A332B0}"/>
              </a:ext>
            </a:extLst>
          </p:cNvPr>
          <p:cNvSpPr/>
          <p:nvPr/>
        </p:nvSpPr>
        <p:spPr>
          <a:xfrm>
            <a:off x="10112180" y="2340303"/>
            <a:ext cx="639847" cy="494535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Arial Narrow" panose="020B0606020202030204" pitchFamily="34" charset="0"/>
              </a:rPr>
              <a:t>Core</a:t>
            </a:r>
          </a:p>
          <a:p>
            <a:pPr algn="ctr"/>
            <a:r>
              <a:rPr lang="en-US"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C4808C-EEE4-4E03-B66F-63844B8E9CAF}"/>
              </a:ext>
            </a:extLst>
          </p:cNvPr>
          <p:cNvSpPr/>
          <p:nvPr/>
        </p:nvSpPr>
        <p:spPr>
          <a:xfrm>
            <a:off x="10804354" y="2340303"/>
            <a:ext cx="639847" cy="494535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Arial Narrow" panose="020B0606020202030204" pitchFamily="34" charset="0"/>
              </a:rPr>
              <a:t>Core</a:t>
            </a:r>
          </a:p>
          <a:p>
            <a:pPr algn="ctr"/>
            <a:r>
              <a:rPr lang="en-US"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C2046B-3862-4BAD-B75D-3561CAB41262}"/>
              </a:ext>
            </a:extLst>
          </p:cNvPr>
          <p:cNvSpPr/>
          <p:nvPr/>
        </p:nvSpPr>
        <p:spPr>
          <a:xfrm>
            <a:off x="10106512" y="2868408"/>
            <a:ext cx="639847" cy="494535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Arial Narrow" panose="020B0606020202030204" pitchFamily="34" charset="0"/>
              </a:rPr>
              <a:t>Core</a:t>
            </a:r>
          </a:p>
          <a:p>
            <a:pPr algn="ctr"/>
            <a:r>
              <a:rPr lang="en-US">
                <a:latin typeface="Arial Narrow" panose="020B0606020202030204" pitchFamily="34" charset="0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F063FB-F5B2-4C20-8BE6-E529004DAE58}"/>
              </a:ext>
            </a:extLst>
          </p:cNvPr>
          <p:cNvSpPr/>
          <p:nvPr/>
        </p:nvSpPr>
        <p:spPr>
          <a:xfrm>
            <a:off x="10798686" y="2868408"/>
            <a:ext cx="639847" cy="494535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Arial Narrow" panose="020B0606020202030204" pitchFamily="34" charset="0"/>
              </a:rPr>
              <a:t>Core</a:t>
            </a:r>
          </a:p>
          <a:p>
            <a:pPr algn="ctr"/>
            <a:r>
              <a:rPr lang="en-US">
                <a:latin typeface="Arial Narrow" panose="020B0606020202030204" pitchFamily="34" charset="0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6DFB71-72F0-4CC4-A354-D5A7AAC2BB41}"/>
              </a:ext>
            </a:extLst>
          </p:cNvPr>
          <p:cNvSpPr/>
          <p:nvPr/>
        </p:nvSpPr>
        <p:spPr>
          <a:xfrm>
            <a:off x="10112180" y="3401774"/>
            <a:ext cx="639847" cy="494535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Arial Narrow" panose="020B0606020202030204" pitchFamily="34" charset="0"/>
              </a:rPr>
              <a:t>Core</a:t>
            </a:r>
          </a:p>
          <a:p>
            <a:pPr algn="ctr"/>
            <a:r>
              <a:rPr lang="en-US">
                <a:latin typeface="Arial Narrow" panose="020B0606020202030204" pitchFamily="34" charset="0"/>
              </a:rPr>
              <a:t>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0B8C83-BF38-478D-ADB5-9781DAC08424}"/>
              </a:ext>
            </a:extLst>
          </p:cNvPr>
          <p:cNvSpPr/>
          <p:nvPr/>
        </p:nvSpPr>
        <p:spPr>
          <a:xfrm>
            <a:off x="10804354" y="3401774"/>
            <a:ext cx="639847" cy="494535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Arial Narrow" panose="020B0606020202030204" pitchFamily="34" charset="0"/>
              </a:rPr>
              <a:t>Core</a:t>
            </a:r>
          </a:p>
          <a:p>
            <a:pPr algn="ctr"/>
            <a:r>
              <a:rPr lang="en-US">
                <a:latin typeface="Arial Narrow" panose="020B0606020202030204" pitchFamily="34" charset="0"/>
              </a:rPr>
              <a:t>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5C87A5-FD32-488E-88FA-B224B0E04ECF}"/>
              </a:ext>
            </a:extLst>
          </p:cNvPr>
          <p:cNvSpPr/>
          <p:nvPr/>
        </p:nvSpPr>
        <p:spPr>
          <a:xfrm>
            <a:off x="10112180" y="3929879"/>
            <a:ext cx="639847" cy="494535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Arial Narrow" panose="020B0606020202030204" pitchFamily="34" charset="0"/>
              </a:rPr>
              <a:t>Core</a:t>
            </a:r>
          </a:p>
          <a:p>
            <a:pPr algn="ctr"/>
            <a:r>
              <a:rPr lang="en-US">
                <a:latin typeface="Arial Narrow" panose="020B0606020202030204" pitchFamily="34" charset="0"/>
              </a:rPr>
              <a:t>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D9CC06-E71A-42FF-B850-C0A15FB6074C}"/>
              </a:ext>
            </a:extLst>
          </p:cNvPr>
          <p:cNvSpPr/>
          <p:nvPr/>
        </p:nvSpPr>
        <p:spPr>
          <a:xfrm>
            <a:off x="10804354" y="3929879"/>
            <a:ext cx="639847" cy="494535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Arial Narrow" panose="020B0606020202030204" pitchFamily="34" charset="0"/>
              </a:rPr>
              <a:t>Core</a:t>
            </a:r>
          </a:p>
          <a:p>
            <a:pPr algn="ctr"/>
            <a:r>
              <a:rPr lang="en-US">
                <a:latin typeface="Arial Narrow" panose="020B0606020202030204" pitchFamily="34" charset="0"/>
              </a:rPr>
              <a:t>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89DBD3-5AEC-4B5B-B39B-0243A65AC0CF}"/>
              </a:ext>
            </a:extLst>
          </p:cNvPr>
          <p:cNvSpPr/>
          <p:nvPr/>
        </p:nvSpPr>
        <p:spPr>
          <a:xfrm>
            <a:off x="9215063" y="2126262"/>
            <a:ext cx="2354416" cy="2505000"/>
          </a:xfrm>
          <a:prstGeom prst="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B8679C-ED13-49BD-A269-187F40892F52}"/>
              </a:ext>
            </a:extLst>
          </p:cNvPr>
          <p:cNvSpPr/>
          <p:nvPr/>
        </p:nvSpPr>
        <p:spPr>
          <a:xfrm>
            <a:off x="9273733" y="1815031"/>
            <a:ext cx="2055318" cy="315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Arial Narrow" panose="020B0606020202030204" pitchFamily="34" charset="0"/>
              </a:rPr>
              <a:t>Octa Core Cluster Domain</a:t>
            </a:r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DC104C-BFB4-4A16-AFFA-E967FC4EDF2B}"/>
              </a:ext>
            </a:extLst>
          </p:cNvPr>
          <p:cNvSpPr/>
          <p:nvPr/>
        </p:nvSpPr>
        <p:spPr>
          <a:xfrm>
            <a:off x="6161461" y="2128322"/>
            <a:ext cx="2919602" cy="2503126"/>
          </a:xfrm>
          <a:prstGeom prst="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197F26-529F-4B46-8F50-E14B13749CAF}"/>
              </a:ext>
            </a:extLst>
          </p:cNvPr>
          <p:cNvSpPr/>
          <p:nvPr/>
        </p:nvSpPr>
        <p:spPr>
          <a:xfrm>
            <a:off x="6124895" y="1810818"/>
            <a:ext cx="1819830" cy="315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Arial Narrow" panose="020B0606020202030204" pitchFamily="34" charset="0"/>
              </a:rPr>
              <a:t>Microcontroller Domain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A29714-E6DC-4B79-846B-129FD09FC535}"/>
              </a:ext>
            </a:extLst>
          </p:cNvPr>
          <p:cNvSpPr/>
          <p:nvPr/>
        </p:nvSpPr>
        <p:spPr>
          <a:xfrm>
            <a:off x="358950" y="965713"/>
            <a:ext cx="448118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cd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vector_sum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make clean all run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CE29CD-3AF3-47E9-82C3-4A3A9275F63C}"/>
              </a:ext>
            </a:extLst>
          </p:cNvPr>
          <p:cNvSpPr txBox="1"/>
          <p:nvPr/>
        </p:nvSpPr>
        <p:spPr>
          <a:xfrm>
            <a:off x="993764" y="1669914"/>
            <a:ext cx="30445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Output: </a:t>
            </a:r>
            <a:r>
              <a:rPr lang="en-US" dirty="0"/>
              <a:t>Result is correct </a:t>
            </a:r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36ACF081-4854-41F9-B373-03342698AFE4}"/>
              </a:ext>
            </a:extLst>
          </p:cNvPr>
          <p:cNvSpPr/>
          <p:nvPr/>
        </p:nvSpPr>
        <p:spPr>
          <a:xfrm flipH="1">
            <a:off x="1343472" y="5143054"/>
            <a:ext cx="238475" cy="912503"/>
          </a:xfrm>
          <a:prstGeom prst="rightBrace">
            <a:avLst>
              <a:gd name="adj1" fmla="val 5827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89421E-ECE4-49C6-8102-81E33B63B9D7}"/>
              </a:ext>
            </a:extLst>
          </p:cNvPr>
          <p:cNvSpPr txBox="1"/>
          <p:nvPr/>
        </p:nvSpPr>
        <p:spPr>
          <a:xfrm>
            <a:off x="124175" y="5096679"/>
            <a:ext cx="13972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Good practice for testing!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9E3C4D-21AC-4E2C-A545-A1860413AF9F}"/>
              </a:ext>
            </a:extLst>
          </p:cNvPr>
          <p:cNvSpPr/>
          <p:nvPr/>
        </p:nvSpPr>
        <p:spPr>
          <a:xfrm>
            <a:off x="9145178" y="1192689"/>
            <a:ext cx="2806645" cy="3744416"/>
          </a:xfrm>
          <a:prstGeom prst="rect">
            <a:avLst/>
          </a:prstGeom>
          <a:solidFill>
            <a:schemeClr val="bg1">
              <a:lumMod val="75000"/>
              <a:alpha val="63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CC6C13-32BA-4A16-8E0B-0AF4AF9F40FE}"/>
              </a:ext>
            </a:extLst>
          </p:cNvPr>
          <p:cNvSpPr txBox="1"/>
          <p:nvPr/>
        </p:nvSpPr>
        <p:spPr>
          <a:xfrm>
            <a:off x="10112712" y="1320051"/>
            <a:ext cx="95910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/>
              <a:t>OFF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3C5D0F-401E-461B-80A9-C08927A1C9E9}"/>
              </a:ext>
            </a:extLst>
          </p:cNvPr>
          <p:cNvSpPr txBox="1"/>
          <p:nvPr/>
        </p:nvSpPr>
        <p:spPr>
          <a:xfrm>
            <a:off x="6509259" y="1076503"/>
            <a:ext cx="243233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/>
              <a:t>Fabric Controller (FC) Core runs the program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59C2CA87-3F22-4450-BD0A-D8533DFB66A3}"/>
              </a:ext>
            </a:extLst>
          </p:cNvPr>
          <p:cNvSpPr/>
          <p:nvPr/>
        </p:nvSpPr>
        <p:spPr>
          <a:xfrm>
            <a:off x="8339769" y="1718631"/>
            <a:ext cx="332832" cy="738130"/>
          </a:xfrm>
          <a:custGeom>
            <a:avLst/>
            <a:gdLst>
              <a:gd name="connsiteX0" fmla="*/ 242371 w 332832"/>
              <a:gd name="connsiteY0" fmla="*/ 0 h 738130"/>
              <a:gd name="connsiteX1" fmla="*/ 319489 w 332832"/>
              <a:gd name="connsiteY1" fmla="*/ 418641 h 738130"/>
              <a:gd name="connsiteX2" fmla="*/ 0 w 332832"/>
              <a:gd name="connsiteY2" fmla="*/ 738130 h 738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2832" h="738130">
                <a:moveTo>
                  <a:pt x="242371" y="0"/>
                </a:moveTo>
                <a:cubicBezTo>
                  <a:pt x="301127" y="147809"/>
                  <a:pt x="359884" y="295619"/>
                  <a:pt x="319489" y="418641"/>
                </a:cubicBezTo>
                <a:cubicBezTo>
                  <a:pt x="279094" y="541663"/>
                  <a:pt x="139547" y="639896"/>
                  <a:pt x="0" y="738130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7211AD-7928-43D1-A9C9-E0A080F82D92}"/>
              </a:ext>
            </a:extLst>
          </p:cNvPr>
          <p:cNvSpPr txBox="1"/>
          <p:nvPr/>
        </p:nvSpPr>
        <p:spPr>
          <a:xfrm>
            <a:off x="7712859" y="3742420"/>
            <a:ext cx="984027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Source Sans Pro" panose="020B0503030403020204" pitchFamily="34" charset="0"/>
                <a:cs typeface="Times New Roman" panose="02020603050405020304" pitchFamily="18" charset="0"/>
              </a:rPr>
              <a:t>Array_1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FCA9DE-1DD9-404A-B015-54AAE65995A4}"/>
              </a:ext>
            </a:extLst>
          </p:cNvPr>
          <p:cNvSpPr txBox="1"/>
          <p:nvPr/>
        </p:nvSpPr>
        <p:spPr>
          <a:xfrm>
            <a:off x="7727709" y="4139207"/>
            <a:ext cx="984027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Source Sans Pro" panose="020B0503030403020204" pitchFamily="34" charset="0"/>
                <a:cs typeface="Times New Roman" panose="02020603050405020304" pitchFamily="18" charset="0"/>
              </a:rPr>
              <a:t>binary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BA6725-9638-40AB-8E6A-052C4EE51AEA}"/>
              </a:ext>
            </a:extLst>
          </p:cNvPr>
          <p:cNvSpPr txBox="1"/>
          <p:nvPr/>
        </p:nvSpPr>
        <p:spPr>
          <a:xfrm>
            <a:off x="5984489" y="5117837"/>
            <a:ext cx="50433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Now take a look at the code. </a:t>
            </a:r>
          </a:p>
          <a:p>
            <a:r>
              <a:rPr lang="en-US" sz="2400" b="1" dirty="0"/>
              <a:t>What happens if you change:  </a:t>
            </a:r>
          </a:p>
          <a:p>
            <a:r>
              <a:rPr lang="en-US" sz="2400" dirty="0"/>
              <a:t>(</a:t>
            </a:r>
            <a:r>
              <a:rPr lang="en-US" sz="2400" i="1" dirty="0"/>
              <a:t>line 13</a:t>
            </a:r>
            <a:r>
              <a:rPr lang="en-US" sz="2400" dirty="0"/>
              <a:t>)	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ea typeface="Source Sans Pro" panose="020B0503030403020204" pitchFamily="34" charset="0"/>
                <a:cs typeface="Times New Roman" panose="02020603050405020304" pitchFamily="18" charset="0"/>
              </a:rPr>
              <a:t>#define  N 350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How would you solve it?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BC9B59-D507-45A4-BC0A-9E9340B57FB2}"/>
              </a:ext>
            </a:extLst>
          </p:cNvPr>
          <p:cNvSpPr txBox="1"/>
          <p:nvPr/>
        </p:nvSpPr>
        <p:spPr>
          <a:xfrm>
            <a:off x="5004285" y="5457996"/>
            <a:ext cx="902057" cy="92333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GB"/>
              <a:t>Try on your own!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B2A73CC0-129B-CB3C-B39B-E8D40CDB4138}"/>
              </a:ext>
            </a:extLst>
          </p:cNvPr>
          <p:cNvSpPr txBox="1"/>
          <p:nvPr/>
        </p:nvSpPr>
        <p:spPr>
          <a:xfrm>
            <a:off x="1009034" y="5157130"/>
            <a:ext cx="4993391" cy="14839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143000" lvl="1" indent="-400050">
              <a:buFont typeface="+mj-lt"/>
              <a:buAutoNum type="romanUcPeriod"/>
            </a:pPr>
            <a:r>
              <a:rPr lang="en-US" dirty="0"/>
              <a:t>Array initialization (</a:t>
            </a:r>
            <a:r>
              <a:rPr lang="en-US" i="1" dirty="0"/>
              <a:t>a[</a:t>
            </a:r>
            <a:r>
              <a:rPr lang="en-US" i="1" dirty="0" err="1"/>
              <a:t>i</a:t>
            </a:r>
            <a:r>
              <a:rPr lang="en-US" i="1" dirty="0"/>
              <a:t>] = </a:t>
            </a:r>
            <a:r>
              <a:rPr lang="en-US" i="1" dirty="0" err="1"/>
              <a:t>i</a:t>
            </a:r>
            <a:r>
              <a:rPr lang="en-US" dirty="0"/>
              <a:t>)</a:t>
            </a:r>
          </a:p>
          <a:p>
            <a:pPr marL="1143000" lvl="1" indent="-400050">
              <a:buFont typeface="+mj-lt"/>
              <a:buAutoNum type="romanUcPeriod"/>
            </a:pPr>
            <a:r>
              <a:rPr lang="en-US" dirty="0"/>
              <a:t>Function call</a:t>
            </a:r>
          </a:p>
          <a:p>
            <a:pPr marL="1143000" lvl="1" indent="-400050">
              <a:buFont typeface="+mj-lt"/>
              <a:buAutoNum type="romanUcPeriod"/>
            </a:pPr>
            <a:r>
              <a:rPr lang="en-US" dirty="0"/>
              <a:t>Check result</a:t>
            </a:r>
          </a:p>
        </p:txBody>
      </p:sp>
    </p:spTree>
    <p:extLst>
      <p:ext uri="{BB962C8B-B14F-4D97-AF65-F5344CB8AC3E}">
        <p14:creationId xmlns:p14="http://schemas.microsoft.com/office/powerpoint/2010/main" val="4060723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5B859A-AAE4-4390-BFAA-0A9244218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Casting Variables and Passing Parameters via </a:t>
            </a:r>
            <a:r>
              <a:rPr lang="en-US" err="1"/>
              <a:t>Makefile</a:t>
            </a:r>
            <a:r>
              <a:rPr lang="en-US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0833A-4C8D-4F66-ADA3-A8B078C4EBD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(</a:t>
            </a:r>
            <a:r>
              <a:rPr lang="en-US" sz="2000" i="1" dirty="0"/>
              <a:t>line 13</a:t>
            </a:r>
            <a:r>
              <a:rPr lang="en-US" sz="2000" dirty="0"/>
              <a:t>)	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ea typeface="Source Sans Pro" panose="020B0503030403020204" pitchFamily="34" charset="0"/>
                <a:cs typeface="Times New Roman" panose="02020603050405020304" pitchFamily="18" charset="0"/>
              </a:rPr>
              <a:t>#define  N 350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B106D-A979-4177-AB87-674501C87F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58FE71-10A9-4718-848D-6757F3856D71}"/>
              </a:ext>
            </a:extLst>
          </p:cNvPr>
          <p:cNvSpPr txBox="1"/>
          <p:nvPr/>
        </p:nvSpPr>
        <p:spPr>
          <a:xfrm>
            <a:off x="911424" y="1628800"/>
            <a:ext cx="60978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/>
              <a:t>Output</a:t>
            </a:r>
            <a:r>
              <a:rPr lang="en-US" sz="2000"/>
              <a:t>: Result is </a:t>
            </a:r>
            <a:r>
              <a:rPr lang="en-US" sz="2000" b="1">
                <a:solidFill>
                  <a:srgbClr val="C00000"/>
                </a:solidFill>
              </a:rPr>
              <a:t>not</a:t>
            </a:r>
            <a:r>
              <a:rPr lang="en-US" sz="2000"/>
              <a:t> correct. Got 37105 instead of 61425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EAAD57-1FDF-4801-9BD5-F4C7312F1C9B}"/>
              </a:ext>
            </a:extLst>
          </p:cNvPr>
          <p:cNvSpPr txBox="1"/>
          <p:nvPr/>
        </p:nvSpPr>
        <p:spPr>
          <a:xfrm>
            <a:off x="920152" y="2780928"/>
            <a:ext cx="11000538" cy="37194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 2 3 4 5 6 7 8 9 10 11 12 13 14 [….] 247 248 249 250 251 252 253 254 255 </a:t>
            </a:r>
            <a:r>
              <a:rPr lang="en-US">
                <a:solidFill>
                  <a:srgbClr val="FF0000"/>
                </a:solidFill>
              </a:rPr>
              <a:t>0 1 2 3 4 5 6 7 8 […] 88 89 90 91 92 93 94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A655664-CE1F-4B20-B363-064F02775784}"/>
              </a:ext>
            </a:extLst>
          </p:cNvPr>
          <p:cNvSpPr txBox="1">
            <a:spLocks/>
          </p:cNvSpPr>
          <p:nvPr/>
        </p:nvSpPr>
        <p:spPr>
          <a:xfrm>
            <a:off x="527051" y="2224899"/>
            <a:ext cx="10897541" cy="214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If printing the </a:t>
            </a:r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array_1</a:t>
            </a:r>
            <a:r>
              <a:rPr lang="en-US"/>
              <a:t> values after initialization:</a:t>
            </a:r>
          </a:p>
          <a:p>
            <a:endParaRPr lang="en-US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unsigned char </a:t>
            </a:r>
            <a:r>
              <a:rPr lang="en-US"/>
              <a:t>datatype can represent numbers from 0 to 255!! If  &gt;255, assigned values get truncated (value % 256)!  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/>
              <a:t>Solution:</a:t>
            </a:r>
            <a:r>
              <a:rPr lang="en-US"/>
              <a:t> cast array_1 to </a:t>
            </a:r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int</a:t>
            </a:r>
            <a:r>
              <a:rPr lang="en-US"/>
              <a:t> or </a:t>
            </a:r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short int </a:t>
            </a:r>
            <a:r>
              <a:rPr lang="en-US"/>
              <a:t>(and the function’s arguments!)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BB7556-75B4-4F4A-8755-3858FEB2B243}"/>
              </a:ext>
            </a:extLst>
          </p:cNvPr>
          <p:cNvSpPr/>
          <p:nvPr/>
        </p:nvSpPr>
        <p:spPr>
          <a:xfrm>
            <a:off x="5951984" y="4696405"/>
            <a:ext cx="4368156" cy="19355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40D0F0-8F9F-42C9-BC7B-269B51A32C4E}"/>
              </a:ext>
            </a:extLst>
          </p:cNvPr>
          <p:cNvSpPr/>
          <p:nvPr/>
        </p:nvSpPr>
        <p:spPr>
          <a:xfrm>
            <a:off x="6059997" y="4816031"/>
            <a:ext cx="411612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 = test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N?=50</a:t>
            </a:r>
          </a:p>
          <a:p>
            <a:endParaRPr lang="en-US" sz="140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APP_SRCS	   += </a:t>
            </a:r>
            <a:r>
              <a:rPr lang="en-US" sz="140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test.c</a:t>
            </a:r>
            <a:endParaRPr lang="en-US" sz="140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APP_CFLAGS  += -O3 –g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APP_CFLAGS += -DN=$(N)</a:t>
            </a:r>
          </a:p>
          <a:p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APP_LDFLAGS += </a:t>
            </a:r>
          </a:p>
          <a:p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include $(RULES_DIR)/pmsis_rules.mk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AA156D-F5EA-4355-BD65-1F6CFF90C5BF}"/>
              </a:ext>
            </a:extLst>
          </p:cNvPr>
          <p:cNvSpPr txBox="1"/>
          <p:nvPr/>
        </p:nvSpPr>
        <p:spPr>
          <a:xfrm>
            <a:off x="8718961" y="4334478"/>
            <a:ext cx="1656184" cy="381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err="1"/>
              <a:t>Makefile</a:t>
            </a:r>
            <a:endParaRPr lang="en-US" i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E47013-14D4-4D84-86F4-C35C370507B3}"/>
              </a:ext>
            </a:extLst>
          </p:cNvPr>
          <p:cNvSpPr txBox="1"/>
          <p:nvPr/>
        </p:nvSpPr>
        <p:spPr>
          <a:xfrm>
            <a:off x="638729" y="4715714"/>
            <a:ext cx="44644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/>
              <a:t>After applying the fix</a:t>
            </a:r>
            <a:r>
              <a:rPr lang="en-US" sz="2400" dirty="0"/>
              <a:t>, comment line 13, change the </a:t>
            </a:r>
            <a:r>
              <a:rPr lang="en-US" sz="2400" i="1" dirty="0" err="1"/>
              <a:t>Makefile</a:t>
            </a:r>
            <a:r>
              <a:rPr lang="en-US" sz="2400" dirty="0"/>
              <a:t> and launch:</a:t>
            </a:r>
          </a:p>
          <a:p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AB25C7-6042-413A-AE86-937618CF8A29}"/>
              </a:ext>
            </a:extLst>
          </p:cNvPr>
          <p:cNvSpPr/>
          <p:nvPr/>
        </p:nvSpPr>
        <p:spPr>
          <a:xfrm>
            <a:off x="983432" y="6051787"/>
            <a:ext cx="3885791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make clean all run N=350</a:t>
            </a:r>
            <a:endParaRPr lang="en-US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209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FC51-9167-408B-845E-3BFE98670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/>
              <a:t>Try on your own: Find an element within an array</a:t>
            </a:r>
            <a:endParaRPr lang="it-IT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39AFFD3-5ACB-4A7A-8784-5030EE2106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3F71A65-2F38-4463-B476-657F65EA2BC6}"/>
              </a:ext>
            </a:extLst>
          </p:cNvPr>
          <p:cNvSpPr txBox="1">
            <a:spLocks/>
          </p:cNvSpPr>
          <p:nvPr/>
        </p:nvSpPr>
        <p:spPr>
          <a:xfrm>
            <a:off x="527051" y="3717032"/>
            <a:ext cx="11233149" cy="201622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Design a function that returns the index of a given element (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  <a:ea typeface="Source Sans Pro" panose="020B0503030403020204" pitchFamily="34" charset="0"/>
                <a:cs typeface="Times New Roman" panose="02020603050405020304" pitchFamily="18" charset="0"/>
              </a:rPr>
              <a:t>element_to_find</a:t>
            </a:r>
            <a:r>
              <a:rPr lang="en-GB" sz="2400" dirty="0"/>
              <a:t>) within an array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  <a:ea typeface="Source Sans Pro" panose="020B0503030403020204" pitchFamily="34" charset="0"/>
                <a:cs typeface="Times New Roman" panose="02020603050405020304" pitchFamily="18" charset="0"/>
              </a:rPr>
              <a:t>A_ar</a:t>
            </a:r>
            <a:endParaRPr lang="en-GB" sz="2400" dirty="0"/>
          </a:p>
          <a:p>
            <a:pPr marL="457200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ea typeface="Source Sans Pro" panose="020B0503030403020204" pitchFamily="34" charset="0"/>
                <a:cs typeface="Times New Roman" panose="02020603050405020304" pitchFamily="18" charset="0"/>
              </a:rPr>
              <a:t>int </a:t>
            </a:r>
            <a:r>
              <a:rPr lang="en-US" sz="2000" dirty="0" err="1">
                <a:solidFill>
                  <a:srgbClr val="000000"/>
                </a:solidFill>
                <a:latin typeface="Courier New" panose="02070309020205020404" pitchFamily="49" charset="0"/>
                <a:ea typeface="Source Sans Pro" panose="020B0503030403020204" pitchFamily="34" charset="0"/>
                <a:cs typeface="Times New Roman" panose="02020603050405020304" pitchFamily="18" charset="0"/>
              </a:rPr>
              <a:t>find_element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ea typeface="Source Sans Pro" panose="020B0503030403020204" pitchFamily="34" charset="0"/>
                <a:cs typeface="Times New Roman" panose="02020603050405020304" pitchFamily="18" charset="0"/>
              </a:rPr>
              <a:t>(int * </a:t>
            </a:r>
            <a:r>
              <a:rPr lang="en-US" sz="2000" dirty="0" err="1">
                <a:solidFill>
                  <a:srgbClr val="000000"/>
                </a:solidFill>
                <a:latin typeface="Courier New" panose="02070309020205020404" pitchFamily="49" charset="0"/>
                <a:ea typeface="Source Sans Pro" panose="020B0503030403020204" pitchFamily="34" charset="0"/>
                <a:cs typeface="Times New Roman" panose="02020603050405020304" pitchFamily="18" charset="0"/>
              </a:rPr>
              <a:t>A_ar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ea typeface="Source Sans Pro" panose="020B0503030403020204" pitchFamily="34" charset="0"/>
                <a:cs typeface="Times New Roman" panose="02020603050405020304" pitchFamily="18" charset="0"/>
              </a:rPr>
              <a:t>, int size, int </a:t>
            </a:r>
            <a:r>
              <a:rPr lang="en-US" sz="2000" dirty="0" err="1">
                <a:solidFill>
                  <a:srgbClr val="000000"/>
                </a:solidFill>
                <a:latin typeface="Courier New" panose="02070309020205020404" pitchFamily="49" charset="0"/>
                <a:ea typeface="Source Sans Pro" panose="020B0503030403020204" pitchFamily="34" charset="0"/>
                <a:cs typeface="Times New Roman" panose="02020603050405020304" pitchFamily="18" charset="0"/>
              </a:rPr>
              <a:t>element_to_find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ea typeface="Source Sans Pro" panose="020B0503030403020204" pitchFamily="34" charset="0"/>
                <a:cs typeface="Times New Roman" panose="02020603050405020304" pitchFamily="18" charset="0"/>
              </a:rPr>
              <a:t>)</a:t>
            </a:r>
            <a:r>
              <a:rPr lang="en-GB" sz="2000" dirty="0">
                <a:solidFill>
                  <a:srgbClr val="000000"/>
                </a:solidFill>
                <a:latin typeface="Courier New" panose="02070309020205020404" pitchFamily="49" charset="0"/>
                <a:ea typeface="Source Sans Pro" panose="020B0503030403020204" pitchFamily="34" charset="0"/>
                <a:cs typeface="Times New Roman" panose="02020603050405020304" pitchFamily="18" charset="0"/>
              </a:rPr>
              <a:t> </a:t>
            </a:r>
          </a:p>
          <a:p>
            <a:endParaRPr lang="en-GB" sz="2400" dirty="0"/>
          </a:p>
          <a:p>
            <a:pPr lvl="1"/>
            <a:r>
              <a:rPr lang="en-GB" sz="2000" dirty="0"/>
              <a:t>What is it returned if the </a:t>
            </a:r>
            <a:r>
              <a:rPr lang="en-GB" sz="2000" i="1" dirty="0" err="1"/>
              <a:t>element_to_find</a:t>
            </a:r>
            <a:r>
              <a:rPr lang="en-GB" sz="2000" i="1" dirty="0"/>
              <a:t> </a:t>
            </a:r>
            <a:r>
              <a:rPr lang="en-GB" sz="2000" dirty="0"/>
              <a:t>is not present in the array?</a:t>
            </a:r>
          </a:p>
          <a:p>
            <a:pPr lvl="1"/>
            <a:r>
              <a:rPr lang="en-GB" sz="2000" dirty="0"/>
              <a:t>What if multiple value of the array correspond to </a:t>
            </a:r>
            <a:r>
              <a:rPr lang="en-GB" sz="2000" i="1" dirty="0" err="1"/>
              <a:t>element_to_find</a:t>
            </a:r>
            <a:r>
              <a:rPr lang="en-GB" sz="2000" dirty="0"/>
              <a:t> ?</a:t>
            </a:r>
          </a:p>
          <a:p>
            <a:endParaRPr lang="en-GB" sz="2400" dirty="0"/>
          </a:p>
          <a:p>
            <a:pPr marL="0" indent="0">
              <a:buNone/>
            </a:pPr>
            <a:endParaRPr lang="en-GB" sz="2400" i="1" dirty="0"/>
          </a:p>
          <a:p>
            <a:pPr marL="0" indent="0">
              <a:buNone/>
            </a:pPr>
            <a:endParaRPr lang="en-GB" sz="24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BB5A26-5422-4AC5-8F80-130963A095CA}"/>
              </a:ext>
            </a:extLst>
          </p:cNvPr>
          <p:cNvSpPr/>
          <p:nvPr/>
        </p:nvSpPr>
        <p:spPr>
          <a:xfrm>
            <a:off x="6673280" y="2169897"/>
            <a:ext cx="4680520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cd array-find-element</a:t>
            </a:r>
          </a:p>
          <a:p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make clean all run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B59B19-0CAA-42B7-81CD-0A734E1531E5}"/>
              </a:ext>
            </a:extLst>
          </p:cNvPr>
          <p:cNvSpPr txBox="1"/>
          <p:nvPr/>
        </p:nvSpPr>
        <p:spPr>
          <a:xfrm>
            <a:off x="835943" y="11247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Which index corresponds to </a:t>
            </a:r>
            <a:r>
              <a:rPr lang="en-GB" i="1" dirty="0" err="1"/>
              <a:t>element_to_find</a:t>
            </a:r>
            <a:r>
              <a:rPr lang="en-GB" i="1" dirty="0"/>
              <a:t>=11</a:t>
            </a:r>
            <a:r>
              <a:rPr lang="en-GB" dirty="0"/>
              <a:t> ? </a:t>
            </a:r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DF3FE1DB-3EE4-4690-B81F-A40067C01227}"/>
              </a:ext>
            </a:extLst>
          </p:cNvPr>
          <p:cNvGraphicFramePr>
            <a:graphicFrameLocks noGrp="1"/>
          </p:cNvGraphicFramePr>
          <p:nvPr/>
        </p:nvGraphicFramePr>
        <p:xfrm>
          <a:off x="1343472" y="2307643"/>
          <a:ext cx="43668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6686">
                  <a:extLst>
                    <a:ext uri="{9D8B030D-6E8A-4147-A177-3AD203B41FA5}">
                      <a16:colId xmlns:a16="http://schemas.microsoft.com/office/drawing/2014/main" val="1107415782"/>
                    </a:ext>
                  </a:extLst>
                </a:gridCol>
                <a:gridCol w="436686">
                  <a:extLst>
                    <a:ext uri="{9D8B030D-6E8A-4147-A177-3AD203B41FA5}">
                      <a16:colId xmlns:a16="http://schemas.microsoft.com/office/drawing/2014/main" val="81326884"/>
                    </a:ext>
                  </a:extLst>
                </a:gridCol>
                <a:gridCol w="436686">
                  <a:extLst>
                    <a:ext uri="{9D8B030D-6E8A-4147-A177-3AD203B41FA5}">
                      <a16:colId xmlns:a16="http://schemas.microsoft.com/office/drawing/2014/main" val="1681342917"/>
                    </a:ext>
                  </a:extLst>
                </a:gridCol>
                <a:gridCol w="436686">
                  <a:extLst>
                    <a:ext uri="{9D8B030D-6E8A-4147-A177-3AD203B41FA5}">
                      <a16:colId xmlns:a16="http://schemas.microsoft.com/office/drawing/2014/main" val="872479682"/>
                    </a:ext>
                  </a:extLst>
                </a:gridCol>
                <a:gridCol w="436686">
                  <a:extLst>
                    <a:ext uri="{9D8B030D-6E8A-4147-A177-3AD203B41FA5}">
                      <a16:colId xmlns:a16="http://schemas.microsoft.com/office/drawing/2014/main" val="3277546253"/>
                    </a:ext>
                  </a:extLst>
                </a:gridCol>
                <a:gridCol w="436686">
                  <a:extLst>
                    <a:ext uri="{9D8B030D-6E8A-4147-A177-3AD203B41FA5}">
                      <a16:colId xmlns:a16="http://schemas.microsoft.com/office/drawing/2014/main" val="4083101780"/>
                    </a:ext>
                  </a:extLst>
                </a:gridCol>
                <a:gridCol w="436686">
                  <a:extLst>
                    <a:ext uri="{9D8B030D-6E8A-4147-A177-3AD203B41FA5}">
                      <a16:colId xmlns:a16="http://schemas.microsoft.com/office/drawing/2014/main" val="17736955"/>
                    </a:ext>
                  </a:extLst>
                </a:gridCol>
                <a:gridCol w="436686">
                  <a:extLst>
                    <a:ext uri="{9D8B030D-6E8A-4147-A177-3AD203B41FA5}">
                      <a16:colId xmlns:a16="http://schemas.microsoft.com/office/drawing/2014/main" val="2331587"/>
                    </a:ext>
                  </a:extLst>
                </a:gridCol>
                <a:gridCol w="436686">
                  <a:extLst>
                    <a:ext uri="{9D8B030D-6E8A-4147-A177-3AD203B41FA5}">
                      <a16:colId xmlns:a16="http://schemas.microsoft.com/office/drawing/2014/main" val="538228835"/>
                    </a:ext>
                  </a:extLst>
                </a:gridCol>
                <a:gridCol w="436686">
                  <a:extLst>
                    <a:ext uri="{9D8B030D-6E8A-4147-A177-3AD203B41FA5}">
                      <a16:colId xmlns:a16="http://schemas.microsoft.com/office/drawing/2014/main" val="14411251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223597"/>
                  </a:ext>
                </a:extLst>
              </a:tr>
            </a:tbl>
          </a:graphicData>
        </a:graphic>
      </p:graphicFrame>
      <p:sp>
        <p:nvSpPr>
          <p:cNvPr id="8" name="Right Brace 7">
            <a:extLst>
              <a:ext uri="{FF2B5EF4-FFF2-40B4-BE49-F238E27FC236}">
                <a16:creationId xmlns:a16="http://schemas.microsoft.com/office/drawing/2014/main" id="{B168D701-342E-4D43-868D-93CA23568382}"/>
              </a:ext>
            </a:extLst>
          </p:cNvPr>
          <p:cNvSpPr/>
          <p:nvPr/>
        </p:nvSpPr>
        <p:spPr>
          <a:xfrm rot="16200000">
            <a:off x="3432230" y="-84382"/>
            <a:ext cx="189344" cy="43668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405498-A9B5-4073-8CF8-28A7DF7BC869}"/>
              </a:ext>
            </a:extLst>
          </p:cNvPr>
          <p:cNvSpPr txBox="1"/>
          <p:nvPr/>
        </p:nvSpPr>
        <p:spPr>
          <a:xfrm>
            <a:off x="2855640" y="1635043"/>
            <a:ext cx="1587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>
                <a:latin typeface="Consolas" panose="020B0609020204030204" pitchFamily="49" charset="0"/>
              </a:rPr>
              <a:t>a</a:t>
            </a:r>
            <a:r>
              <a:rPr lang="en-GB" sz="1800">
                <a:latin typeface="Consolas" panose="020B0609020204030204" pitchFamily="49" charset="0"/>
              </a:rPr>
              <a:t>rray[N]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48967BB8-EC45-4630-9C55-7FAB66EF9789}"/>
              </a:ext>
            </a:extLst>
          </p:cNvPr>
          <p:cNvSpPr/>
          <p:nvPr/>
        </p:nvSpPr>
        <p:spPr>
          <a:xfrm flipV="1">
            <a:off x="4007768" y="2631195"/>
            <a:ext cx="360040" cy="370841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B2C96A-BFE3-4E11-9A78-D873140427AB}"/>
              </a:ext>
            </a:extLst>
          </p:cNvPr>
          <p:cNvSpPr txBox="1"/>
          <p:nvPr/>
        </p:nvSpPr>
        <p:spPr>
          <a:xfrm>
            <a:off x="3393789" y="3013091"/>
            <a:ext cx="1587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/>
              <a:t>return = </a:t>
            </a:r>
            <a:r>
              <a:rPr lang="en-GB">
                <a:latin typeface="Consolas" panose="020B0609020204030204" pitchFamily="49" charset="0"/>
              </a:rPr>
              <a:t>6</a:t>
            </a:r>
            <a:endParaRPr 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805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7F16CF-63A8-49E6-B9E2-1225978E5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Source Sans Pro"/>
                <a:ea typeface="Source Sans Pro"/>
              </a:rPr>
              <a:t>Example II: Matrix-Vector Product</a:t>
            </a:r>
            <a:br>
              <a:rPr lang="en-US">
                <a:latin typeface="Source Sans Pro"/>
                <a:ea typeface="Source Sans Pro"/>
              </a:rPr>
            </a:br>
            <a:endParaRPr lang="en-US">
              <a:latin typeface="Source Sans Pro"/>
              <a:ea typeface="Source Sans Pr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60CCB-7CBC-4928-982E-A052A1E6699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CC9E2E14-FEF4-4F01-92D9-1B99B251847B}"/>
              </a:ext>
            </a:extLst>
          </p:cNvPr>
          <p:cNvSpPr/>
          <p:nvPr/>
        </p:nvSpPr>
        <p:spPr>
          <a:xfrm>
            <a:off x="3647728" y="2339364"/>
            <a:ext cx="19358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D62D5B33-3A06-4873-A293-FAE0FE02F260}"/>
              </a:ext>
            </a:extLst>
          </p:cNvPr>
          <p:cNvSpPr/>
          <p:nvPr/>
        </p:nvSpPr>
        <p:spPr>
          <a:xfrm>
            <a:off x="3935759" y="2339364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96AE4CEF-01FB-47AF-8F0B-3E3611570443}"/>
              </a:ext>
            </a:extLst>
          </p:cNvPr>
          <p:cNvSpPr/>
          <p:nvPr/>
        </p:nvSpPr>
        <p:spPr>
          <a:xfrm>
            <a:off x="4575447" y="2339364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FB303094-31CC-421D-BEFF-6C88506E5CDF}"/>
              </a:ext>
            </a:extLst>
          </p:cNvPr>
          <p:cNvSpPr/>
          <p:nvPr/>
        </p:nvSpPr>
        <p:spPr>
          <a:xfrm>
            <a:off x="5231903" y="2339364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84C24912-4147-477A-BD0F-30C43E8815FA}"/>
              </a:ext>
            </a:extLst>
          </p:cNvPr>
          <p:cNvSpPr/>
          <p:nvPr/>
        </p:nvSpPr>
        <p:spPr>
          <a:xfrm>
            <a:off x="3647728" y="2699404"/>
            <a:ext cx="19358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7F7C10B9-1695-4AA0-B870-E1A6724D1BA0}"/>
              </a:ext>
            </a:extLst>
          </p:cNvPr>
          <p:cNvSpPr/>
          <p:nvPr/>
        </p:nvSpPr>
        <p:spPr>
          <a:xfrm>
            <a:off x="3935759" y="2699404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D867811B-5B7E-4426-8C98-DFC7F3DB0C22}"/>
              </a:ext>
            </a:extLst>
          </p:cNvPr>
          <p:cNvSpPr/>
          <p:nvPr/>
        </p:nvSpPr>
        <p:spPr>
          <a:xfrm>
            <a:off x="4575447" y="2699404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2B76A835-3616-4E50-811B-E0EBB639A88C}"/>
              </a:ext>
            </a:extLst>
          </p:cNvPr>
          <p:cNvSpPr/>
          <p:nvPr/>
        </p:nvSpPr>
        <p:spPr>
          <a:xfrm>
            <a:off x="5231903" y="2699404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24353A92-52BF-4D6C-83E0-D0D3819B9CBC}"/>
              </a:ext>
            </a:extLst>
          </p:cNvPr>
          <p:cNvSpPr/>
          <p:nvPr/>
        </p:nvSpPr>
        <p:spPr>
          <a:xfrm>
            <a:off x="3647728" y="3055637"/>
            <a:ext cx="19358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9259787C-1F55-45BD-831D-0417205FADEE}"/>
              </a:ext>
            </a:extLst>
          </p:cNvPr>
          <p:cNvSpPr/>
          <p:nvPr/>
        </p:nvSpPr>
        <p:spPr>
          <a:xfrm>
            <a:off x="3935759" y="3055637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E82FEF69-72AB-435F-BE34-F3535760B23B}"/>
              </a:ext>
            </a:extLst>
          </p:cNvPr>
          <p:cNvSpPr/>
          <p:nvPr/>
        </p:nvSpPr>
        <p:spPr>
          <a:xfrm>
            <a:off x="4575447" y="3055637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508041D2-C3FF-4A6F-B94D-85579F4F2093}"/>
              </a:ext>
            </a:extLst>
          </p:cNvPr>
          <p:cNvSpPr/>
          <p:nvPr/>
        </p:nvSpPr>
        <p:spPr>
          <a:xfrm>
            <a:off x="5231903" y="3055637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5B409427-9B1F-4F7F-9504-6330EFEB76A5}"/>
              </a:ext>
            </a:extLst>
          </p:cNvPr>
          <p:cNvCxnSpPr>
            <a:cxnSpLocks/>
          </p:cNvCxnSpPr>
          <p:nvPr/>
        </p:nvCxnSpPr>
        <p:spPr>
          <a:xfrm>
            <a:off x="3359696" y="2339364"/>
            <a:ext cx="3147" cy="10043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E928B30E-5082-4D81-8DA9-DD3970F34AC8}"/>
              </a:ext>
            </a:extLst>
          </p:cNvPr>
          <p:cNvCxnSpPr>
            <a:cxnSpLocks/>
          </p:cNvCxnSpPr>
          <p:nvPr/>
        </p:nvCxnSpPr>
        <p:spPr>
          <a:xfrm flipH="1">
            <a:off x="3359696" y="3343669"/>
            <a:ext cx="17582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0DD6A1DB-1778-4891-9040-26BB7CE60B0A}"/>
              </a:ext>
            </a:extLst>
          </p:cNvPr>
          <p:cNvCxnSpPr>
            <a:cxnSpLocks/>
          </p:cNvCxnSpPr>
          <p:nvPr/>
        </p:nvCxnSpPr>
        <p:spPr>
          <a:xfrm flipH="1">
            <a:off x="3359696" y="2343488"/>
            <a:ext cx="17582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4DFFE20A-B315-420D-BCA5-E811A6E73335}"/>
              </a:ext>
            </a:extLst>
          </p:cNvPr>
          <p:cNvSpPr txBox="1"/>
          <p:nvPr/>
        </p:nvSpPr>
        <p:spPr>
          <a:xfrm>
            <a:off x="2854362" y="2696669"/>
            <a:ext cx="55755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b="1"/>
              <a:t>N</a:t>
            </a:r>
            <a:endParaRPr lang="en-GB" b="1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10BE7ECF-6334-45E9-86FE-3999724C68FD}"/>
              </a:ext>
            </a:extLst>
          </p:cNvPr>
          <p:cNvSpPr/>
          <p:nvPr/>
        </p:nvSpPr>
        <p:spPr>
          <a:xfrm rot="5400000">
            <a:off x="5488124" y="2617076"/>
            <a:ext cx="1935832" cy="28803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81E7EB3C-D0E9-4874-B9E3-DECBF60C7B8F}"/>
              </a:ext>
            </a:extLst>
          </p:cNvPr>
          <p:cNvSpPr/>
          <p:nvPr/>
        </p:nvSpPr>
        <p:spPr>
          <a:xfrm rot="5400000">
            <a:off x="6280212" y="2115117"/>
            <a:ext cx="351656" cy="28803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7A253E34-E7BF-436C-84B7-242A02F256DB}"/>
              </a:ext>
            </a:extLst>
          </p:cNvPr>
          <p:cNvSpPr/>
          <p:nvPr/>
        </p:nvSpPr>
        <p:spPr>
          <a:xfrm rot="5400000">
            <a:off x="6280212" y="2765283"/>
            <a:ext cx="351656" cy="28803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90BF4A50-CF0D-44E6-B1B8-BB08B785B24B}"/>
              </a:ext>
            </a:extLst>
          </p:cNvPr>
          <p:cNvSpPr/>
          <p:nvPr/>
        </p:nvSpPr>
        <p:spPr>
          <a:xfrm rot="5400000">
            <a:off x="6277065" y="3414263"/>
            <a:ext cx="351656" cy="28803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1F77EDF3-8C52-44CC-92BB-ED51C3E2F235}"/>
              </a:ext>
            </a:extLst>
          </p:cNvPr>
          <p:cNvSpPr txBox="1"/>
          <p:nvPr/>
        </p:nvSpPr>
        <p:spPr>
          <a:xfrm>
            <a:off x="5817704" y="2656850"/>
            <a:ext cx="42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X</a:t>
            </a:r>
            <a:endParaRPr lang="en-GB" b="1"/>
          </a:p>
        </p:txBody>
      </p: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5FC4BBAC-A255-4426-ADB4-E16C91C7EA2E}"/>
              </a:ext>
            </a:extLst>
          </p:cNvPr>
          <p:cNvCxnSpPr>
            <a:cxnSpLocks/>
          </p:cNvCxnSpPr>
          <p:nvPr/>
        </p:nvCxnSpPr>
        <p:spPr>
          <a:xfrm flipH="1">
            <a:off x="3598846" y="1979325"/>
            <a:ext cx="1" cy="1743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diritto 33">
            <a:extLst>
              <a:ext uri="{FF2B5EF4-FFF2-40B4-BE49-F238E27FC236}">
                <a16:creationId xmlns:a16="http://schemas.microsoft.com/office/drawing/2014/main" id="{C8F136F0-5046-4570-9137-34EB1F2F18A2}"/>
              </a:ext>
            </a:extLst>
          </p:cNvPr>
          <p:cNvCxnSpPr>
            <a:cxnSpLocks/>
          </p:cNvCxnSpPr>
          <p:nvPr/>
        </p:nvCxnSpPr>
        <p:spPr>
          <a:xfrm flipV="1">
            <a:off x="5553277" y="1979325"/>
            <a:ext cx="0" cy="1743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0D2E8ECB-5ACA-44CD-979A-15CB249282B0}"/>
              </a:ext>
            </a:extLst>
          </p:cNvPr>
          <p:cNvCxnSpPr>
            <a:cxnSpLocks/>
          </p:cNvCxnSpPr>
          <p:nvPr/>
        </p:nvCxnSpPr>
        <p:spPr>
          <a:xfrm flipH="1">
            <a:off x="3597617" y="1979325"/>
            <a:ext cx="19556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7366D5FC-1F87-4BC3-A57A-4741A1A73EFE}"/>
              </a:ext>
            </a:extLst>
          </p:cNvPr>
          <p:cNvSpPr txBox="1"/>
          <p:nvPr/>
        </p:nvSpPr>
        <p:spPr>
          <a:xfrm>
            <a:off x="4446097" y="1661002"/>
            <a:ext cx="64661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b="1"/>
              <a:t>M</a:t>
            </a:r>
            <a:endParaRPr lang="en-GB" b="1"/>
          </a:p>
        </p:txBody>
      </p: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F73913F0-4CD5-4856-82DC-9E63079262F8}"/>
              </a:ext>
            </a:extLst>
          </p:cNvPr>
          <p:cNvCxnSpPr>
            <a:cxnSpLocks/>
          </p:cNvCxnSpPr>
          <p:nvPr/>
        </p:nvCxnSpPr>
        <p:spPr>
          <a:xfrm>
            <a:off x="6871425" y="1793176"/>
            <a:ext cx="26000" cy="19358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diritto 38">
            <a:extLst>
              <a:ext uri="{FF2B5EF4-FFF2-40B4-BE49-F238E27FC236}">
                <a16:creationId xmlns:a16="http://schemas.microsoft.com/office/drawing/2014/main" id="{35453608-9899-4920-AFFB-3A641C95F209}"/>
              </a:ext>
            </a:extLst>
          </p:cNvPr>
          <p:cNvCxnSpPr>
            <a:cxnSpLocks/>
          </p:cNvCxnSpPr>
          <p:nvPr/>
        </p:nvCxnSpPr>
        <p:spPr>
          <a:xfrm flipH="1">
            <a:off x="6721597" y="3732891"/>
            <a:ext cx="17582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diritto 39">
            <a:extLst>
              <a:ext uri="{FF2B5EF4-FFF2-40B4-BE49-F238E27FC236}">
                <a16:creationId xmlns:a16="http://schemas.microsoft.com/office/drawing/2014/main" id="{B448C795-2E39-420D-B939-D95E87F15CC5}"/>
              </a:ext>
            </a:extLst>
          </p:cNvPr>
          <p:cNvCxnSpPr>
            <a:cxnSpLocks/>
          </p:cNvCxnSpPr>
          <p:nvPr/>
        </p:nvCxnSpPr>
        <p:spPr>
          <a:xfrm flipH="1">
            <a:off x="6695597" y="1786779"/>
            <a:ext cx="17582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3873BFB4-B4E9-4CB3-AFC3-153DB39D2AB9}"/>
              </a:ext>
            </a:extLst>
          </p:cNvPr>
          <p:cNvSpPr txBox="1"/>
          <p:nvPr/>
        </p:nvSpPr>
        <p:spPr>
          <a:xfrm>
            <a:off x="6928676" y="2576426"/>
            <a:ext cx="42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M</a:t>
            </a:r>
            <a:endParaRPr lang="en-GB" b="1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3AFAE5B8-E713-4B3B-BEFA-49E8E51E2424}"/>
              </a:ext>
            </a:extLst>
          </p:cNvPr>
          <p:cNvSpPr txBox="1"/>
          <p:nvPr/>
        </p:nvSpPr>
        <p:spPr>
          <a:xfrm>
            <a:off x="7330530" y="2583937"/>
            <a:ext cx="42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=</a:t>
            </a:r>
            <a:endParaRPr lang="en-GB" b="1"/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08C5A66D-0DA2-4347-9615-EBACE53E6307}"/>
              </a:ext>
            </a:extLst>
          </p:cNvPr>
          <p:cNvSpPr/>
          <p:nvPr/>
        </p:nvSpPr>
        <p:spPr>
          <a:xfrm>
            <a:off x="7723184" y="2339884"/>
            <a:ext cx="354972" cy="2690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EA24EF1F-FB35-4FB0-9A88-9C08CAA2DE63}"/>
              </a:ext>
            </a:extLst>
          </p:cNvPr>
          <p:cNvSpPr/>
          <p:nvPr/>
        </p:nvSpPr>
        <p:spPr>
          <a:xfrm>
            <a:off x="7723184" y="2676678"/>
            <a:ext cx="354972" cy="2690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12092630-C30B-446C-886B-D4E216C67FD3}"/>
              </a:ext>
            </a:extLst>
          </p:cNvPr>
          <p:cNvSpPr/>
          <p:nvPr/>
        </p:nvSpPr>
        <p:spPr>
          <a:xfrm>
            <a:off x="7723184" y="3013472"/>
            <a:ext cx="354972" cy="2690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2" name="Connettore diritto 51">
            <a:extLst>
              <a:ext uri="{FF2B5EF4-FFF2-40B4-BE49-F238E27FC236}">
                <a16:creationId xmlns:a16="http://schemas.microsoft.com/office/drawing/2014/main" id="{ED7A80FC-90D1-45BE-92CB-E306FA7DBD1A}"/>
              </a:ext>
            </a:extLst>
          </p:cNvPr>
          <p:cNvCxnSpPr>
            <a:cxnSpLocks/>
          </p:cNvCxnSpPr>
          <p:nvPr/>
        </p:nvCxnSpPr>
        <p:spPr>
          <a:xfrm>
            <a:off x="8360083" y="2306072"/>
            <a:ext cx="3147" cy="10043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diritto 52">
            <a:extLst>
              <a:ext uri="{FF2B5EF4-FFF2-40B4-BE49-F238E27FC236}">
                <a16:creationId xmlns:a16="http://schemas.microsoft.com/office/drawing/2014/main" id="{F2214A9A-A13D-4780-A576-86C0451D484D}"/>
              </a:ext>
            </a:extLst>
          </p:cNvPr>
          <p:cNvCxnSpPr>
            <a:cxnSpLocks/>
          </p:cNvCxnSpPr>
          <p:nvPr/>
        </p:nvCxnSpPr>
        <p:spPr>
          <a:xfrm flipH="1">
            <a:off x="8185829" y="3310377"/>
            <a:ext cx="17582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diritto 53">
            <a:extLst>
              <a:ext uri="{FF2B5EF4-FFF2-40B4-BE49-F238E27FC236}">
                <a16:creationId xmlns:a16="http://schemas.microsoft.com/office/drawing/2014/main" id="{9F879976-2418-438F-8156-22AE02564B6B}"/>
              </a:ext>
            </a:extLst>
          </p:cNvPr>
          <p:cNvCxnSpPr>
            <a:cxnSpLocks/>
          </p:cNvCxnSpPr>
          <p:nvPr/>
        </p:nvCxnSpPr>
        <p:spPr>
          <a:xfrm flipH="1">
            <a:off x="8185829" y="2310196"/>
            <a:ext cx="17582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BCD62E86-1E6E-4C33-9795-F9C68C639897}"/>
              </a:ext>
            </a:extLst>
          </p:cNvPr>
          <p:cNvSpPr txBox="1"/>
          <p:nvPr/>
        </p:nvSpPr>
        <p:spPr>
          <a:xfrm>
            <a:off x="8397775" y="2602369"/>
            <a:ext cx="42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N</a:t>
            </a:r>
            <a:endParaRPr lang="en-GB" b="1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7ABCF27-0BA8-4339-93EF-F07D98519E8C}"/>
              </a:ext>
            </a:extLst>
          </p:cNvPr>
          <p:cNvSpPr/>
          <p:nvPr/>
        </p:nvSpPr>
        <p:spPr>
          <a:xfrm>
            <a:off x="3342968" y="4929531"/>
            <a:ext cx="448118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cd </a:t>
            </a:r>
            <a:r>
              <a:rPr lang="en-US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matrix_vector</a:t>
            </a:r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make clean all run</a:t>
            </a:r>
            <a:endParaRPr lang="en-US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91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27E8F0-518E-4518-94B0-B836EA3A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II: Matrix-Vector Product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6EEE7-F5B4-4877-9E88-3030D634B5F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 multi-dimensional array (e.g., a matrix) is stored in its flattened form.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55C4973-5354-4C5D-B381-4BEA72233D6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F1D1FCF5-6C51-4CA2-838C-4491F38E9818}"/>
              </a:ext>
            </a:extLst>
          </p:cNvPr>
          <p:cNvSpPr/>
          <p:nvPr/>
        </p:nvSpPr>
        <p:spPr>
          <a:xfrm>
            <a:off x="5520783" y="2934074"/>
            <a:ext cx="5823905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F8E5C87B-BA45-41AC-8AFC-94C5C2EDCDD6}"/>
              </a:ext>
            </a:extLst>
          </p:cNvPr>
          <p:cNvSpPr/>
          <p:nvPr/>
        </p:nvSpPr>
        <p:spPr>
          <a:xfrm>
            <a:off x="5808815" y="2934074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DAC899E-21FB-4FB3-8079-8AA0598AC8E5}"/>
              </a:ext>
            </a:extLst>
          </p:cNvPr>
          <p:cNvSpPr/>
          <p:nvPr/>
        </p:nvSpPr>
        <p:spPr>
          <a:xfrm>
            <a:off x="6448503" y="2934074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DF2C3A6-1B83-4183-8FD0-546C4AD7493C}"/>
              </a:ext>
            </a:extLst>
          </p:cNvPr>
          <p:cNvSpPr/>
          <p:nvPr/>
        </p:nvSpPr>
        <p:spPr>
          <a:xfrm>
            <a:off x="7104959" y="2934074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3691F2B-73FB-449F-A38F-94C6A495ED2F}"/>
              </a:ext>
            </a:extLst>
          </p:cNvPr>
          <p:cNvSpPr/>
          <p:nvPr/>
        </p:nvSpPr>
        <p:spPr>
          <a:xfrm>
            <a:off x="7744647" y="2934074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3722B4E-C0CC-47FF-BE53-8AC7D826EB1E}"/>
              </a:ext>
            </a:extLst>
          </p:cNvPr>
          <p:cNvSpPr/>
          <p:nvPr/>
        </p:nvSpPr>
        <p:spPr>
          <a:xfrm>
            <a:off x="8426677" y="2934074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C3D20CC-6C60-4611-94BC-1A88A049BFFF}"/>
              </a:ext>
            </a:extLst>
          </p:cNvPr>
          <p:cNvSpPr/>
          <p:nvPr/>
        </p:nvSpPr>
        <p:spPr>
          <a:xfrm>
            <a:off x="9066365" y="2934074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DD7CAA7E-91AE-439D-9D61-945A64659892}"/>
              </a:ext>
            </a:extLst>
          </p:cNvPr>
          <p:cNvSpPr/>
          <p:nvPr/>
        </p:nvSpPr>
        <p:spPr>
          <a:xfrm>
            <a:off x="9722821" y="2934074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D88F77F-48DD-4BF3-9768-475D8E1C7866}"/>
              </a:ext>
            </a:extLst>
          </p:cNvPr>
          <p:cNvSpPr/>
          <p:nvPr/>
        </p:nvSpPr>
        <p:spPr>
          <a:xfrm>
            <a:off x="10362509" y="2934074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B71BA964-C870-47F5-BEA2-3E3924620707}"/>
              </a:ext>
            </a:extLst>
          </p:cNvPr>
          <p:cNvSpPr/>
          <p:nvPr/>
        </p:nvSpPr>
        <p:spPr>
          <a:xfrm>
            <a:off x="10993032" y="2934074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C28FC367-EC20-4CE3-9ED1-83DE71083A95}"/>
              </a:ext>
            </a:extLst>
          </p:cNvPr>
          <p:cNvSpPr/>
          <p:nvPr/>
        </p:nvSpPr>
        <p:spPr>
          <a:xfrm>
            <a:off x="1559496" y="2636912"/>
            <a:ext cx="19358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D3973443-FECF-4860-A52E-D042F095EAC1}"/>
              </a:ext>
            </a:extLst>
          </p:cNvPr>
          <p:cNvSpPr/>
          <p:nvPr/>
        </p:nvSpPr>
        <p:spPr>
          <a:xfrm>
            <a:off x="1847527" y="2636912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0DD9D718-AB3B-4DA5-90FB-8F6371D9E3D7}"/>
              </a:ext>
            </a:extLst>
          </p:cNvPr>
          <p:cNvSpPr/>
          <p:nvPr/>
        </p:nvSpPr>
        <p:spPr>
          <a:xfrm>
            <a:off x="2487215" y="2636912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9D1AA307-66F6-4FAC-92E6-14FABF31D3FA}"/>
              </a:ext>
            </a:extLst>
          </p:cNvPr>
          <p:cNvSpPr/>
          <p:nvPr/>
        </p:nvSpPr>
        <p:spPr>
          <a:xfrm>
            <a:off x="3143671" y="2636912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CA9D028A-79EF-435A-B211-74DB7223ED07}"/>
              </a:ext>
            </a:extLst>
          </p:cNvPr>
          <p:cNvSpPr/>
          <p:nvPr/>
        </p:nvSpPr>
        <p:spPr>
          <a:xfrm>
            <a:off x="1559496" y="2996952"/>
            <a:ext cx="19358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4BFC8CA0-C1C8-400C-AC89-B244B2A99B8E}"/>
              </a:ext>
            </a:extLst>
          </p:cNvPr>
          <p:cNvSpPr/>
          <p:nvPr/>
        </p:nvSpPr>
        <p:spPr>
          <a:xfrm>
            <a:off x="1847527" y="2996952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31497517-D74A-43C9-83F5-0B988304AB72}"/>
              </a:ext>
            </a:extLst>
          </p:cNvPr>
          <p:cNvSpPr/>
          <p:nvPr/>
        </p:nvSpPr>
        <p:spPr>
          <a:xfrm>
            <a:off x="2487215" y="2996952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968DE6F7-AA3B-41D9-A005-4910F68B6C5C}"/>
              </a:ext>
            </a:extLst>
          </p:cNvPr>
          <p:cNvSpPr/>
          <p:nvPr/>
        </p:nvSpPr>
        <p:spPr>
          <a:xfrm>
            <a:off x="3143671" y="2996952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1D7CEF4F-5CF9-4B65-993F-65DF8B1BCC48}"/>
              </a:ext>
            </a:extLst>
          </p:cNvPr>
          <p:cNvSpPr/>
          <p:nvPr/>
        </p:nvSpPr>
        <p:spPr>
          <a:xfrm>
            <a:off x="1559496" y="3353185"/>
            <a:ext cx="19358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B7376F4F-986E-4D8D-AD94-FFAAC00C6AA1}"/>
              </a:ext>
            </a:extLst>
          </p:cNvPr>
          <p:cNvSpPr/>
          <p:nvPr/>
        </p:nvSpPr>
        <p:spPr>
          <a:xfrm>
            <a:off x="1847527" y="3353185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BD67933A-5340-49D7-8CC9-08505C5EDFDE}"/>
              </a:ext>
            </a:extLst>
          </p:cNvPr>
          <p:cNvSpPr/>
          <p:nvPr/>
        </p:nvSpPr>
        <p:spPr>
          <a:xfrm>
            <a:off x="2487215" y="3353185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EE6576CC-C3DF-459C-9DC3-C61C9D4586D1}"/>
              </a:ext>
            </a:extLst>
          </p:cNvPr>
          <p:cNvSpPr/>
          <p:nvPr/>
        </p:nvSpPr>
        <p:spPr>
          <a:xfrm>
            <a:off x="3143671" y="3353185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8F4990C3-938A-4CCF-B609-F2158AACCCA5}"/>
              </a:ext>
            </a:extLst>
          </p:cNvPr>
          <p:cNvCxnSpPr>
            <a:cxnSpLocks/>
          </p:cNvCxnSpPr>
          <p:nvPr/>
        </p:nvCxnSpPr>
        <p:spPr>
          <a:xfrm>
            <a:off x="1271464" y="2636912"/>
            <a:ext cx="3147" cy="10043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diritto 39">
            <a:extLst>
              <a:ext uri="{FF2B5EF4-FFF2-40B4-BE49-F238E27FC236}">
                <a16:creationId xmlns:a16="http://schemas.microsoft.com/office/drawing/2014/main" id="{06455914-2CFD-44DC-A402-098310D6915D}"/>
              </a:ext>
            </a:extLst>
          </p:cNvPr>
          <p:cNvCxnSpPr>
            <a:cxnSpLocks/>
          </p:cNvCxnSpPr>
          <p:nvPr/>
        </p:nvCxnSpPr>
        <p:spPr>
          <a:xfrm flipH="1">
            <a:off x="1271464" y="3641217"/>
            <a:ext cx="17582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diritto 42">
            <a:extLst>
              <a:ext uri="{FF2B5EF4-FFF2-40B4-BE49-F238E27FC236}">
                <a16:creationId xmlns:a16="http://schemas.microsoft.com/office/drawing/2014/main" id="{D632CBC5-9A66-42F4-84D7-DB3826988B48}"/>
              </a:ext>
            </a:extLst>
          </p:cNvPr>
          <p:cNvCxnSpPr>
            <a:cxnSpLocks/>
          </p:cNvCxnSpPr>
          <p:nvPr/>
        </p:nvCxnSpPr>
        <p:spPr>
          <a:xfrm flipH="1">
            <a:off x="1271464" y="2641036"/>
            <a:ext cx="17582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diritto 44">
            <a:extLst>
              <a:ext uri="{FF2B5EF4-FFF2-40B4-BE49-F238E27FC236}">
                <a16:creationId xmlns:a16="http://schemas.microsoft.com/office/drawing/2014/main" id="{85457A99-60BD-40BB-AE0A-40C411AF6115}"/>
              </a:ext>
            </a:extLst>
          </p:cNvPr>
          <p:cNvCxnSpPr>
            <a:cxnSpLocks/>
          </p:cNvCxnSpPr>
          <p:nvPr/>
        </p:nvCxnSpPr>
        <p:spPr>
          <a:xfrm flipH="1">
            <a:off x="1540896" y="2338083"/>
            <a:ext cx="1" cy="1743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FC9A6B9B-2152-4631-8C54-EC41FD66665F}"/>
              </a:ext>
            </a:extLst>
          </p:cNvPr>
          <p:cNvCxnSpPr>
            <a:cxnSpLocks/>
          </p:cNvCxnSpPr>
          <p:nvPr/>
        </p:nvCxnSpPr>
        <p:spPr>
          <a:xfrm flipV="1">
            <a:off x="3495327" y="2338083"/>
            <a:ext cx="0" cy="1743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diritto 46">
            <a:extLst>
              <a:ext uri="{FF2B5EF4-FFF2-40B4-BE49-F238E27FC236}">
                <a16:creationId xmlns:a16="http://schemas.microsoft.com/office/drawing/2014/main" id="{14057C0A-BC76-448F-9CE3-A34FE48DC213}"/>
              </a:ext>
            </a:extLst>
          </p:cNvPr>
          <p:cNvCxnSpPr>
            <a:cxnSpLocks/>
          </p:cNvCxnSpPr>
          <p:nvPr/>
        </p:nvCxnSpPr>
        <p:spPr>
          <a:xfrm flipH="1">
            <a:off x="1539667" y="2338083"/>
            <a:ext cx="19556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CF8B6CBD-53AA-4F09-BC2A-300559C5C6D8}"/>
              </a:ext>
            </a:extLst>
          </p:cNvPr>
          <p:cNvSpPr txBox="1"/>
          <p:nvPr/>
        </p:nvSpPr>
        <p:spPr>
          <a:xfrm>
            <a:off x="986579" y="2924944"/>
            <a:ext cx="42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N</a:t>
            </a:r>
            <a:endParaRPr lang="en-GB" b="1"/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6E2A7613-7CC0-4954-9860-A975FE26E722}"/>
              </a:ext>
            </a:extLst>
          </p:cNvPr>
          <p:cNvSpPr txBox="1"/>
          <p:nvPr/>
        </p:nvSpPr>
        <p:spPr>
          <a:xfrm>
            <a:off x="2303046" y="2020654"/>
            <a:ext cx="42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M</a:t>
            </a:r>
            <a:endParaRPr lang="en-GB" b="1"/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0D75EBFD-4D51-40B4-8F15-8D516C88BFE0}"/>
              </a:ext>
            </a:extLst>
          </p:cNvPr>
          <p:cNvSpPr txBox="1"/>
          <p:nvPr/>
        </p:nvSpPr>
        <p:spPr>
          <a:xfrm>
            <a:off x="9307540" y="2492734"/>
            <a:ext cx="830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M*2</a:t>
            </a:r>
            <a:endParaRPr lang="en-GB" b="1"/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2171A12F-73EB-4B79-9B4E-1C8327923D39}"/>
              </a:ext>
            </a:extLst>
          </p:cNvPr>
          <p:cNvSpPr txBox="1"/>
          <p:nvPr/>
        </p:nvSpPr>
        <p:spPr>
          <a:xfrm>
            <a:off x="7327999" y="2492734"/>
            <a:ext cx="830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M*1</a:t>
            </a:r>
            <a:endParaRPr lang="en-GB" b="1"/>
          </a:p>
        </p:txBody>
      </p:sp>
      <p:cxnSp>
        <p:nvCxnSpPr>
          <p:cNvPr id="61" name="Connettore diritto 60">
            <a:extLst>
              <a:ext uri="{FF2B5EF4-FFF2-40B4-BE49-F238E27FC236}">
                <a16:creationId xmlns:a16="http://schemas.microsoft.com/office/drawing/2014/main" id="{1741ADCE-4DDF-4217-93D7-2CCB5CA588DE}"/>
              </a:ext>
            </a:extLst>
          </p:cNvPr>
          <p:cNvCxnSpPr/>
          <p:nvPr/>
        </p:nvCxnSpPr>
        <p:spPr>
          <a:xfrm>
            <a:off x="5679121" y="2756577"/>
            <a:ext cx="0" cy="361085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8F0C065D-4EAE-48A2-BEEC-917825031359}"/>
              </a:ext>
            </a:extLst>
          </p:cNvPr>
          <p:cNvSpPr txBox="1"/>
          <p:nvPr/>
        </p:nvSpPr>
        <p:spPr>
          <a:xfrm>
            <a:off x="5516527" y="2456202"/>
            <a:ext cx="830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0</a:t>
            </a:r>
            <a:endParaRPr lang="en-GB" b="1"/>
          </a:p>
        </p:txBody>
      </p:sp>
      <p:sp>
        <p:nvSpPr>
          <p:cNvPr id="65" name="Freccia a destra 64">
            <a:extLst>
              <a:ext uri="{FF2B5EF4-FFF2-40B4-BE49-F238E27FC236}">
                <a16:creationId xmlns:a16="http://schemas.microsoft.com/office/drawing/2014/main" id="{EA5AA36A-A4B1-4B1B-BE50-64F34934D412}"/>
              </a:ext>
            </a:extLst>
          </p:cNvPr>
          <p:cNvSpPr/>
          <p:nvPr/>
        </p:nvSpPr>
        <p:spPr>
          <a:xfrm>
            <a:off x="3916893" y="2875014"/>
            <a:ext cx="1351384" cy="41926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1" name="Connettore diritto 60">
            <a:extLst>
              <a:ext uri="{FF2B5EF4-FFF2-40B4-BE49-F238E27FC236}">
                <a16:creationId xmlns:a16="http://schemas.microsoft.com/office/drawing/2014/main" id="{1FBFFF81-78C0-41DF-A5EB-E8471867DD4E}"/>
              </a:ext>
            </a:extLst>
          </p:cNvPr>
          <p:cNvCxnSpPr>
            <a:cxnSpLocks/>
          </p:cNvCxnSpPr>
          <p:nvPr/>
        </p:nvCxnSpPr>
        <p:spPr>
          <a:xfrm>
            <a:off x="7608861" y="2786265"/>
            <a:ext cx="0" cy="361085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diritto 60">
            <a:extLst>
              <a:ext uri="{FF2B5EF4-FFF2-40B4-BE49-F238E27FC236}">
                <a16:creationId xmlns:a16="http://schemas.microsoft.com/office/drawing/2014/main" id="{A18177CF-E1B1-4342-B011-7124D9BB2A23}"/>
              </a:ext>
            </a:extLst>
          </p:cNvPr>
          <p:cNvCxnSpPr>
            <a:cxnSpLocks/>
          </p:cNvCxnSpPr>
          <p:nvPr/>
        </p:nvCxnSpPr>
        <p:spPr>
          <a:xfrm>
            <a:off x="9578185" y="2786265"/>
            <a:ext cx="0" cy="361085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diritto 56">
            <a:extLst>
              <a:ext uri="{FF2B5EF4-FFF2-40B4-BE49-F238E27FC236}">
                <a16:creationId xmlns:a16="http://schemas.microsoft.com/office/drawing/2014/main" id="{8D60B98B-397E-43DF-8FA1-5FBBA8A76AE4}"/>
              </a:ext>
            </a:extLst>
          </p:cNvPr>
          <p:cNvCxnSpPr/>
          <p:nvPr/>
        </p:nvCxnSpPr>
        <p:spPr>
          <a:xfrm>
            <a:off x="8247861" y="3073387"/>
            <a:ext cx="0" cy="648072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57">
            <a:extLst>
              <a:ext uri="{FF2B5EF4-FFF2-40B4-BE49-F238E27FC236}">
                <a16:creationId xmlns:a16="http://schemas.microsoft.com/office/drawing/2014/main" id="{D62B32E3-091A-42F5-BBDD-E26EC7EF0082}"/>
              </a:ext>
            </a:extLst>
          </p:cNvPr>
          <p:cNvCxnSpPr/>
          <p:nvPr/>
        </p:nvCxnSpPr>
        <p:spPr>
          <a:xfrm>
            <a:off x="6318809" y="3082516"/>
            <a:ext cx="0" cy="648072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diritto 58">
            <a:extLst>
              <a:ext uri="{FF2B5EF4-FFF2-40B4-BE49-F238E27FC236}">
                <a16:creationId xmlns:a16="http://schemas.microsoft.com/office/drawing/2014/main" id="{1687313B-13E0-44AB-8025-C37127970A49}"/>
              </a:ext>
            </a:extLst>
          </p:cNvPr>
          <p:cNvCxnSpPr/>
          <p:nvPr/>
        </p:nvCxnSpPr>
        <p:spPr>
          <a:xfrm>
            <a:off x="10232529" y="3073386"/>
            <a:ext cx="0" cy="648072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sellaDiTesto 59">
            <a:extLst>
              <a:ext uri="{FF2B5EF4-FFF2-40B4-BE49-F238E27FC236}">
                <a16:creationId xmlns:a16="http://schemas.microsoft.com/office/drawing/2014/main" id="{E140A74E-BB67-4FAB-82CF-77FDC6870CD6}"/>
              </a:ext>
            </a:extLst>
          </p:cNvPr>
          <p:cNvSpPr txBox="1"/>
          <p:nvPr/>
        </p:nvSpPr>
        <p:spPr>
          <a:xfrm>
            <a:off x="6178861" y="3702812"/>
            <a:ext cx="830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FF0000"/>
                </a:solidFill>
              </a:rPr>
              <a:t>0+2</a:t>
            </a:r>
            <a:endParaRPr lang="en-GB" b="1">
              <a:solidFill>
                <a:srgbClr val="FF0000"/>
              </a:solidFill>
            </a:endParaRPr>
          </a:p>
        </p:txBody>
      </p:sp>
      <p:sp>
        <p:nvSpPr>
          <p:cNvPr id="39" name="CasellaDiTesto 62">
            <a:extLst>
              <a:ext uri="{FF2B5EF4-FFF2-40B4-BE49-F238E27FC236}">
                <a16:creationId xmlns:a16="http://schemas.microsoft.com/office/drawing/2014/main" id="{C3D7544D-0728-4A0E-A87C-64128911C03A}"/>
              </a:ext>
            </a:extLst>
          </p:cNvPr>
          <p:cNvSpPr txBox="1"/>
          <p:nvPr/>
        </p:nvSpPr>
        <p:spPr>
          <a:xfrm>
            <a:off x="8135603" y="3676603"/>
            <a:ext cx="911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FF0000"/>
                </a:solidFill>
              </a:rPr>
              <a:t>M*1+2</a:t>
            </a:r>
            <a:endParaRPr lang="en-GB" b="1">
              <a:solidFill>
                <a:srgbClr val="FF0000"/>
              </a:solidFill>
            </a:endParaRPr>
          </a:p>
        </p:txBody>
      </p:sp>
      <p:sp>
        <p:nvSpPr>
          <p:cNvPr id="52" name="CasellaDiTesto 63">
            <a:extLst>
              <a:ext uri="{FF2B5EF4-FFF2-40B4-BE49-F238E27FC236}">
                <a16:creationId xmlns:a16="http://schemas.microsoft.com/office/drawing/2014/main" id="{52765123-AC51-4539-A1B6-5C6E5648045D}"/>
              </a:ext>
            </a:extLst>
          </p:cNvPr>
          <p:cNvSpPr txBox="1"/>
          <p:nvPr/>
        </p:nvSpPr>
        <p:spPr>
          <a:xfrm>
            <a:off x="10143617" y="3680492"/>
            <a:ext cx="911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FF0000"/>
                </a:solidFill>
              </a:rPr>
              <a:t>M*2+2</a:t>
            </a:r>
            <a:endParaRPr lang="en-GB" b="1">
              <a:solidFill>
                <a:srgbClr val="FF0000"/>
              </a:solidFill>
            </a:endParaRPr>
          </a:p>
        </p:txBody>
      </p:sp>
      <p:sp>
        <p:nvSpPr>
          <p:cNvPr id="48" name="CasellaDiTesto 59">
            <a:extLst>
              <a:ext uri="{FF2B5EF4-FFF2-40B4-BE49-F238E27FC236}">
                <a16:creationId xmlns:a16="http://schemas.microsoft.com/office/drawing/2014/main" id="{A1066F50-8810-4B85-AFE2-8652C88F97D9}"/>
              </a:ext>
            </a:extLst>
          </p:cNvPr>
          <p:cNvSpPr txBox="1"/>
          <p:nvPr/>
        </p:nvSpPr>
        <p:spPr>
          <a:xfrm>
            <a:off x="2071977" y="2604344"/>
            <a:ext cx="830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FF0000"/>
                </a:solidFill>
              </a:rPr>
              <a:t>0+2</a:t>
            </a:r>
            <a:endParaRPr lang="en-GB" b="1">
              <a:solidFill>
                <a:srgbClr val="FF0000"/>
              </a:solidFill>
            </a:endParaRPr>
          </a:p>
        </p:txBody>
      </p:sp>
      <p:sp>
        <p:nvSpPr>
          <p:cNvPr id="49" name="CasellaDiTesto 62">
            <a:extLst>
              <a:ext uri="{FF2B5EF4-FFF2-40B4-BE49-F238E27FC236}">
                <a16:creationId xmlns:a16="http://schemas.microsoft.com/office/drawing/2014/main" id="{87A97F74-6245-461E-A4EA-AD449DA8EE80}"/>
              </a:ext>
            </a:extLst>
          </p:cNvPr>
          <p:cNvSpPr txBox="1"/>
          <p:nvPr/>
        </p:nvSpPr>
        <p:spPr>
          <a:xfrm>
            <a:off x="1930745" y="2973979"/>
            <a:ext cx="911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FF0000"/>
                </a:solidFill>
              </a:rPr>
              <a:t>M*1+2</a:t>
            </a:r>
            <a:endParaRPr lang="en-GB" b="1">
              <a:solidFill>
                <a:srgbClr val="FF0000"/>
              </a:solidFill>
            </a:endParaRPr>
          </a:p>
        </p:txBody>
      </p:sp>
      <p:sp>
        <p:nvSpPr>
          <p:cNvPr id="51" name="CasellaDiTesto 63">
            <a:extLst>
              <a:ext uri="{FF2B5EF4-FFF2-40B4-BE49-F238E27FC236}">
                <a16:creationId xmlns:a16="http://schemas.microsoft.com/office/drawing/2014/main" id="{1468BBDB-F60B-464B-8457-F8D43E61523D}"/>
              </a:ext>
            </a:extLst>
          </p:cNvPr>
          <p:cNvSpPr txBox="1"/>
          <p:nvPr/>
        </p:nvSpPr>
        <p:spPr>
          <a:xfrm>
            <a:off x="1929850" y="3324232"/>
            <a:ext cx="911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FF0000"/>
                </a:solidFill>
              </a:rPr>
              <a:t>M*2+2</a:t>
            </a:r>
            <a:endParaRPr lang="en-GB" b="1">
              <a:solidFill>
                <a:srgbClr val="FF0000"/>
              </a:solidFill>
            </a:endParaRPr>
          </a:p>
        </p:txBody>
      </p:sp>
      <p:sp>
        <p:nvSpPr>
          <p:cNvPr id="50" name="CasellaDiTesto 59">
            <a:extLst>
              <a:ext uri="{FF2B5EF4-FFF2-40B4-BE49-F238E27FC236}">
                <a16:creationId xmlns:a16="http://schemas.microsoft.com/office/drawing/2014/main" id="{47F60D36-C84E-4F21-ACE1-3BF054D772CB}"/>
              </a:ext>
            </a:extLst>
          </p:cNvPr>
          <p:cNvSpPr txBox="1"/>
          <p:nvPr/>
        </p:nvSpPr>
        <p:spPr>
          <a:xfrm>
            <a:off x="1811552" y="4058777"/>
            <a:ext cx="496831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In general: </a:t>
            </a:r>
            <a:r>
              <a:rPr lang="it-IT" b="1"/>
              <a:t>Mat[i][j] </a:t>
            </a:r>
            <a:r>
              <a:rPr lang="it-IT"/>
              <a:t>-&gt; </a:t>
            </a:r>
            <a:r>
              <a:rPr lang="it-IT" b="1"/>
              <a:t>M[i*M+j]</a:t>
            </a:r>
            <a:endParaRPr lang="en-US" b="1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9D0C6E4-BC3B-4F71-8355-224727066496}"/>
              </a:ext>
            </a:extLst>
          </p:cNvPr>
          <p:cNvSpPr/>
          <p:nvPr/>
        </p:nvSpPr>
        <p:spPr>
          <a:xfrm>
            <a:off x="3342968" y="4929531"/>
            <a:ext cx="448118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cd </a:t>
            </a:r>
            <a:r>
              <a:rPr lang="en-US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matrix_vector</a:t>
            </a:r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make clean all run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CAC28BBA-71B2-A832-E856-0D15BB3CC039}"/>
              </a:ext>
            </a:extLst>
          </p:cNvPr>
          <p:cNvSpPr/>
          <p:nvPr/>
        </p:nvSpPr>
        <p:spPr>
          <a:xfrm rot="5400000">
            <a:off x="6384154" y="1537895"/>
            <a:ext cx="268940" cy="168461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4D701EF8-6332-73B6-2DFB-B5D581BFEF5A}"/>
              </a:ext>
            </a:extLst>
          </p:cNvPr>
          <p:cNvSpPr/>
          <p:nvPr/>
        </p:nvSpPr>
        <p:spPr>
          <a:xfrm rot="5400000">
            <a:off x="8289154" y="1515483"/>
            <a:ext cx="268940" cy="168461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asellaDiTesto 53">
            <a:extLst>
              <a:ext uri="{FF2B5EF4-FFF2-40B4-BE49-F238E27FC236}">
                <a16:creationId xmlns:a16="http://schemas.microsoft.com/office/drawing/2014/main" id="{9A266C16-23E5-A9C2-F1A0-F0AC1CDA30E3}"/>
              </a:ext>
            </a:extLst>
          </p:cNvPr>
          <p:cNvSpPr txBox="1"/>
          <p:nvPr/>
        </p:nvSpPr>
        <p:spPr>
          <a:xfrm>
            <a:off x="3472193" y="2599624"/>
            <a:ext cx="42890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b="1"/>
              <a:t>r0</a:t>
            </a:r>
            <a:endParaRPr lang="en-GB" b="1">
              <a:ea typeface="Calibri"/>
              <a:cs typeface="Calibri"/>
            </a:endParaRPr>
          </a:p>
        </p:txBody>
      </p:sp>
      <p:sp>
        <p:nvSpPr>
          <p:cNvPr id="24" name="CasellaDiTesto 53">
            <a:extLst>
              <a:ext uri="{FF2B5EF4-FFF2-40B4-BE49-F238E27FC236}">
                <a16:creationId xmlns:a16="http://schemas.microsoft.com/office/drawing/2014/main" id="{B22C040F-330F-D9B2-C9F6-FB2244227D0A}"/>
              </a:ext>
            </a:extLst>
          </p:cNvPr>
          <p:cNvSpPr txBox="1"/>
          <p:nvPr/>
        </p:nvSpPr>
        <p:spPr>
          <a:xfrm>
            <a:off x="3490869" y="2935800"/>
            <a:ext cx="42890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b="1"/>
              <a:t>r1</a:t>
            </a:r>
            <a:endParaRPr lang="en-GB" b="1">
              <a:ea typeface="Calibri"/>
              <a:cs typeface="Calibri"/>
            </a:endParaRPr>
          </a:p>
        </p:txBody>
      </p:sp>
      <p:sp>
        <p:nvSpPr>
          <p:cNvPr id="25" name="CasellaDiTesto 53">
            <a:extLst>
              <a:ext uri="{FF2B5EF4-FFF2-40B4-BE49-F238E27FC236}">
                <a16:creationId xmlns:a16="http://schemas.microsoft.com/office/drawing/2014/main" id="{1E7936F4-39E7-ADEC-B695-DDEA7D972047}"/>
              </a:ext>
            </a:extLst>
          </p:cNvPr>
          <p:cNvSpPr txBox="1"/>
          <p:nvPr/>
        </p:nvSpPr>
        <p:spPr>
          <a:xfrm>
            <a:off x="3475928" y="3294388"/>
            <a:ext cx="42890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b="1"/>
              <a:t>r2</a:t>
            </a:r>
            <a:endParaRPr lang="en-GB" b="1">
              <a:ea typeface="Calibri"/>
              <a:cs typeface="Calibri"/>
            </a:endParaRPr>
          </a:p>
        </p:txBody>
      </p:sp>
      <p:sp>
        <p:nvSpPr>
          <p:cNvPr id="44" name="CasellaDiTesto 53">
            <a:extLst>
              <a:ext uri="{FF2B5EF4-FFF2-40B4-BE49-F238E27FC236}">
                <a16:creationId xmlns:a16="http://schemas.microsoft.com/office/drawing/2014/main" id="{541713F2-49A6-6BA3-86F7-47919BCBA41C}"/>
              </a:ext>
            </a:extLst>
          </p:cNvPr>
          <p:cNvSpPr txBox="1"/>
          <p:nvPr/>
        </p:nvSpPr>
        <p:spPr>
          <a:xfrm>
            <a:off x="6352104" y="1938476"/>
            <a:ext cx="42890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b="1"/>
              <a:t>r0</a:t>
            </a:r>
            <a:endParaRPr lang="en-GB" b="1">
              <a:ea typeface="Calibri"/>
              <a:cs typeface="Calibri"/>
            </a:endParaRPr>
          </a:p>
        </p:txBody>
      </p:sp>
      <p:sp>
        <p:nvSpPr>
          <p:cNvPr id="58" name="CasellaDiTesto 53">
            <a:extLst>
              <a:ext uri="{FF2B5EF4-FFF2-40B4-BE49-F238E27FC236}">
                <a16:creationId xmlns:a16="http://schemas.microsoft.com/office/drawing/2014/main" id="{23E61948-9941-3C54-238C-659A0178CBA9}"/>
              </a:ext>
            </a:extLst>
          </p:cNvPr>
          <p:cNvSpPr txBox="1"/>
          <p:nvPr/>
        </p:nvSpPr>
        <p:spPr>
          <a:xfrm>
            <a:off x="8227222" y="1938476"/>
            <a:ext cx="42890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b="1"/>
              <a:t>r1</a:t>
            </a:r>
            <a:endParaRPr lang="en-GB" b="1">
              <a:ea typeface="Calibri"/>
              <a:cs typeface="Calibri"/>
            </a:endParaRPr>
          </a:p>
        </p:txBody>
      </p:sp>
      <p:sp>
        <p:nvSpPr>
          <p:cNvPr id="59" name="Left Brace 58">
            <a:extLst>
              <a:ext uri="{FF2B5EF4-FFF2-40B4-BE49-F238E27FC236}">
                <a16:creationId xmlns:a16="http://schemas.microsoft.com/office/drawing/2014/main" id="{8056DF09-D547-08F9-EC7D-A73646AADC82}"/>
              </a:ext>
            </a:extLst>
          </p:cNvPr>
          <p:cNvSpPr/>
          <p:nvPr/>
        </p:nvSpPr>
        <p:spPr>
          <a:xfrm rot="5400000">
            <a:off x="10265124" y="1519218"/>
            <a:ext cx="268940" cy="168461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asellaDiTesto 53">
            <a:extLst>
              <a:ext uri="{FF2B5EF4-FFF2-40B4-BE49-F238E27FC236}">
                <a16:creationId xmlns:a16="http://schemas.microsoft.com/office/drawing/2014/main" id="{E5E64D72-68F9-20E6-B715-E8D5F41C5828}"/>
              </a:ext>
            </a:extLst>
          </p:cNvPr>
          <p:cNvSpPr txBox="1"/>
          <p:nvPr/>
        </p:nvSpPr>
        <p:spPr>
          <a:xfrm>
            <a:off x="10203192" y="1942211"/>
            <a:ext cx="42890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b="1"/>
              <a:t>r2</a:t>
            </a:r>
            <a:endParaRPr lang="en-GB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9428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7F16CF-63A8-49E6-B9E2-1225978E5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Source Sans Pro"/>
                <a:ea typeface="Source Sans Pro"/>
              </a:rPr>
              <a:t>Example II: Matrix-Vector Product</a:t>
            </a:r>
            <a:br>
              <a:rPr lang="en-US">
                <a:latin typeface="Source Sans Pro"/>
                <a:ea typeface="Source Sans Pro"/>
              </a:rPr>
            </a:br>
            <a:endParaRPr lang="en-US">
              <a:latin typeface="Source Sans Pro"/>
              <a:ea typeface="Source Sans Pr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2AEA2-4AA8-4759-AD91-9F07320C2D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7FC608B-F968-46F7-BCBC-E702A96D7CDE}"/>
              </a:ext>
            </a:extLst>
          </p:cNvPr>
          <p:cNvSpPr txBox="1"/>
          <p:nvPr/>
        </p:nvSpPr>
        <p:spPr>
          <a:xfrm>
            <a:off x="2000727" y="4006676"/>
            <a:ext cx="8904332" cy="24006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150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GB" sz="1500" b="1" i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</a:t>
            </a:r>
            <a:r>
              <a:rPr lang="en-GB" sz="1500">
                <a:latin typeface="Courier New" panose="02070309020205020404" pitchFamily="49" charset="0"/>
                <a:cs typeface="Courier New" panose="02070309020205020404" pitchFamily="49" charset="0"/>
              </a:rPr>
              <a:t>neric </a:t>
            </a:r>
            <a:r>
              <a:rPr lang="en-GB" sz="1500" b="1" i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GB" sz="1500">
                <a:latin typeface="Courier New" panose="02070309020205020404" pitchFamily="49" charset="0"/>
                <a:cs typeface="Courier New" panose="02070309020205020404" pitchFamily="49" charset="0"/>
              </a:rPr>
              <a:t>atrix-</a:t>
            </a:r>
            <a:r>
              <a:rPr lang="en-GB" sz="1500" b="1" i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en-GB" sz="1500">
                <a:latin typeface="Courier New" panose="02070309020205020404" pitchFamily="49" charset="0"/>
                <a:cs typeface="Courier New" panose="02070309020205020404" pitchFamily="49" charset="0"/>
              </a:rPr>
              <a:t>ector multiplication</a:t>
            </a:r>
          </a:p>
          <a:p>
            <a:r>
              <a:rPr lang="en-GB" sz="1500" b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GB" sz="1500">
                <a:latin typeface="Courier New"/>
                <a:cs typeface="Courier New"/>
              </a:rPr>
              <a:t> </a:t>
            </a:r>
            <a:r>
              <a:rPr lang="en-GB" sz="1500" b="1" i="1" err="1">
                <a:solidFill>
                  <a:srgbClr val="00B0F0"/>
                </a:solidFill>
                <a:latin typeface="Courier New"/>
                <a:cs typeface="Courier New"/>
              </a:rPr>
              <a:t>gemv</a:t>
            </a:r>
            <a:r>
              <a:rPr lang="en-GB" sz="1500">
                <a:latin typeface="Courier New"/>
                <a:cs typeface="Courier New"/>
              </a:rPr>
              <a:t>(</a:t>
            </a:r>
            <a:r>
              <a:rPr lang="en-GB" sz="1500" b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GB" sz="1500">
                <a:latin typeface="Courier New"/>
                <a:cs typeface="Courier New"/>
              </a:rPr>
              <a:t> N, int M, float * mat, float *</a:t>
            </a:r>
            <a:r>
              <a:rPr lang="en-GB" sz="1500" err="1">
                <a:latin typeface="Courier New"/>
                <a:cs typeface="Courier New"/>
              </a:rPr>
              <a:t>vec</a:t>
            </a:r>
            <a:r>
              <a:rPr lang="en-GB" sz="1500">
                <a:latin typeface="Courier New"/>
                <a:cs typeface="Courier New"/>
              </a:rPr>
              <a:t>, float * </a:t>
            </a:r>
            <a:r>
              <a:rPr lang="en-GB" sz="1500" err="1">
                <a:latin typeface="Courier New"/>
                <a:cs typeface="Courier New"/>
              </a:rPr>
              <a:t>output_vec</a:t>
            </a:r>
            <a:r>
              <a:rPr lang="en-GB" sz="1500">
                <a:latin typeface="Courier New"/>
                <a:cs typeface="Courier New"/>
              </a:rPr>
              <a:t>){</a:t>
            </a:r>
          </a:p>
          <a:p>
            <a:endParaRPr lang="en-GB" sz="15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500">
                <a:latin typeface="Courier New"/>
                <a:cs typeface="Courier New"/>
              </a:rPr>
              <a:t>    </a:t>
            </a:r>
            <a:r>
              <a:rPr lang="en-GB" sz="1500" b="1">
                <a:solidFill>
                  <a:srgbClr val="CE3EFE"/>
                </a:solidFill>
                <a:latin typeface="Courier New"/>
                <a:cs typeface="Courier New"/>
              </a:rPr>
              <a:t>for</a:t>
            </a:r>
            <a:r>
              <a:rPr lang="en-GB" sz="1500">
                <a:latin typeface="Courier New"/>
                <a:cs typeface="Courier New"/>
              </a:rPr>
              <a:t> (</a:t>
            </a:r>
            <a:r>
              <a:rPr lang="en-GB" sz="1500" b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GB" sz="1500">
                <a:latin typeface="Courier New"/>
                <a:cs typeface="Courier New"/>
              </a:rPr>
              <a:t> </a:t>
            </a:r>
            <a:r>
              <a:rPr lang="en-GB" sz="1500" err="1">
                <a:latin typeface="Courier New"/>
                <a:cs typeface="Courier New"/>
              </a:rPr>
              <a:t>i</a:t>
            </a:r>
            <a:r>
              <a:rPr lang="en-GB" sz="1500">
                <a:latin typeface="Courier New"/>
                <a:cs typeface="Courier New"/>
              </a:rPr>
              <a:t>=0; </a:t>
            </a:r>
            <a:r>
              <a:rPr lang="en-GB" sz="1500" err="1">
                <a:latin typeface="Courier New"/>
                <a:cs typeface="Courier New"/>
              </a:rPr>
              <a:t>i</a:t>
            </a:r>
            <a:r>
              <a:rPr lang="en-GB" sz="1500">
                <a:latin typeface="Courier New"/>
                <a:cs typeface="Courier New"/>
              </a:rPr>
              <a:t>&lt;N; </a:t>
            </a:r>
            <a:r>
              <a:rPr lang="en-GB" sz="1500" err="1">
                <a:latin typeface="Courier New"/>
                <a:cs typeface="Courier New"/>
              </a:rPr>
              <a:t>i</a:t>
            </a:r>
            <a:r>
              <a:rPr lang="en-GB" sz="1500">
                <a:latin typeface="Courier New"/>
                <a:cs typeface="Courier New"/>
              </a:rPr>
              <a:t>++){</a:t>
            </a:r>
          </a:p>
          <a:p>
            <a:r>
              <a:rPr lang="en-GB" sz="1500">
                <a:latin typeface="Courier New"/>
                <a:cs typeface="Courier New"/>
              </a:rPr>
              <a:t>      </a:t>
            </a:r>
            <a:r>
              <a:rPr lang="en-GB" sz="1500" b="1">
                <a:solidFill>
                  <a:srgbClr val="CE3EFE"/>
                </a:solidFill>
                <a:latin typeface="Courier New"/>
                <a:cs typeface="Courier New"/>
              </a:rPr>
              <a:t>for</a:t>
            </a:r>
            <a:r>
              <a:rPr lang="en-GB" sz="1500">
                <a:latin typeface="Courier New"/>
                <a:cs typeface="Courier New"/>
              </a:rPr>
              <a:t> (</a:t>
            </a:r>
            <a:r>
              <a:rPr lang="en-GB" sz="1500" b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GB" sz="1500">
                <a:latin typeface="Courier New"/>
                <a:cs typeface="Courier New"/>
              </a:rPr>
              <a:t> j=0; j&lt;M; </a:t>
            </a:r>
            <a:r>
              <a:rPr lang="en-GB" sz="1500" err="1">
                <a:latin typeface="Courier New"/>
                <a:cs typeface="Courier New"/>
              </a:rPr>
              <a:t>j++</a:t>
            </a:r>
            <a:r>
              <a:rPr lang="en-GB" sz="1500">
                <a:latin typeface="Courier New"/>
                <a:cs typeface="Courier New"/>
              </a:rPr>
              <a:t>){</a:t>
            </a:r>
          </a:p>
          <a:p>
            <a:r>
              <a:rPr lang="en-GB" sz="1500">
                <a:latin typeface="Courier New"/>
                <a:cs typeface="Courier New"/>
              </a:rPr>
              <a:t>        </a:t>
            </a:r>
            <a:r>
              <a:rPr lang="en-GB" sz="1500" b="1" err="1">
                <a:latin typeface="Courier New"/>
                <a:ea typeface="+mn-lt"/>
                <a:cs typeface="+mn-lt"/>
              </a:rPr>
              <a:t>vec_o</a:t>
            </a:r>
            <a:r>
              <a:rPr lang="en-GB" sz="1500" b="1">
                <a:latin typeface="Courier New"/>
                <a:ea typeface="+mn-lt"/>
                <a:cs typeface="+mn-lt"/>
              </a:rPr>
              <a:t>[</a:t>
            </a:r>
            <a:r>
              <a:rPr lang="en-GB" sz="1500" b="1" err="1">
                <a:latin typeface="Courier New"/>
                <a:ea typeface="+mn-lt"/>
                <a:cs typeface="+mn-lt"/>
              </a:rPr>
              <a:t>i</a:t>
            </a:r>
            <a:r>
              <a:rPr lang="en-GB" sz="1500" b="1">
                <a:latin typeface="Courier New"/>
                <a:ea typeface="+mn-lt"/>
                <a:cs typeface="+mn-lt"/>
              </a:rPr>
              <a:t>] += </a:t>
            </a:r>
            <a:r>
              <a:rPr lang="en-GB" sz="1500" b="1" err="1">
                <a:latin typeface="Courier New"/>
                <a:ea typeface="+mn-lt"/>
                <a:cs typeface="+mn-lt"/>
              </a:rPr>
              <a:t>mat_i</a:t>
            </a:r>
            <a:r>
              <a:rPr lang="en-GB" sz="1500" b="1">
                <a:latin typeface="Courier New"/>
                <a:ea typeface="+mn-lt"/>
                <a:cs typeface="+mn-lt"/>
              </a:rPr>
              <a:t>[</a:t>
            </a:r>
            <a:r>
              <a:rPr lang="en-GB" sz="1500" b="1" err="1">
                <a:latin typeface="Courier New"/>
                <a:ea typeface="+mn-lt"/>
                <a:cs typeface="+mn-lt"/>
              </a:rPr>
              <a:t>i</a:t>
            </a:r>
            <a:r>
              <a:rPr lang="en-GB" sz="1500" b="1">
                <a:latin typeface="Courier New"/>
                <a:ea typeface="+mn-lt"/>
                <a:cs typeface="+mn-lt"/>
              </a:rPr>
              <a:t>*</a:t>
            </a:r>
            <a:r>
              <a:rPr lang="en-GB" sz="1500" b="1" err="1">
                <a:latin typeface="Courier New"/>
                <a:ea typeface="+mn-lt"/>
                <a:cs typeface="+mn-lt"/>
              </a:rPr>
              <a:t>size_M+j</a:t>
            </a:r>
            <a:r>
              <a:rPr lang="en-GB" sz="1500" b="1">
                <a:latin typeface="Courier New"/>
                <a:ea typeface="+mn-lt"/>
                <a:cs typeface="+mn-lt"/>
              </a:rPr>
              <a:t>] * </a:t>
            </a:r>
            <a:r>
              <a:rPr lang="en-GB" sz="1500" b="1" err="1">
                <a:latin typeface="Courier New"/>
                <a:ea typeface="+mn-lt"/>
                <a:cs typeface="+mn-lt"/>
              </a:rPr>
              <a:t>vec_i</a:t>
            </a:r>
            <a:r>
              <a:rPr lang="en-GB" sz="1500" b="1">
                <a:latin typeface="Courier New"/>
                <a:ea typeface="+mn-lt"/>
                <a:cs typeface="+mn-lt"/>
              </a:rPr>
              <a:t>[j];</a:t>
            </a:r>
            <a:endParaRPr lang="en-GB" sz="1500" b="1">
              <a:latin typeface="Courier New"/>
              <a:cs typeface="Courier New"/>
            </a:endParaRPr>
          </a:p>
          <a:p>
            <a:r>
              <a:rPr lang="en-GB" sz="150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r>
              <a:rPr lang="en-GB" sz="15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GB" sz="15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5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CC9E2E14-FEF4-4F01-92D9-1B99B251847B}"/>
              </a:ext>
            </a:extLst>
          </p:cNvPr>
          <p:cNvSpPr/>
          <p:nvPr/>
        </p:nvSpPr>
        <p:spPr>
          <a:xfrm>
            <a:off x="3647728" y="2339364"/>
            <a:ext cx="19358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D62D5B33-3A06-4873-A293-FAE0FE02F260}"/>
              </a:ext>
            </a:extLst>
          </p:cNvPr>
          <p:cNvSpPr/>
          <p:nvPr/>
        </p:nvSpPr>
        <p:spPr>
          <a:xfrm>
            <a:off x="3935759" y="2339364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96AE4CEF-01FB-47AF-8F0B-3E3611570443}"/>
              </a:ext>
            </a:extLst>
          </p:cNvPr>
          <p:cNvSpPr/>
          <p:nvPr/>
        </p:nvSpPr>
        <p:spPr>
          <a:xfrm>
            <a:off x="4575447" y="2339364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FB303094-31CC-421D-BEFF-6C88506E5CDF}"/>
              </a:ext>
            </a:extLst>
          </p:cNvPr>
          <p:cNvSpPr/>
          <p:nvPr/>
        </p:nvSpPr>
        <p:spPr>
          <a:xfrm>
            <a:off x="5231903" y="2339364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84C24912-4147-477A-BD0F-30C43E8815FA}"/>
              </a:ext>
            </a:extLst>
          </p:cNvPr>
          <p:cNvSpPr/>
          <p:nvPr/>
        </p:nvSpPr>
        <p:spPr>
          <a:xfrm>
            <a:off x="3647728" y="2699404"/>
            <a:ext cx="19358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7F7C10B9-1695-4AA0-B870-E1A6724D1BA0}"/>
              </a:ext>
            </a:extLst>
          </p:cNvPr>
          <p:cNvSpPr/>
          <p:nvPr/>
        </p:nvSpPr>
        <p:spPr>
          <a:xfrm>
            <a:off x="3935759" y="2699404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D867811B-5B7E-4426-8C98-DFC7F3DB0C22}"/>
              </a:ext>
            </a:extLst>
          </p:cNvPr>
          <p:cNvSpPr/>
          <p:nvPr/>
        </p:nvSpPr>
        <p:spPr>
          <a:xfrm>
            <a:off x="4575447" y="2699404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2B76A835-3616-4E50-811B-E0EBB639A88C}"/>
              </a:ext>
            </a:extLst>
          </p:cNvPr>
          <p:cNvSpPr/>
          <p:nvPr/>
        </p:nvSpPr>
        <p:spPr>
          <a:xfrm>
            <a:off x="5231903" y="2699404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24353A92-52BF-4D6C-83E0-D0D3819B9CBC}"/>
              </a:ext>
            </a:extLst>
          </p:cNvPr>
          <p:cNvSpPr/>
          <p:nvPr/>
        </p:nvSpPr>
        <p:spPr>
          <a:xfrm>
            <a:off x="3647728" y="3055637"/>
            <a:ext cx="19358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9259787C-1F55-45BD-831D-0417205FADEE}"/>
              </a:ext>
            </a:extLst>
          </p:cNvPr>
          <p:cNvSpPr/>
          <p:nvPr/>
        </p:nvSpPr>
        <p:spPr>
          <a:xfrm>
            <a:off x="3935759" y="3055637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E82FEF69-72AB-435F-BE34-F3535760B23B}"/>
              </a:ext>
            </a:extLst>
          </p:cNvPr>
          <p:cNvSpPr/>
          <p:nvPr/>
        </p:nvSpPr>
        <p:spPr>
          <a:xfrm>
            <a:off x="4575447" y="3055637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508041D2-C3FF-4A6F-B94D-85579F4F2093}"/>
              </a:ext>
            </a:extLst>
          </p:cNvPr>
          <p:cNvSpPr/>
          <p:nvPr/>
        </p:nvSpPr>
        <p:spPr>
          <a:xfrm>
            <a:off x="5231903" y="3055637"/>
            <a:ext cx="3516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5B409427-9B1F-4F7F-9504-6330EFEB76A5}"/>
              </a:ext>
            </a:extLst>
          </p:cNvPr>
          <p:cNvCxnSpPr>
            <a:cxnSpLocks/>
          </p:cNvCxnSpPr>
          <p:nvPr/>
        </p:nvCxnSpPr>
        <p:spPr>
          <a:xfrm>
            <a:off x="3359696" y="2339364"/>
            <a:ext cx="3147" cy="10043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E928B30E-5082-4D81-8DA9-DD3970F34AC8}"/>
              </a:ext>
            </a:extLst>
          </p:cNvPr>
          <p:cNvCxnSpPr>
            <a:cxnSpLocks/>
          </p:cNvCxnSpPr>
          <p:nvPr/>
        </p:nvCxnSpPr>
        <p:spPr>
          <a:xfrm flipH="1">
            <a:off x="3359696" y="3343669"/>
            <a:ext cx="17582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0DD6A1DB-1778-4891-9040-26BB7CE60B0A}"/>
              </a:ext>
            </a:extLst>
          </p:cNvPr>
          <p:cNvCxnSpPr>
            <a:cxnSpLocks/>
          </p:cNvCxnSpPr>
          <p:nvPr/>
        </p:nvCxnSpPr>
        <p:spPr>
          <a:xfrm flipH="1">
            <a:off x="3359696" y="2343488"/>
            <a:ext cx="17582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4DFFE20A-B315-420D-BCA5-E811A6E73335}"/>
              </a:ext>
            </a:extLst>
          </p:cNvPr>
          <p:cNvSpPr txBox="1"/>
          <p:nvPr/>
        </p:nvSpPr>
        <p:spPr>
          <a:xfrm>
            <a:off x="2854362" y="2696669"/>
            <a:ext cx="55755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b="1"/>
              <a:t>N :i</a:t>
            </a:r>
            <a:endParaRPr lang="en-GB" b="1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10BE7ECF-6334-45E9-86FE-3999724C68FD}"/>
              </a:ext>
            </a:extLst>
          </p:cNvPr>
          <p:cNvSpPr/>
          <p:nvPr/>
        </p:nvSpPr>
        <p:spPr>
          <a:xfrm rot="5400000">
            <a:off x="5488124" y="2617076"/>
            <a:ext cx="1935832" cy="28803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81E7EB3C-D0E9-4874-B9E3-DECBF60C7B8F}"/>
              </a:ext>
            </a:extLst>
          </p:cNvPr>
          <p:cNvSpPr/>
          <p:nvPr/>
        </p:nvSpPr>
        <p:spPr>
          <a:xfrm rot="5400000">
            <a:off x="6280212" y="2115117"/>
            <a:ext cx="351656" cy="28803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7A253E34-E7BF-436C-84B7-242A02F256DB}"/>
              </a:ext>
            </a:extLst>
          </p:cNvPr>
          <p:cNvSpPr/>
          <p:nvPr/>
        </p:nvSpPr>
        <p:spPr>
          <a:xfrm rot="5400000">
            <a:off x="6280212" y="2765283"/>
            <a:ext cx="351656" cy="28803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90BF4A50-CF0D-44E6-B1B8-BB08B785B24B}"/>
              </a:ext>
            </a:extLst>
          </p:cNvPr>
          <p:cNvSpPr/>
          <p:nvPr/>
        </p:nvSpPr>
        <p:spPr>
          <a:xfrm rot="5400000">
            <a:off x="6277065" y="3414263"/>
            <a:ext cx="351656" cy="28803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1F77EDF3-8C52-44CC-92BB-ED51C3E2F235}"/>
              </a:ext>
            </a:extLst>
          </p:cNvPr>
          <p:cNvSpPr txBox="1"/>
          <p:nvPr/>
        </p:nvSpPr>
        <p:spPr>
          <a:xfrm>
            <a:off x="5817704" y="2656850"/>
            <a:ext cx="42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X</a:t>
            </a:r>
            <a:endParaRPr lang="en-GB" b="1"/>
          </a:p>
        </p:txBody>
      </p: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5FC4BBAC-A255-4426-ADB4-E16C91C7EA2E}"/>
              </a:ext>
            </a:extLst>
          </p:cNvPr>
          <p:cNvCxnSpPr>
            <a:cxnSpLocks/>
          </p:cNvCxnSpPr>
          <p:nvPr/>
        </p:nvCxnSpPr>
        <p:spPr>
          <a:xfrm flipH="1">
            <a:off x="3598846" y="1979325"/>
            <a:ext cx="1" cy="1743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diritto 33">
            <a:extLst>
              <a:ext uri="{FF2B5EF4-FFF2-40B4-BE49-F238E27FC236}">
                <a16:creationId xmlns:a16="http://schemas.microsoft.com/office/drawing/2014/main" id="{C8F136F0-5046-4570-9137-34EB1F2F18A2}"/>
              </a:ext>
            </a:extLst>
          </p:cNvPr>
          <p:cNvCxnSpPr>
            <a:cxnSpLocks/>
          </p:cNvCxnSpPr>
          <p:nvPr/>
        </p:nvCxnSpPr>
        <p:spPr>
          <a:xfrm flipV="1">
            <a:off x="5553277" y="1979325"/>
            <a:ext cx="0" cy="1743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0D2E8ECB-5ACA-44CD-979A-15CB249282B0}"/>
              </a:ext>
            </a:extLst>
          </p:cNvPr>
          <p:cNvCxnSpPr>
            <a:cxnSpLocks/>
          </p:cNvCxnSpPr>
          <p:nvPr/>
        </p:nvCxnSpPr>
        <p:spPr>
          <a:xfrm flipH="1">
            <a:off x="3597617" y="1979325"/>
            <a:ext cx="19556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7366D5FC-1F87-4BC3-A57A-4741A1A73EFE}"/>
              </a:ext>
            </a:extLst>
          </p:cNvPr>
          <p:cNvSpPr txBox="1"/>
          <p:nvPr/>
        </p:nvSpPr>
        <p:spPr>
          <a:xfrm>
            <a:off x="4248736" y="1661227"/>
            <a:ext cx="64661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b="1"/>
              <a:t>M :j</a:t>
            </a:r>
            <a:endParaRPr lang="en-GB" b="1"/>
          </a:p>
        </p:txBody>
      </p: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F73913F0-4CD5-4856-82DC-9E63079262F8}"/>
              </a:ext>
            </a:extLst>
          </p:cNvPr>
          <p:cNvCxnSpPr>
            <a:cxnSpLocks/>
          </p:cNvCxnSpPr>
          <p:nvPr/>
        </p:nvCxnSpPr>
        <p:spPr>
          <a:xfrm>
            <a:off x="6871425" y="1793176"/>
            <a:ext cx="26000" cy="19358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diritto 38">
            <a:extLst>
              <a:ext uri="{FF2B5EF4-FFF2-40B4-BE49-F238E27FC236}">
                <a16:creationId xmlns:a16="http://schemas.microsoft.com/office/drawing/2014/main" id="{35453608-9899-4920-AFFB-3A641C95F209}"/>
              </a:ext>
            </a:extLst>
          </p:cNvPr>
          <p:cNvCxnSpPr>
            <a:cxnSpLocks/>
          </p:cNvCxnSpPr>
          <p:nvPr/>
        </p:nvCxnSpPr>
        <p:spPr>
          <a:xfrm flipH="1">
            <a:off x="6721597" y="3732891"/>
            <a:ext cx="17582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diritto 39">
            <a:extLst>
              <a:ext uri="{FF2B5EF4-FFF2-40B4-BE49-F238E27FC236}">
                <a16:creationId xmlns:a16="http://schemas.microsoft.com/office/drawing/2014/main" id="{B448C795-2E39-420D-B939-D95E87F15CC5}"/>
              </a:ext>
            </a:extLst>
          </p:cNvPr>
          <p:cNvCxnSpPr>
            <a:cxnSpLocks/>
          </p:cNvCxnSpPr>
          <p:nvPr/>
        </p:nvCxnSpPr>
        <p:spPr>
          <a:xfrm flipH="1">
            <a:off x="6695597" y="1786779"/>
            <a:ext cx="17582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3873BFB4-B4E9-4CB3-AFC3-153DB39D2AB9}"/>
              </a:ext>
            </a:extLst>
          </p:cNvPr>
          <p:cNvSpPr txBox="1"/>
          <p:nvPr/>
        </p:nvSpPr>
        <p:spPr>
          <a:xfrm>
            <a:off x="6928676" y="2576426"/>
            <a:ext cx="42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M</a:t>
            </a:r>
            <a:endParaRPr lang="en-GB" b="1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3AFAE5B8-E713-4B3B-BEFA-49E8E51E2424}"/>
              </a:ext>
            </a:extLst>
          </p:cNvPr>
          <p:cNvSpPr txBox="1"/>
          <p:nvPr/>
        </p:nvSpPr>
        <p:spPr>
          <a:xfrm>
            <a:off x="7330530" y="2583937"/>
            <a:ext cx="42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=</a:t>
            </a:r>
            <a:endParaRPr lang="en-GB" b="1"/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08C5A66D-0DA2-4347-9615-EBACE53E6307}"/>
              </a:ext>
            </a:extLst>
          </p:cNvPr>
          <p:cNvSpPr/>
          <p:nvPr/>
        </p:nvSpPr>
        <p:spPr>
          <a:xfrm>
            <a:off x="7723184" y="2339884"/>
            <a:ext cx="354972" cy="2690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EA24EF1F-FB35-4FB0-9A88-9C08CAA2DE63}"/>
              </a:ext>
            </a:extLst>
          </p:cNvPr>
          <p:cNvSpPr/>
          <p:nvPr/>
        </p:nvSpPr>
        <p:spPr>
          <a:xfrm>
            <a:off x="7723184" y="2676678"/>
            <a:ext cx="354972" cy="2690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12092630-C30B-446C-886B-D4E216C67FD3}"/>
              </a:ext>
            </a:extLst>
          </p:cNvPr>
          <p:cNvSpPr/>
          <p:nvPr/>
        </p:nvSpPr>
        <p:spPr>
          <a:xfrm>
            <a:off x="7723184" y="3013472"/>
            <a:ext cx="354972" cy="2690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2" name="Connettore diritto 51">
            <a:extLst>
              <a:ext uri="{FF2B5EF4-FFF2-40B4-BE49-F238E27FC236}">
                <a16:creationId xmlns:a16="http://schemas.microsoft.com/office/drawing/2014/main" id="{ED7A80FC-90D1-45BE-92CB-E306FA7DBD1A}"/>
              </a:ext>
            </a:extLst>
          </p:cNvPr>
          <p:cNvCxnSpPr>
            <a:cxnSpLocks/>
          </p:cNvCxnSpPr>
          <p:nvPr/>
        </p:nvCxnSpPr>
        <p:spPr>
          <a:xfrm>
            <a:off x="8360083" y="2306072"/>
            <a:ext cx="3147" cy="10043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diritto 52">
            <a:extLst>
              <a:ext uri="{FF2B5EF4-FFF2-40B4-BE49-F238E27FC236}">
                <a16:creationId xmlns:a16="http://schemas.microsoft.com/office/drawing/2014/main" id="{F2214A9A-A13D-4780-A576-86C0451D484D}"/>
              </a:ext>
            </a:extLst>
          </p:cNvPr>
          <p:cNvCxnSpPr>
            <a:cxnSpLocks/>
          </p:cNvCxnSpPr>
          <p:nvPr/>
        </p:nvCxnSpPr>
        <p:spPr>
          <a:xfrm flipH="1">
            <a:off x="8185829" y="3310377"/>
            <a:ext cx="17582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diritto 53">
            <a:extLst>
              <a:ext uri="{FF2B5EF4-FFF2-40B4-BE49-F238E27FC236}">
                <a16:creationId xmlns:a16="http://schemas.microsoft.com/office/drawing/2014/main" id="{9F879976-2418-438F-8156-22AE02564B6B}"/>
              </a:ext>
            </a:extLst>
          </p:cNvPr>
          <p:cNvCxnSpPr>
            <a:cxnSpLocks/>
          </p:cNvCxnSpPr>
          <p:nvPr/>
        </p:nvCxnSpPr>
        <p:spPr>
          <a:xfrm flipH="1">
            <a:off x="8185829" y="2310196"/>
            <a:ext cx="17582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BCD62E86-1E6E-4C33-9795-F9C68C639897}"/>
              </a:ext>
            </a:extLst>
          </p:cNvPr>
          <p:cNvSpPr txBox="1"/>
          <p:nvPr/>
        </p:nvSpPr>
        <p:spPr>
          <a:xfrm>
            <a:off x="8397775" y="2602369"/>
            <a:ext cx="42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N</a:t>
            </a:r>
            <a:endParaRPr lang="en-GB" b="1"/>
          </a:p>
        </p:txBody>
      </p:sp>
    </p:spTree>
    <p:extLst>
      <p:ext uri="{BB962C8B-B14F-4D97-AF65-F5344CB8AC3E}">
        <p14:creationId xmlns:p14="http://schemas.microsoft.com/office/powerpoint/2010/main" val="4114621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FC51-9167-408B-845E-3BFE98670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/>
              <a:t>Assembly Code</a:t>
            </a:r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0A144-2286-43BC-9B39-55624A75437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3F71A65-2F38-4463-B476-657F65EA2BC6}"/>
              </a:ext>
            </a:extLst>
          </p:cNvPr>
          <p:cNvSpPr txBox="1">
            <a:spLocks/>
          </p:cNvSpPr>
          <p:nvPr/>
        </p:nvSpPr>
        <p:spPr>
          <a:xfrm>
            <a:off x="527051" y="1124744"/>
            <a:ext cx="11233149" cy="165618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A disassembler is a computer program that translates machine language into assembly language—the inverse operation to that of an assembler. </a:t>
            </a:r>
            <a:r>
              <a:rPr lang="en-US" sz="2400" b="1" dirty="0"/>
              <a:t>Disassembly</a:t>
            </a:r>
            <a:r>
              <a:rPr lang="en-US" sz="2400" dirty="0"/>
              <a:t>, the output of a disassembler, is often formatted for human-readability rather than suitability for input to an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Source Sans Pro"/>
                <a:cs typeface="Calibri"/>
              </a:rPr>
              <a:t>assembler</a:t>
            </a:r>
            <a:r>
              <a:rPr lang="en-US" sz="2400" dirty="0"/>
              <a:t>, making it principally a reverse-engineering tool. </a:t>
            </a:r>
            <a:r>
              <a:rPr lang="en-US" sz="2400" i="1" dirty="0"/>
              <a:t>[Wikipedia]</a:t>
            </a:r>
            <a:endParaRPr lang="en-GB" sz="2400" i="1" dirty="0"/>
          </a:p>
          <a:p>
            <a:pPr marL="0" indent="0">
              <a:buNone/>
            </a:pPr>
            <a:endParaRPr lang="en-GB" sz="2400" i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1D0F77-E647-4FFD-9E3C-AF763401D822}"/>
              </a:ext>
            </a:extLst>
          </p:cNvPr>
          <p:cNvSpPr/>
          <p:nvPr/>
        </p:nvSpPr>
        <p:spPr>
          <a:xfrm>
            <a:off x="4329624" y="3851485"/>
            <a:ext cx="353613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make dis &gt; dis.txt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294B42-A6B4-49D1-9CF2-25739D69F6BD}"/>
              </a:ext>
            </a:extLst>
          </p:cNvPr>
          <p:cNvSpPr txBox="1"/>
          <p:nvPr/>
        </p:nvSpPr>
        <p:spPr>
          <a:xfrm>
            <a:off x="528451" y="2903516"/>
            <a:ext cx="645423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To produce the assembly code, use the command:</a:t>
            </a:r>
            <a:endParaRPr lang="en-US" sz="2400" dirty="0"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C9DCE0-7B69-41BC-B70C-E54B4FE64D83}"/>
              </a:ext>
            </a:extLst>
          </p:cNvPr>
          <p:cNvSpPr txBox="1"/>
          <p:nvPr/>
        </p:nvSpPr>
        <p:spPr>
          <a:xfrm>
            <a:off x="528486" y="4713911"/>
            <a:ext cx="6634858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/>
              <a:t>Check the RI5CY User manual: </a:t>
            </a:r>
            <a:br>
              <a:rPr lang="en-US" dirty="0"/>
            </a:br>
            <a:r>
              <a:rPr lang="en-US" dirty="0">
                <a:hlinkClick r:id="rId2"/>
              </a:rPr>
              <a:t>https://riscv.org/wp-content/uploads/2017/05/riscv-spec-v2.2.pdf</a:t>
            </a:r>
            <a:r>
              <a:rPr lang="en-US" dirty="0"/>
              <a:t>  </a:t>
            </a:r>
            <a:br>
              <a:rPr lang="en-US" dirty="0"/>
            </a:br>
            <a:r>
              <a:rPr lang="en-US" dirty="0">
                <a:hlinkClick r:id="rId3"/>
              </a:rPr>
              <a:t>https://www.pulp-platform.org/docs/ri5cy_user_manual.pdf</a:t>
            </a:r>
            <a:r>
              <a:rPr lang="en-US" dirty="0"/>
              <a:t>  </a:t>
            </a:r>
          </a:p>
        </p:txBody>
      </p:sp>
    </p:spTree>
    <p:extLst>
      <p:ext uri="{BB962C8B-B14F-4D97-AF65-F5344CB8AC3E}">
        <p14:creationId xmlns:p14="http://schemas.microsoft.com/office/powerpoint/2010/main" val="3779338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85B370-0194-4CEB-AFEF-318985F8708D}"/>
              </a:ext>
            </a:extLst>
          </p:cNvPr>
          <p:cNvSpPr txBox="1"/>
          <p:nvPr/>
        </p:nvSpPr>
        <p:spPr>
          <a:xfrm>
            <a:off x="438149" y="1667741"/>
            <a:ext cx="5469830" cy="38164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ea typeface="+mn-lt"/>
                <a:cs typeface="+mn-lt"/>
              </a:rPr>
              <a:t>1c008706 &lt;</a:t>
            </a:r>
            <a:r>
              <a:rPr lang="en-US" sz="1100" b="1">
                <a:solidFill>
                  <a:srgbClr val="00B0F0"/>
                </a:solidFill>
                <a:ea typeface="+mn-lt"/>
                <a:cs typeface="+mn-lt"/>
              </a:rPr>
              <a:t>gemv</a:t>
            </a:r>
            <a:r>
              <a:rPr lang="en-US" sz="1100">
                <a:ea typeface="+mn-lt"/>
                <a:cs typeface="+mn-lt"/>
              </a:rPr>
              <a:t>&gt;: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1c008706:    02a05d63              blez    a0,1c008740 &lt;gemv+0x3a&gt;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1c00870a:    00259f13              slli    t5,a1,0x2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1c00870e:    8fb6                    mv    t6,a3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1c008710:    01e68e33              add    t3,a3,t5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1c008714:    4e81                    li    t4,0</a:t>
            </a:r>
            <a:endParaRPr lang="en-US"/>
          </a:p>
          <a:p>
            <a:r>
              <a:rPr lang="en-US" sz="1100">
                <a:ea typeface="+mn-lt"/>
                <a:cs typeface="+mn-lt"/>
              </a:rPr>
              <a:t>1c008716:    a005                    j    </a:t>
            </a:r>
            <a:r>
              <a:rPr lang="en-US" sz="1100">
                <a:solidFill>
                  <a:srgbClr val="00B050"/>
                </a:solidFill>
                <a:ea typeface="+mn-lt"/>
                <a:cs typeface="+mn-lt"/>
              </a:rPr>
              <a:t>1c008736 </a:t>
            </a:r>
            <a:r>
              <a:rPr lang="en-US" sz="1100">
                <a:ea typeface="+mn-lt"/>
                <a:cs typeface="+mn-lt"/>
              </a:rPr>
              <a:t>&lt;gemv+0x30&gt;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solidFill>
                  <a:srgbClr val="0000FF"/>
                </a:solidFill>
                <a:ea typeface="+mn-lt"/>
                <a:cs typeface="+mn-lt"/>
              </a:rPr>
              <a:t>1c008718</a:t>
            </a:r>
            <a:r>
              <a:rPr lang="en-US" sz="1100">
                <a:ea typeface="+mn-lt"/>
                <a:cs typeface="+mn-lt"/>
              </a:rPr>
              <a:t>:    0048230b              p.lw    t1,4(a6!)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1c00871c:    0046a88b              p.lw    a7,4(a3!)</a:t>
            </a:r>
            <a:endParaRPr lang="en-US"/>
          </a:p>
          <a:p>
            <a:r>
              <a:rPr lang="en-US" sz="1100">
                <a:ea typeface="+mn-lt"/>
                <a:cs typeface="+mn-lt"/>
              </a:rPr>
              <a:t>1c008720:    431c                    lw    a5,0(a4)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1c008722:    431307b3              p.mac    a5,t1,a7</a:t>
            </a:r>
            <a:endParaRPr lang="en-US"/>
          </a:p>
          <a:p>
            <a:r>
              <a:rPr lang="en-US" sz="1100">
                <a:ea typeface="+mn-lt"/>
                <a:cs typeface="+mn-lt"/>
              </a:rPr>
              <a:t>1c008726:    c31c                    sw    a5,0(a4)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1c008728:    ffc698e3              bne    a3,t3,</a:t>
            </a:r>
            <a:r>
              <a:rPr lang="en-US" sz="1100">
                <a:solidFill>
                  <a:srgbClr val="0000FF"/>
                </a:solidFill>
                <a:ea typeface="+mn-lt"/>
                <a:cs typeface="+mn-lt"/>
              </a:rPr>
              <a:t>1c008718 </a:t>
            </a:r>
            <a:r>
              <a:rPr lang="en-US" sz="1100">
                <a:ea typeface="+mn-lt"/>
                <a:cs typeface="+mn-lt"/>
              </a:rPr>
              <a:t>&lt;gemv+0x12&gt;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1c00872c:    0e85                    addi    t4,t4,1</a:t>
            </a:r>
            <a:endParaRPr lang="en-US"/>
          </a:p>
          <a:p>
            <a:r>
              <a:rPr lang="en-US" sz="1100">
                <a:ea typeface="+mn-lt"/>
                <a:cs typeface="+mn-lt"/>
              </a:rPr>
              <a:t>1c00872e:    967a                    add    a2,a2,t5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1c008730:    0711                    addi    a4,a4,4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1c008732:    01d50763              beq    a0,t4,1c008740 &lt;gemv+0x3a&gt;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solidFill>
                  <a:srgbClr val="00B050"/>
                </a:solidFill>
                <a:ea typeface="+mn-lt"/>
                <a:cs typeface="+mn-lt"/>
              </a:rPr>
              <a:t>1c008736</a:t>
            </a:r>
            <a:r>
              <a:rPr lang="en-US" sz="1100">
                <a:ea typeface="+mn-lt"/>
                <a:cs typeface="+mn-lt"/>
              </a:rPr>
              <a:t>:    86fe                    mv    a3,t6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1c008738:    8832                    mv    a6,a2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1c00873a:    fcb04fe3              bgtz    a1,</a:t>
            </a:r>
            <a:r>
              <a:rPr lang="en-US" sz="1100">
                <a:solidFill>
                  <a:srgbClr val="0000FF"/>
                </a:solidFill>
                <a:ea typeface="+mn-lt"/>
                <a:cs typeface="+mn-lt"/>
              </a:rPr>
              <a:t>1c008718 </a:t>
            </a:r>
            <a:r>
              <a:rPr lang="en-US" sz="1100">
                <a:ea typeface="+mn-lt"/>
                <a:cs typeface="+mn-lt"/>
              </a:rPr>
              <a:t>&lt;gemv+0x12&gt;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1c00873e:    b7fd                    j    1c00872c &lt;gemv+0x26&gt;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1c008740:    8082                    ret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FAF382-4A9D-41B9-B7DC-459BDC4C2B3D}"/>
              </a:ext>
            </a:extLst>
          </p:cNvPr>
          <p:cNvSpPr/>
          <p:nvPr/>
        </p:nvSpPr>
        <p:spPr>
          <a:xfrm>
            <a:off x="239855" y="5175537"/>
            <a:ext cx="4199657" cy="69272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45A88D4-C2E9-450F-B6CD-B36336016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algn="l"/>
            <a:r>
              <a:rPr lang="en-GB">
                <a:latin typeface="Source Sans Pro"/>
                <a:ea typeface="Source Sans Pro"/>
              </a:rPr>
              <a:t>Assembly Code</a:t>
            </a:r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60571-7C63-4ACD-A4BB-3AC2E4EF33D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B6D83D-3537-4330-9CF2-8856065392F2}"/>
              </a:ext>
            </a:extLst>
          </p:cNvPr>
          <p:cNvSpPr txBox="1"/>
          <p:nvPr/>
        </p:nvSpPr>
        <p:spPr>
          <a:xfrm>
            <a:off x="305696" y="5473437"/>
            <a:ext cx="522590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PC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033256-AC70-4BAA-9306-835C91F775CA}"/>
              </a:ext>
            </a:extLst>
          </p:cNvPr>
          <p:cNvSpPr txBox="1"/>
          <p:nvPr/>
        </p:nvSpPr>
        <p:spPr>
          <a:xfrm>
            <a:off x="1475644" y="5473437"/>
            <a:ext cx="962081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opcode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70608D-2F11-4444-8A54-026E32B8BE8B}"/>
              </a:ext>
            </a:extLst>
          </p:cNvPr>
          <p:cNvSpPr txBox="1"/>
          <p:nvPr/>
        </p:nvSpPr>
        <p:spPr>
          <a:xfrm>
            <a:off x="2865660" y="5473437"/>
            <a:ext cx="1411794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Instruction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CBD083-D6BF-466C-959E-AAD0A3649DB4}"/>
              </a:ext>
            </a:extLst>
          </p:cNvPr>
          <p:cNvSpPr txBox="1"/>
          <p:nvPr/>
        </p:nvSpPr>
        <p:spPr>
          <a:xfrm>
            <a:off x="213013" y="5157354"/>
            <a:ext cx="4899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1c008738:    8832                    mv    a6,a2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619013-64B9-4E77-AE39-5C237FD01866}"/>
              </a:ext>
            </a:extLst>
          </p:cNvPr>
          <p:cNvSpPr/>
          <p:nvPr/>
        </p:nvSpPr>
        <p:spPr>
          <a:xfrm>
            <a:off x="508287" y="4678258"/>
            <a:ext cx="2294657" cy="2091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593110A-1425-4097-BB30-674789873B43}"/>
              </a:ext>
            </a:extLst>
          </p:cNvPr>
          <p:cNvCxnSpPr/>
          <p:nvPr/>
        </p:nvCxnSpPr>
        <p:spPr>
          <a:xfrm>
            <a:off x="2733056" y="4671455"/>
            <a:ext cx="1645225" cy="486146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258844A-44B5-409D-B0C0-3D68C6E046C5}"/>
              </a:ext>
            </a:extLst>
          </p:cNvPr>
          <p:cNvCxnSpPr>
            <a:cxnSpLocks/>
          </p:cNvCxnSpPr>
          <p:nvPr/>
        </p:nvCxnSpPr>
        <p:spPr>
          <a:xfrm flipH="1">
            <a:off x="249132" y="4666507"/>
            <a:ext cx="257300" cy="519545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561D3F6A-B5F5-4665-A418-76008B012BAD}"/>
              </a:ext>
            </a:extLst>
          </p:cNvPr>
          <p:cNvSpPr/>
          <p:nvPr/>
        </p:nvSpPr>
        <p:spPr>
          <a:xfrm>
            <a:off x="508906" y="2897474"/>
            <a:ext cx="3835497" cy="99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F8D9CF-95A0-4B4C-9CE2-138B72445345}"/>
              </a:ext>
            </a:extLst>
          </p:cNvPr>
          <p:cNvSpPr txBox="1"/>
          <p:nvPr/>
        </p:nvSpPr>
        <p:spPr>
          <a:xfrm>
            <a:off x="6375564" y="2020807"/>
            <a:ext cx="5271982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latin typeface="Courier New"/>
                <a:cs typeface="Courier New"/>
              </a:rPr>
              <a:t>// generic matrix-vector multiplication</a:t>
            </a:r>
          </a:p>
          <a:p>
            <a:r>
              <a:rPr lang="en-US" sz="1200">
                <a:latin typeface="Courier New"/>
                <a:cs typeface="Courier New"/>
              </a:rPr>
              <a:t>void </a:t>
            </a:r>
            <a:r>
              <a:rPr lang="en-US" sz="1200" b="1" err="1">
                <a:solidFill>
                  <a:srgbClr val="00B0F0"/>
                </a:solidFill>
                <a:latin typeface="Courier New"/>
                <a:cs typeface="Courier New"/>
              </a:rPr>
              <a:t>gemv</a:t>
            </a:r>
            <a:r>
              <a:rPr lang="en-US" sz="1200">
                <a:latin typeface="Courier New"/>
                <a:cs typeface="Courier New"/>
              </a:rPr>
              <a:t>(int </a:t>
            </a:r>
            <a:r>
              <a:rPr lang="en-US" sz="1200" err="1">
                <a:latin typeface="Courier New"/>
                <a:cs typeface="Courier New"/>
              </a:rPr>
              <a:t>size_N</a:t>
            </a:r>
            <a:r>
              <a:rPr lang="en-US" sz="1200">
                <a:latin typeface="Courier New"/>
                <a:cs typeface="Courier New"/>
              </a:rPr>
              <a:t>, int </a:t>
            </a:r>
            <a:r>
              <a:rPr lang="en-US" sz="1200" err="1">
                <a:latin typeface="Courier New"/>
                <a:cs typeface="Courier New"/>
              </a:rPr>
              <a:t>size_M</a:t>
            </a:r>
            <a:r>
              <a:rPr lang="en-US" sz="1200">
                <a:latin typeface="Courier New"/>
                <a:cs typeface="Courier New"/>
              </a:rPr>
              <a:t>, </a:t>
            </a:r>
          </a:p>
          <a:p>
            <a:r>
              <a:rPr lang="en-US" sz="1200">
                <a:latin typeface="Courier New"/>
                <a:cs typeface="Courier New"/>
              </a:rPr>
              <a:t>	float * </a:t>
            </a:r>
            <a:r>
              <a:rPr lang="en-US" sz="1200" err="1">
                <a:latin typeface="Courier New"/>
                <a:cs typeface="Courier New"/>
              </a:rPr>
              <a:t>mat_I</a:t>
            </a:r>
            <a:r>
              <a:rPr lang="en-US" sz="1200">
                <a:latin typeface="Courier New"/>
                <a:cs typeface="Courier New"/>
              </a:rPr>
              <a:t>, float *</a:t>
            </a:r>
            <a:r>
              <a:rPr lang="en-US" sz="1200" err="1">
                <a:latin typeface="Courier New"/>
                <a:cs typeface="Courier New"/>
              </a:rPr>
              <a:t>vec_i</a:t>
            </a:r>
            <a:r>
              <a:rPr lang="en-US" sz="1200">
                <a:latin typeface="Courier New"/>
                <a:cs typeface="Courier New"/>
              </a:rPr>
              <a:t>, float * </a:t>
            </a:r>
            <a:r>
              <a:rPr lang="en-US" sz="1200" err="1">
                <a:latin typeface="Courier New"/>
                <a:cs typeface="Courier New"/>
              </a:rPr>
              <a:t>vec_o</a:t>
            </a:r>
            <a:r>
              <a:rPr lang="en-US" sz="1200">
                <a:latin typeface="Courier New"/>
                <a:cs typeface="Courier New"/>
              </a:rPr>
              <a:t>)</a:t>
            </a:r>
          </a:p>
          <a:p>
            <a:r>
              <a:rPr lang="en-US" sz="1200">
                <a:latin typeface="Courier New"/>
                <a:cs typeface="Courier New"/>
              </a:rPr>
              <a:t>{</a:t>
            </a:r>
            <a:endParaRPr lang="en-US" sz="1200">
              <a:cs typeface="Calibri"/>
            </a:endParaRPr>
          </a:p>
          <a:p>
            <a:r>
              <a:rPr lang="en-US" sz="1200">
                <a:latin typeface="Courier New"/>
                <a:cs typeface="Courier New"/>
              </a:rPr>
              <a:t>    </a:t>
            </a:r>
            <a:r>
              <a:rPr lang="en-US" sz="1200" b="1">
                <a:latin typeface="Courier New"/>
                <a:cs typeface="Courier New"/>
              </a:rPr>
              <a:t>for</a:t>
            </a:r>
            <a:r>
              <a:rPr lang="en-US" sz="1200">
                <a:latin typeface="Courier New"/>
                <a:cs typeface="Courier New"/>
              </a:rPr>
              <a:t> (int </a:t>
            </a:r>
            <a:r>
              <a:rPr lang="en-US" sz="1200" err="1">
                <a:latin typeface="Courier New"/>
                <a:cs typeface="Courier New"/>
              </a:rPr>
              <a:t>i</a:t>
            </a:r>
            <a:r>
              <a:rPr lang="en-US" sz="1200">
                <a:latin typeface="Courier New"/>
                <a:cs typeface="Courier New"/>
              </a:rPr>
              <a:t>=0; </a:t>
            </a:r>
            <a:r>
              <a:rPr lang="en-US" sz="1200" err="1">
                <a:latin typeface="Courier New"/>
                <a:cs typeface="Courier New"/>
              </a:rPr>
              <a:t>i</a:t>
            </a:r>
            <a:r>
              <a:rPr lang="en-US" sz="1200">
                <a:latin typeface="Courier New"/>
                <a:cs typeface="Courier New"/>
              </a:rPr>
              <a:t>&lt;</a:t>
            </a:r>
            <a:r>
              <a:rPr lang="en-US" sz="1200" err="1">
                <a:latin typeface="Courier New"/>
                <a:cs typeface="Courier New"/>
              </a:rPr>
              <a:t>size_N</a:t>
            </a:r>
            <a:r>
              <a:rPr lang="en-US" sz="1200">
                <a:latin typeface="Courier New"/>
                <a:cs typeface="Courier New"/>
              </a:rPr>
              <a:t>; </a:t>
            </a:r>
            <a:r>
              <a:rPr lang="en-US" sz="1200" err="1">
                <a:latin typeface="Courier New"/>
                <a:cs typeface="Courier New"/>
              </a:rPr>
              <a:t>i</a:t>
            </a:r>
            <a:r>
              <a:rPr lang="en-US" sz="1200">
                <a:latin typeface="Courier New"/>
                <a:cs typeface="Courier New"/>
              </a:rPr>
              <a:t>++){</a:t>
            </a:r>
          </a:p>
          <a:p>
            <a:r>
              <a:rPr lang="en-US" sz="1200">
                <a:latin typeface="Courier New"/>
                <a:cs typeface="Courier New"/>
              </a:rPr>
              <a:t>      </a:t>
            </a:r>
            <a:r>
              <a:rPr lang="en-US" sz="1200" b="1">
                <a:latin typeface="Courier New"/>
                <a:cs typeface="Courier New"/>
              </a:rPr>
              <a:t>for</a:t>
            </a:r>
            <a:r>
              <a:rPr lang="en-US" sz="1200">
                <a:latin typeface="Courier New"/>
                <a:cs typeface="Courier New"/>
              </a:rPr>
              <a:t> (int j=0; j&lt;</a:t>
            </a:r>
            <a:r>
              <a:rPr lang="en-US" sz="1200" err="1">
                <a:latin typeface="Courier New"/>
                <a:cs typeface="Courier New"/>
              </a:rPr>
              <a:t>size_M</a:t>
            </a:r>
            <a:r>
              <a:rPr lang="en-US" sz="1200">
                <a:latin typeface="Courier New"/>
                <a:cs typeface="Courier New"/>
              </a:rPr>
              <a:t>; </a:t>
            </a:r>
            <a:r>
              <a:rPr lang="en-US" sz="1200" err="1">
                <a:latin typeface="Courier New"/>
                <a:cs typeface="Courier New"/>
              </a:rPr>
              <a:t>j++</a:t>
            </a:r>
            <a:r>
              <a:rPr lang="en-US" sz="1200">
                <a:latin typeface="Courier New"/>
                <a:cs typeface="Courier New"/>
              </a:rPr>
              <a:t>){</a:t>
            </a:r>
          </a:p>
          <a:p>
            <a:r>
              <a:rPr lang="en-US" sz="1200">
                <a:latin typeface="Courier New"/>
                <a:cs typeface="Courier New"/>
              </a:rPr>
              <a:t>          // </a:t>
            </a:r>
            <a:r>
              <a:rPr lang="en-US" sz="1200" err="1">
                <a:latin typeface="Courier New"/>
                <a:cs typeface="Courier New"/>
              </a:rPr>
              <a:t>mulitply</a:t>
            </a:r>
            <a:r>
              <a:rPr lang="en-US" sz="1200">
                <a:latin typeface="Courier New"/>
                <a:cs typeface="Courier New"/>
              </a:rPr>
              <a:t> accumulate operation</a:t>
            </a:r>
          </a:p>
          <a:p>
            <a:r>
              <a:rPr lang="en-US" sz="1200">
                <a:latin typeface="Courier New"/>
                <a:cs typeface="Courier New"/>
              </a:rPr>
              <a:t>          </a:t>
            </a:r>
            <a:r>
              <a:rPr lang="en-US" sz="1200" err="1">
                <a:latin typeface="Courier New"/>
                <a:cs typeface="Courier New"/>
              </a:rPr>
              <a:t>vec_o</a:t>
            </a:r>
            <a:r>
              <a:rPr lang="en-US" sz="1200">
                <a:latin typeface="Courier New"/>
                <a:cs typeface="Courier New"/>
              </a:rPr>
              <a:t>[</a:t>
            </a:r>
            <a:r>
              <a:rPr lang="en-US" sz="1200" err="1">
                <a:latin typeface="Courier New"/>
                <a:cs typeface="Courier New"/>
              </a:rPr>
              <a:t>i</a:t>
            </a:r>
            <a:r>
              <a:rPr lang="en-US" sz="1200">
                <a:latin typeface="Courier New"/>
                <a:cs typeface="Courier New"/>
              </a:rPr>
              <a:t>] += </a:t>
            </a:r>
            <a:r>
              <a:rPr lang="en-US" sz="1200" err="1">
                <a:latin typeface="Courier New"/>
                <a:cs typeface="Courier New"/>
              </a:rPr>
              <a:t>mat_i</a:t>
            </a:r>
            <a:r>
              <a:rPr lang="en-US" sz="1200">
                <a:latin typeface="Courier New"/>
                <a:cs typeface="Courier New"/>
              </a:rPr>
              <a:t>[</a:t>
            </a:r>
            <a:r>
              <a:rPr lang="en-US" sz="1200" err="1">
                <a:latin typeface="Courier New"/>
                <a:cs typeface="Courier New"/>
              </a:rPr>
              <a:t>i</a:t>
            </a:r>
            <a:r>
              <a:rPr lang="en-US" sz="1200">
                <a:latin typeface="Courier New"/>
                <a:cs typeface="Courier New"/>
              </a:rPr>
              <a:t>*</a:t>
            </a:r>
            <a:r>
              <a:rPr lang="en-US" sz="1200" err="1">
                <a:latin typeface="Courier New"/>
                <a:cs typeface="Courier New"/>
              </a:rPr>
              <a:t>size_M+j</a:t>
            </a:r>
            <a:r>
              <a:rPr lang="en-US" sz="1200">
                <a:latin typeface="Courier New"/>
                <a:cs typeface="Courier New"/>
              </a:rPr>
              <a:t>] * </a:t>
            </a:r>
            <a:r>
              <a:rPr lang="en-US" sz="1200" err="1">
                <a:latin typeface="Courier New"/>
                <a:cs typeface="Courier New"/>
              </a:rPr>
              <a:t>vec_i</a:t>
            </a:r>
            <a:r>
              <a:rPr lang="en-US" sz="1200">
                <a:latin typeface="Courier New"/>
                <a:cs typeface="Courier New"/>
              </a:rPr>
              <a:t>[j];</a:t>
            </a:r>
          </a:p>
          <a:p>
            <a:r>
              <a:rPr lang="en-US" sz="1200">
                <a:latin typeface="Courier New"/>
                <a:cs typeface="Courier New"/>
              </a:rPr>
              <a:t>       }</a:t>
            </a:r>
          </a:p>
          <a:p>
            <a:r>
              <a:rPr lang="en-US" sz="1200">
                <a:latin typeface="Courier New"/>
                <a:cs typeface="Courier New"/>
              </a:rPr>
              <a:t>    }</a:t>
            </a:r>
          </a:p>
          <a:p>
            <a:r>
              <a:rPr lang="en-US" sz="1200">
                <a:latin typeface="Courier New"/>
                <a:cs typeface="Courier New"/>
              </a:rPr>
              <a:t>}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ACCB24-61B6-4691-B702-AF22FCC281AA}"/>
              </a:ext>
            </a:extLst>
          </p:cNvPr>
          <p:cNvCxnSpPr/>
          <p:nvPr/>
        </p:nvCxnSpPr>
        <p:spPr>
          <a:xfrm>
            <a:off x="6911822" y="3050966"/>
            <a:ext cx="0" cy="568278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D656B70-01D5-43C2-B7DF-A90202ADAA95}"/>
              </a:ext>
            </a:extLst>
          </p:cNvPr>
          <p:cNvSpPr txBox="1"/>
          <p:nvPr/>
        </p:nvSpPr>
        <p:spPr>
          <a:xfrm>
            <a:off x="6280314" y="3085602"/>
            <a:ext cx="625867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Inner loop</a:t>
            </a:r>
            <a:endParaRPr lang="en-US" sz="1400" b="1">
              <a:solidFill>
                <a:srgbClr val="FF0000"/>
              </a:solidFill>
              <a:cs typeface="Calibri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61CCAD7-C8B0-4747-B80E-D5E7B8D1A180}"/>
              </a:ext>
            </a:extLst>
          </p:cNvPr>
          <p:cNvCxnSpPr>
            <a:cxnSpLocks/>
          </p:cNvCxnSpPr>
          <p:nvPr/>
        </p:nvCxnSpPr>
        <p:spPr>
          <a:xfrm>
            <a:off x="4401277" y="3368261"/>
            <a:ext cx="1872208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1B89AED-E069-4F90-8F63-B054CB46D25B}"/>
              </a:ext>
            </a:extLst>
          </p:cNvPr>
          <p:cNvSpPr txBox="1"/>
          <p:nvPr/>
        </p:nvSpPr>
        <p:spPr>
          <a:xfrm>
            <a:off x="6335914" y="4734773"/>
            <a:ext cx="50558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/>
              <a:t>In th</a:t>
            </a:r>
            <a:r>
              <a:rPr lang="en-GB"/>
              <a:t>e </a:t>
            </a:r>
            <a:r>
              <a:rPr lang="en-GB" b="1" err="1"/>
              <a:t>Makefile</a:t>
            </a:r>
            <a:r>
              <a:rPr lang="en-GB"/>
              <a:t>:</a:t>
            </a:r>
            <a:endParaRPr lang="en-GB" sz="1800"/>
          </a:p>
          <a:p>
            <a:pPr marL="342900" indent="-342900">
              <a:buFont typeface="+mj-lt"/>
              <a:buAutoNum type="arabicPeriod"/>
            </a:pPr>
            <a:r>
              <a:rPr lang="en-GB" sz="1800"/>
              <a:t>Change from -03 to -01. What has changed in the assembly?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800"/>
              <a:t>Remove –</a:t>
            </a:r>
            <a:r>
              <a:rPr lang="en-GB" sz="1800" err="1"/>
              <a:t>mnohwloop</a:t>
            </a:r>
            <a:r>
              <a:rPr lang="en-GB" sz="1800"/>
              <a:t>. What has changed in the assembly?</a:t>
            </a:r>
          </a:p>
        </p:txBody>
      </p:sp>
    </p:spTree>
    <p:extLst>
      <p:ext uri="{BB962C8B-B14F-4D97-AF65-F5344CB8AC3E}">
        <p14:creationId xmlns:p14="http://schemas.microsoft.com/office/powerpoint/2010/main" val="2534696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280D726-C0F1-4734-80AA-4498635BF0EB}"/>
              </a:ext>
            </a:extLst>
          </p:cNvPr>
          <p:cNvSpPr txBox="1">
            <a:spLocks/>
          </p:cNvSpPr>
          <p:nvPr/>
        </p:nvSpPr>
        <p:spPr>
          <a:xfrm>
            <a:off x="3011632" y="143700"/>
            <a:ext cx="6797137" cy="50153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defRPr>
            </a:lvl1pPr>
          </a:lstStyle>
          <a:p>
            <a:pPr algn="l"/>
            <a:endParaRPr lang="it-I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848700-1D71-49CC-97BC-644E4EE941F1}"/>
              </a:ext>
            </a:extLst>
          </p:cNvPr>
          <p:cNvSpPr txBox="1"/>
          <p:nvPr/>
        </p:nvSpPr>
        <p:spPr>
          <a:xfrm>
            <a:off x="905740" y="3425537"/>
            <a:ext cx="4727366" cy="31393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ea typeface="+mn-lt"/>
                <a:cs typeface="+mn-lt"/>
              </a:rPr>
              <a:t>1c008706 &lt;</a:t>
            </a:r>
            <a:r>
              <a:rPr lang="en-US" sz="1100" b="1" err="1">
                <a:solidFill>
                  <a:srgbClr val="00B0F0"/>
                </a:solidFill>
                <a:ea typeface="+mn-lt"/>
                <a:cs typeface="+mn-lt"/>
              </a:rPr>
              <a:t>gemv</a:t>
            </a:r>
            <a:r>
              <a:rPr lang="en-US" sz="1100">
                <a:ea typeface="+mn-lt"/>
                <a:cs typeface="+mn-lt"/>
              </a:rPr>
              <a:t>&gt;: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1c008706:    02a05c63              </a:t>
            </a:r>
            <a:r>
              <a:rPr lang="en-US" sz="1100" err="1">
                <a:ea typeface="+mn-lt"/>
                <a:cs typeface="+mn-lt"/>
              </a:rPr>
              <a:t>blez</a:t>
            </a:r>
            <a:r>
              <a:rPr lang="en-US" sz="1100">
                <a:ea typeface="+mn-lt"/>
                <a:cs typeface="+mn-lt"/>
              </a:rPr>
              <a:t>    a0,1c00873e &lt;gemv+0x38&gt;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1c00870a:    02b05a63              </a:t>
            </a:r>
            <a:r>
              <a:rPr lang="en-US" sz="1100" err="1">
                <a:ea typeface="+mn-lt"/>
                <a:cs typeface="+mn-lt"/>
              </a:rPr>
              <a:t>blez</a:t>
            </a:r>
            <a:r>
              <a:rPr lang="en-US" sz="1100">
                <a:ea typeface="+mn-lt"/>
                <a:cs typeface="+mn-lt"/>
              </a:rPr>
              <a:t>    a1,1c00873e &lt;gemv+0x38&gt;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1c00870e:    00259e93              </a:t>
            </a:r>
            <a:r>
              <a:rPr lang="en-US" sz="1100" err="1">
                <a:ea typeface="+mn-lt"/>
                <a:cs typeface="+mn-lt"/>
              </a:rPr>
              <a:t>slli</a:t>
            </a:r>
            <a:r>
              <a:rPr lang="en-US" sz="1100">
                <a:ea typeface="+mn-lt"/>
                <a:cs typeface="+mn-lt"/>
              </a:rPr>
              <a:t>    t4,a1,0x2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1c008712:    050a                    </a:t>
            </a:r>
            <a:r>
              <a:rPr lang="en-US" sz="1100" err="1">
                <a:ea typeface="+mn-lt"/>
                <a:cs typeface="+mn-lt"/>
              </a:rPr>
              <a:t>slli</a:t>
            </a:r>
            <a:r>
              <a:rPr lang="en-US" sz="1100">
                <a:ea typeface="+mn-lt"/>
                <a:cs typeface="+mn-lt"/>
              </a:rPr>
              <a:t>    a0,a0,0x2</a:t>
            </a:r>
            <a:endParaRPr lang="en-US"/>
          </a:p>
          <a:p>
            <a:r>
              <a:rPr lang="en-US" sz="1100">
                <a:ea typeface="+mn-lt"/>
                <a:cs typeface="+mn-lt"/>
              </a:rPr>
              <a:t>1c008714:    00a70e33              add    t3,a4,a0</a:t>
            </a:r>
            <a:endParaRPr lang="en-US"/>
          </a:p>
          <a:p>
            <a:r>
              <a:rPr lang="en-US" sz="1100">
                <a:ea typeface="+mn-lt"/>
                <a:cs typeface="+mn-lt"/>
              </a:rPr>
              <a:t>1c008718:    01d68333              add    t1,a3,t4</a:t>
            </a:r>
            <a:endParaRPr lang="en-US"/>
          </a:p>
          <a:p>
            <a:r>
              <a:rPr lang="en-US" sz="1100">
                <a:solidFill>
                  <a:srgbClr val="E100B4"/>
                </a:solidFill>
                <a:ea typeface="+mn-lt"/>
                <a:cs typeface="+mn-lt"/>
              </a:rPr>
              <a:t>1c00871c</a:t>
            </a:r>
            <a:r>
              <a:rPr lang="en-US" sz="1100">
                <a:ea typeface="+mn-lt"/>
                <a:cs typeface="+mn-lt"/>
              </a:rPr>
              <a:t>:    0047258b              </a:t>
            </a:r>
            <a:r>
              <a:rPr lang="en-US" sz="1100" err="1">
                <a:ea typeface="+mn-lt"/>
                <a:cs typeface="+mn-lt"/>
              </a:rPr>
              <a:t>p.lw</a:t>
            </a:r>
            <a:r>
              <a:rPr lang="en-US" sz="1100">
                <a:ea typeface="+mn-lt"/>
                <a:cs typeface="+mn-lt"/>
              </a:rPr>
              <a:t>    a1,4(a4!) # 10004 &lt;__l1_heap_size+0x20&gt;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1c008720:    87b6                    mv    a5,a3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1c008722:    8532                    mv    a0,a2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solidFill>
                  <a:srgbClr val="FF0000"/>
                </a:solidFill>
                <a:ea typeface="+mn-lt"/>
                <a:cs typeface="+mn-lt"/>
              </a:rPr>
              <a:t>1c008724</a:t>
            </a:r>
            <a:r>
              <a:rPr lang="en-US" sz="1100">
                <a:ea typeface="+mn-lt"/>
                <a:cs typeface="+mn-lt"/>
              </a:rPr>
              <a:t>:    0045288b              </a:t>
            </a:r>
            <a:r>
              <a:rPr lang="en-US" sz="1100" err="1">
                <a:ea typeface="+mn-lt"/>
                <a:cs typeface="+mn-lt"/>
              </a:rPr>
              <a:t>p.lw</a:t>
            </a:r>
            <a:r>
              <a:rPr lang="en-US" sz="1100">
                <a:ea typeface="+mn-lt"/>
                <a:cs typeface="+mn-lt"/>
              </a:rPr>
              <a:t>    a7,4(a0!)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1c008728:    0047a80b              </a:t>
            </a:r>
            <a:r>
              <a:rPr lang="en-US" sz="1100" err="1">
                <a:ea typeface="+mn-lt"/>
                <a:cs typeface="+mn-lt"/>
              </a:rPr>
              <a:t>p.lw</a:t>
            </a:r>
            <a:r>
              <a:rPr lang="en-US" sz="1100">
                <a:ea typeface="+mn-lt"/>
                <a:cs typeface="+mn-lt"/>
              </a:rPr>
              <a:t>    a6,4(a5!)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1c00872c:    430885b3              p.mac    a1,a7,a6</a:t>
            </a:r>
            <a:endParaRPr lang="en-US"/>
          </a:p>
          <a:p>
            <a:r>
              <a:rPr lang="en-US" sz="1100">
                <a:ea typeface="+mn-lt"/>
                <a:cs typeface="+mn-lt"/>
              </a:rPr>
              <a:t>1c008730:    feb72e23              </a:t>
            </a:r>
            <a:r>
              <a:rPr lang="en-US" sz="1100" err="1">
                <a:ea typeface="+mn-lt"/>
                <a:cs typeface="+mn-lt"/>
              </a:rPr>
              <a:t>sw</a:t>
            </a:r>
            <a:r>
              <a:rPr lang="en-US" sz="1100">
                <a:ea typeface="+mn-lt"/>
                <a:cs typeface="+mn-lt"/>
              </a:rPr>
              <a:t>    a1,-4(a4)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1c008734:    fef318e3              </a:t>
            </a:r>
            <a:r>
              <a:rPr lang="en-US" sz="1100" err="1">
                <a:ea typeface="+mn-lt"/>
                <a:cs typeface="+mn-lt"/>
              </a:rPr>
              <a:t>bne</a:t>
            </a:r>
            <a:r>
              <a:rPr lang="en-US" sz="1100">
                <a:ea typeface="+mn-lt"/>
                <a:cs typeface="+mn-lt"/>
              </a:rPr>
              <a:t>    t1,a5,</a:t>
            </a:r>
            <a:r>
              <a:rPr lang="en-US" sz="1100">
                <a:solidFill>
                  <a:srgbClr val="FF0000"/>
                </a:solidFill>
                <a:ea typeface="+mn-lt"/>
                <a:cs typeface="+mn-lt"/>
              </a:rPr>
              <a:t>1c008724 </a:t>
            </a:r>
            <a:r>
              <a:rPr lang="en-US" sz="1100">
                <a:ea typeface="+mn-lt"/>
                <a:cs typeface="+mn-lt"/>
              </a:rPr>
              <a:t>&lt;gemv+0x1e&gt;</a:t>
            </a:r>
            <a:endParaRPr lang="en-US"/>
          </a:p>
          <a:p>
            <a:r>
              <a:rPr lang="en-US" sz="1100">
                <a:ea typeface="+mn-lt"/>
                <a:cs typeface="+mn-lt"/>
              </a:rPr>
              <a:t>1c008738:    9676                    add    a2,a2,t4</a:t>
            </a:r>
            <a:endParaRPr lang="en-US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1c00873a:    feee11e3              </a:t>
            </a:r>
            <a:r>
              <a:rPr lang="en-US" sz="1100" err="1">
                <a:ea typeface="+mn-lt"/>
                <a:cs typeface="+mn-lt"/>
              </a:rPr>
              <a:t>bne</a:t>
            </a:r>
            <a:r>
              <a:rPr lang="en-US" sz="1100">
                <a:ea typeface="+mn-lt"/>
                <a:cs typeface="+mn-lt"/>
              </a:rPr>
              <a:t>    t3,a4,</a:t>
            </a:r>
            <a:r>
              <a:rPr lang="en-US" sz="1100">
                <a:solidFill>
                  <a:srgbClr val="E100B4"/>
                </a:solidFill>
                <a:ea typeface="+mn-lt"/>
                <a:cs typeface="+mn-lt"/>
              </a:rPr>
              <a:t>1c00871c </a:t>
            </a:r>
            <a:r>
              <a:rPr lang="en-US" sz="1100">
                <a:ea typeface="+mn-lt"/>
                <a:cs typeface="+mn-lt"/>
              </a:rPr>
              <a:t>&lt;gemv+0x16&gt;</a:t>
            </a:r>
            <a:endParaRPr lang="en-US"/>
          </a:p>
          <a:p>
            <a:r>
              <a:rPr lang="en-US" sz="1100">
                <a:ea typeface="+mn-lt"/>
                <a:cs typeface="+mn-lt"/>
              </a:rPr>
              <a:t>1c00873e:    8082                    ret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D93F63-1547-44F6-8517-131FC43765D6}"/>
              </a:ext>
            </a:extLst>
          </p:cNvPr>
          <p:cNvSpPr/>
          <p:nvPr/>
        </p:nvSpPr>
        <p:spPr>
          <a:xfrm>
            <a:off x="927979" y="5169890"/>
            <a:ext cx="3859479" cy="8226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1A6CE8-0650-443E-8F6B-5074F662409F}"/>
              </a:ext>
            </a:extLst>
          </p:cNvPr>
          <p:cNvSpPr txBox="1"/>
          <p:nvPr/>
        </p:nvSpPr>
        <p:spPr>
          <a:xfrm>
            <a:off x="5931417" y="4247926"/>
            <a:ext cx="7349836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latin typeface="Courier New"/>
                <a:cs typeface="Courier New"/>
              </a:rPr>
              <a:t>// generic matrix-vector multiplication</a:t>
            </a:r>
          </a:p>
          <a:p>
            <a:r>
              <a:rPr lang="en-US" sz="1200">
                <a:latin typeface="Courier New"/>
                <a:cs typeface="Courier New"/>
              </a:rPr>
              <a:t>void </a:t>
            </a:r>
            <a:r>
              <a:rPr lang="en-US" sz="1200" b="1" err="1">
                <a:solidFill>
                  <a:srgbClr val="00B0F0"/>
                </a:solidFill>
                <a:latin typeface="Courier New"/>
                <a:cs typeface="Courier New"/>
              </a:rPr>
              <a:t>gemv</a:t>
            </a:r>
            <a:r>
              <a:rPr lang="en-US" sz="1200">
                <a:latin typeface="Courier New"/>
                <a:cs typeface="Courier New"/>
              </a:rPr>
              <a:t>(int </a:t>
            </a:r>
            <a:r>
              <a:rPr lang="en-US" sz="1200" err="1">
                <a:latin typeface="Courier New"/>
                <a:cs typeface="Courier New"/>
              </a:rPr>
              <a:t>size_N</a:t>
            </a:r>
            <a:r>
              <a:rPr lang="en-US" sz="1200">
                <a:latin typeface="Courier New"/>
                <a:cs typeface="Courier New"/>
              </a:rPr>
              <a:t>, int </a:t>
            </a:r>
            <a:r>
              <a:rPr lang="en-US" sz="1200" err="1">
                <a:latin typeface="Courier New"/>
                <a:cs typeface="Courier New"/>
              </a:rPr>
              <a:t>size_M</a:t>
            </a:r>
            <a:r>
              <a:rPr lang="en-US" sz="1200">
                <a:latin typeface="Courier New"/>
                <a:cs typeface="Courier New"/>
              </a:rPr>
              <a:t>, </a:t>
            </a:r>
          </a:p>
          <a:p>
            <a:r>
              <a:rPr lang="en-US" sz="1200">
                <a:latin typeface="Courier New"/>
                <a:cs typeface="Courier New"/>
              </a:rPr>
              <a:t>float * </a:t>
            </a:r>
            <a:r>
              <a:rPr lang="en-US" sz="1200" err="1">
                <a:latin typeface="Courier New"/>
                <a:cs typeface="Courier New"/>
              </a:rPr>
              <a:t>mat_I</a:t>
            </a:r>
            <a:r>
              <a:rPr lang="en-US" sz="1200">
                <a:latin typeface="Courier New"/>
                <a:cs typeface="Courier New"/>
              </a:rPr>
              <a:t>, float *</a:t>
            </a:r>
            <a:r>
              <a:rPr lang="en-US" sz="1200" err="1">
                <a:latin typeface="Courier New"/>
                <a:cs typeface="Courier New"/>
              </a:rPr>
              <a:t>vec_i</a:t>
            </a:r>
            <a:r>
              <a:rPr lang="en-US" sz="1200">
                <a:latin typeface="Courier New"/>
                <a:cs typeface="Courier New"/>
              </a:rPr>
              <a:t>, float * </a:t>
            </a:r>
            <a:r>
              <a:rPr lang="en-US" sz="1200" err="1">
                <a:latin typeface="Courier New"/>
                <a:cs typeface="Courier New"/>
              </a:rPr>
              <a:t>vec_o</a:t>
            </a:r>
            <a:r>
              <a:rPr lang="en-US" sz="1200">
                <a:latin typeface="Courier New"/>
                <a:cs typeface="Courier New"/>
              </a:rPr>
              <a:t>)</a:t>
            </a:r>
          </a:p>
          <a:p>
            <a:r>
              <a:rPr lang="en-US" sz="1200">
                <a:latin typeface="Courier New"/>
                <a:cs typeface="Courier New"/>
              </a:rPr>
              <a:t>{</a:t>
            </a:r>
            <a:endParaRPr lang="en-US" sz="1200">
              <a:cs typeface="Calibri"/>
            </a:endParaRPr>
          </a:p>
          <a:p>
            <a:r>
              <a:rPr lang="en-US" sz="1200">
                <a:latin typeface="Courier New"/>
                <a:cs typeface="Courier New"/>
              </a:rPr>
              <a:t>    for (int </a:t>
            </a:r>
            <a:r>
              <a:rPr lang="en-US" sz="1200" err="1">
                <a:latin typeface="Courier New"/>
                <a:cs typeface="Courier New"/>
              </a:rPr>
              <a:t>i</a:t>
            </a:r>
            <a:r>
              <a:rPr lang="en-US" sz="1200">
                <a:latin typeface="Courier New"/>
                <a:cs typeface="Courier New"/>
              </a:rPr>
              <a:t>=0; </a:t>
            </a:r>
            <a:r>
              <a:rPr lang="en-US" sz="1200" err="1">
                <a:latin typeface="Courier New"/>
                <a:cs typeface="Courier New"/>
              </a:rPr>
              <a:t>i</a:t>
            </a:r>
            <a:r>
              <a:rPr lang="en-US" sz="1200">
                <a:latin typeface="Courier New"/>
                <a:cs typeface="Courier New"/>
              </a:rPr>
              <a:t>&lt;</a:t>
            </a:r>
            <a:r>
              <a:rPr lang="en-US" sz="1200" err="1">
                <a:latin typeface="Courier New"/>
                <a:cs typeface="Courier New"/>
              </a:rPr>
              <a:t>size_N</a:t>
            </a:r>
            <a:r>
              <a:rPr lang="en-US" sz="1200">
                <a:latin typeface="Courier New"/>
                <a:cs typeface="Courier New"/>
              </a:rPr>
              <a:t>; </a:t>
            </a:r>
            <a:r>
              <a:rPr lang="en-US" sz="1200" err="1">
                <a:latin typeface="Courier New"/>
                <a:cs typeface="Courier New"/>
              </a:rPr>
              <a:t>i</a:t>
            </a:r>
            <a:r>
              <a:rPr lang="en-US" sz="1200">
                <a:latin typeface="Courier New"/>
                <a:cs typeface="Courier New"/>
              </a:rPr>
              <a:t>++){</a:t>
            </a:r>
          </a:p>
          <a:p>
            <a:r>
              <a:rPr lang="en-US" sz="1200">
                <a:latin typeface="Courier New"/>
                <a:cs typeface="Courier New"/>
              </a:rPr>
              <a:t>      for (int j=0; j&lt;</a:t>
            </a:r>
            <a:r>
              <a:rPr lang="en-US" sz="1200" err="1">
                <a:latin typeface="Courier New"/>
                <a:cs typeface="Courier New"/>
              </a:rPr>
              <a:t>size_M</a:t>
            </a:r>
            <a:r>
              <a:rPr lang="en-US" sz="1200">
                <a:latin typeface="Courier New"/>
                <a:cs typeface="Courier New"/>
              </a:rPr>
              <a:t>; </a:t>
            </a:r>
            <a:r>
              <a:rPr lang="en-US" sz="1200" err="1">
                <a:latin typeface="Courier New"/>
                <a:cs typeface="Courier New"/>
              </a:rPr>
              <a:t>j++</a:t>
            </a:r>
            <a:r>
              <a:rPr lang="en-US" sz="1200">
                <a:latin typeface="Courier New"/>
                <a:cs typeface="Courier New"/>
              </a:rPr>
              <a:t>){</a:t>
            </a:r>
          </a:p>
          <a:p>
            <a:r>
              <a:rPr lang="en-US" sz="1200">
                <a:latin typeface="Courier New"/>
                <a:cs typeface="Courier New"/>
              </a:rPr>
              <a:t>          // </a:t>
            </a:r>
            <a:r>
              <a:rPr lang="en-US" sz="1200" err="1">
                <a:latin typeface="Courier New"/>
                <a:cs typeface="Courier New"/>
              </a:rPr>
              <a:t>mulitply</a:t>
            </a:r>
            <a:r>
              <a:rPr lang="en-US" sz="1200">
                <a:latin typeface="Courier New"/>
                <a:cs typeface="Courier New"/>
              </a:rPr>
              <a:t> accumulate operation</a:t>
            </a:r>
          </a:p>
          <a:p>
            <a:r>
              <a:rPr lang="en-US" sz="1200">
                <a:latin typeface="Courier New"/>
                <a:cs typeface="Courier New"/>
              </a:rPr>
              <a:t>          </a:t>
            </a:r>
            <a:r>
              <a:rPr lang="en-US" sz="1200" err="1">
                <a:latin typeface="Courier New"/>
                <a:cs typeface="Courier New"/>
              </a:rPr>
              <a:t>vec_o</a:t>
            </a:r>
            <a:r>
              <a:rPr lang="en-US" sz="1200">
                <a:latin typeface="Courier New"/>
                <a:cs typeface="Courier New"/>
              </a:rPr>
              <a:t>[</a:t>
            </a:r>
            <a:r>
              <a:rPr lang="en-US" sz="1200" err="1">
                <a:latin typeface="Courier New"/>
                <a:cs typeface="Courier New"/>
              </a:rPr>
              <a:t>i</a:t>
            </a:r>
            <a:r>
              <a:rPr lang="en-US" sz="1200">
                <a:latin typeface="Courier New"/>
                <a:cs typeface="Courier New"/>
              </a:rPr>
              <a:t>] += </a:t>
            </a:r>
            <a:r>
              <a:rPr lang="en-US" sz="1200" err="1">
                <a:latin typeface="Courier New"/>
                <a:cs typeface="Courier New"/>
              </a:rPr>
              <a:t>mat_i</a:t>
            </a:r>
            <a:r>
              <a:rPr lang="en-US" sz="1200">
                <a:latin typeface="Courier New"/>
                <a:cs typeface="Courier New"/>
              </a:rPr>
              <a:t>[</a:t>
            </a:r>
            <a:r>
              <a:rPr lang="en-US" sz="1200" err="1">
                <a:latin typeface="Courier New"/>
                <a:cs typeface="Courier New"/>
              </a:rPr>
              <a:t>i</a:t>
            </a:r>
            <a:r>
              <a:rPr lang="en-US" sz="1200">
                <a:latin typeface="Courier New"/>
                <a:cs typeface="Courier New"/>
              </a:rPr>
              <a:t>*</a:t>
            </a:r>
            <a:r>
              <a:rPr lang="en-US" sz="1200" err="1">
                <a:latin typeface="Courier New"/>
                <a:cs typeface="Courier New"/>
              </a:rPr>
              <a:t>size_M+j</a:t>
            </a:r>
            <a:r>
              <a:rPr lang="en-US" sz="1200">
                <a:latin typeface="Courier New"/>
                <a:cs typeface="Courier New"/>
              </a:rPr>
              <a:t>] * </a:t>
            </a:r>
            <a:r>
              <a:rPr lang="en-US" sz="1200" err="1">
                <a:latin typeface="Courier New"/>
                <a:cs typeface="Courier New"/>
              </a:rPr>
              <a:t>vec_i</a:t>
            </a:r>
            <a:r>
              <a:rPr lang="en-US" sz="1200">
                <a:latin typeface="Courier New"/>
                <a:cs typeface="Courier New"/>
              </a:rPr>
              <a:t>[j];</a:t>
            </a:r>
          </a:p>
          <a:p>
            <a:r>
              <a:rPr lang="en-US" sz="1200">
                <a:latin typeface="Courier New"/>
                <a:cs typeface="Courier New"/>
              </a:rPr>
              <a:t>       }</a:t>
            </a:r>
          </a:p>
          <a:p>
            <a:r>
              <a:rPr lang="en-US" sz="1200">
                <a:latin typeface="Courier New"/>
                <a:cs typeface="Courier New"/>
              </a:rPr>
              <a:t>    }</a:t>
            </a:r>
          </a:p>
          <a:p>
            <a:r>
              <a:rPr lang="en-US" sz="1200">
                <a:latin typeface="Courier New"/>
                <a:cs typeface="Courier New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2ED2DC-449D-4F7F-A03B-40E2E0D89AA4}"/>
              </a:ext>
            </a:extLst>
          </p:cNvPr>
          <p:cNvSpPr txBox="1"/>
          <p:nvPr/>
        </p:nvSpPr>
        <p:spPr>
          <a:xfrm>
            <a:off x="4094760" y="1189016"/>
            <a:ext cx="3732810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APP = matrix-vector</a:t>
            </a:r>
          </a:p>
          <a:p>
            <a:endParaRPr lang="en-US"/>
          </a:p>
          <a:p>
            <a:r>
              <a:rPr lang="en-US"/>
              <a:t>APP_SRCS += </a:t>
            </a:r>
            <a:r>
              <a:rPr lang="en-US" err="1"/>
              <a:t>test.c</a:t>
            </a:r>
            <a:endParaRPr lang="en-US" err="1">
              <a:cs typeface="Calibri"/>
            </a:endParaRPr>
          </a:p>
          <a:p>
            <a:r>
              <a:rPr lang="en-US"/>
              <a:t>APP_CFLAGS += </a:t>
            </a:r>
            <a:r>
              <a:rPr lang="en-US" b="1"/>
              <a:t>-O3 </a:t>
            </a:r>
            <a:r>
              <a:rPr lang="en-US"/>
              <a:t>-g -mnohwloops</a:t>
            </a:r>
            <a:endParaRPr lang="en-US">
              <a:cs typeface="Calibri"/>
            </a:endParaRPr>
          </a:p>
          <a:p>
            <a:r>
              <a:rPr lang="en-US"/>
              <a:t>APP_LDFLAGS +=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/>
              <a:t>include $(RULES_DIR)/pmsis_rules.mk</a:t>
            </a:r>
            <a:endParaRPr lang="en-US">
              <a:cs typeface="Calibri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739027A-8BBF-4A63-A6D5-E1831AD168BC}"/>
              </a:ext>
            </a:extLst>
          </p:cNvPr>
          <p:cNvCxnSpPr/>
          <p:nvPr/>
        </p:nvCxnSpPr>
        <p:spPr>
          <a:xfrm>
            <a:off x="6496186" y="5250375"/>
            <a:ext cx="0" cy="568278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4873ED5-88E0-4C3C-AFE1-D1EAF7F6C324}"/>
              </a:ext>
            </a:extLst>
          </p:cNvPr>
          <p:cNvSpPr txBox="1"/>
          <p:nvPr/>
        </p:nvSpPr>
        <p:spPr>
          <a:xfrm>
            <a:off x="5821383" y="5250375"/>
            <a:ext cx="625867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Inner loop</a:t>
            </a:r>
            <a:endParaRPr lang="en-US" sz="1400" b="1">
              <a:solidFill>
                <a:srgbClr val="FF0000"/>
              </a:solidFill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A1E06-D2D2-4F79-AFC0-984C9D431518}"/>
              </a:ext>
            </a:extLst>
          </p:cNvPr>
          <p:cNvSpPr txBox="1"/>
          <p:nvPr/>
        </p:nvSpPr>
        <p:spPr>
          <a:xfrm>
            <a:off x="5183414" y="3498997"/>
            <a:ext cx="5047343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The -03 optimized code get rid of a </a:t>
            </a:r>
            <a:r>
              <a:rPr lang="en-US" i="1" err="1"/>
              <a:t>lw</a:t>
            </a:r>
            <a:r>
              <a:rPr lang="en-US"/>
              <a:t> instruction because the accumulator is kept in the register file!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9B97321-2FF2-4BB4-A9F5-3A60AFF2C275}"/>
              </a:ext>
            </a:extLst>
          </p:cNvPr>
          <p:cNvCxnSpPr/>
          <p:nvPr/>
        </p:nvCxnSpPr>
        <p:spPr>
          <a:xfrm flipV="1">
            <a:off x="4586514" y="3877128"/>
            <a:ext cx="596900" cy="11811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8958560-7319-43DA-920B-9DE59AC58311}"/>
              </a:ext>
            </a:extLst>
          </p:cNvPr>
          <p:cNvCxnSpPr>
            <a:cxnSpLocks/>
          </p:cNvCxnSpPr>
          <p:nvPr/>
        </p:nvCxnSpPr>
        <p:spPr>
          <a:xfrm>
            <a:off x="4883712" y="5493037"/>
            <a:ext cx="988981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2">
            <a:extLst>
              <a:ext uri="{FF2B5EF4-FFF2-40B4-BE49-F238E27FC236}">
                <a16:creationId xmlns:a16="http://schemas.microsoft.com/office/drawing/2014/main" id="{4BD0B48B-92CD-4A10-A8F8-2477317FB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ource Sans Pro"/>
                <a:ea typeface="Source Sans Pro"/>
              </a:rPr>
              <a:t>Assembly Code: O3 optimization</a:t>
            </a:r>
            <a:br>
              <a:rPr lang="it-IT"/>
            </a:br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F7AC58A-EE1F-4F8F-BD58-31E7A5732FD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944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280D726-C0F1-4734-80AA-4498635BF0EB}"/>
              </a:ext>
            </a:extLst>
          </p:cNvPr>
          <p:cNvSpPr txBox="1">
            <a:spLocks/>
          </p:cNvSpPr>
          <p:nvPr/>
        </p:nvSpPr>
        <p:spPr>
          <a:xfrm>
            <a:off x="3011632" y="143700"/>
            <a:ext cx="6797137" cy="50153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defRPr>
            </a:lvl1pPr>
          </a:lstStyle>
          <a:p>
            <a:pPr algn="l"/>
            <a:endParaRPr lang="it-I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848700-1D71-49CC-97BC-644E4EE941F1}"/>
              </a:ext>
            </a:extLst>
          </p:cNvPr>
          <p:cNvSpPr txBox="1"/>
          <p:nvPr/>
        </p:nvSpPr>
        <p:spPr>
          <a:xfrm>
            <a:off x="282353" y="2631672"/>
            <a:ext cx="5490903" cy="415498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ea typeface="+mn-lt"/>
                <a:cs typeface="+mn-lt"/>
              </a:rPr>
              <a:t>1c008706 &lt;</a:t>
            </a:r>
            <a:r>
              <a:rPr lang="en-US" sz="1100" b="1" err="1">
                <a:solidFill>
                  <a:srgbClr val="00B0F0"/>
                </a:solidFill>
                <a:ea typeface="+mn-lt"/>
                <a:cs typeface="+mn-lt"/>
              </a:rPr>
              <a:t>gemv</a:t>
            </a:r>
            <a:r>
              <a:rPr lang="en-US" sz="1100">
                <a:ea typeface="+mn-lt"/>
                <a:cs typeface="+mn-lt"/>
              </a:rPr>
              <a:t>&gt;:</a:t>
            </a:r>
          </a:p>
          <a:p>
            <a:r>
              <a:rPr lang="en-US" sz="1100">
                <a:ea typeface="+mn-lt"/>
                <a:cs typeface="+mn-lt"/>
              </a:rPr>
              <a:t>1c008706:	04a05463          	</a:t>
            </a:r>
            <a:r>
              <a:rPr lang="en-US" sz="1100" err="1">
                <a:ea typeface="+mn-lt"/>
                <a:cs typeface="+mn-lt"/>
              </a:rPr>
              <a:t>blez</a:t>
            </a:r>
            <a:r>
              <a:rPr lang="en-US" sz="1100">
                <a:ea typeface="+mn-lt"/>
                <a:cs typeface="+mn-lt"/>
              </a:rPr>
              <a:t>	a0,1c00874e &lt;gemv+0x48&gt;</a:t>
            </a:r>
          </a:p>
          <a:p>
            <a:r>
              <a:rPr lang="en-US" sz="1100">
                <a:ea typeface="+mn-lt"/>
                <a:cs typeface="+mn-lt"/>
              </a:rPr>
              <a:t>1c00870a:	04b05263          	</a:t>
            </a:r>
            <a:r>
              <a:rPr lang="en-US" sz="1100" err="1">
                <a:ea typeface="+mn-lt"/>
                <a:cs typeface="+mn-lt"/>
              </a:rPr>
              <a:t>blez</a:t>
            </a:r>
            <a:r>
              <a:rPr lang="en-US" sz="1100">
                <a:ea typeface="+mn-lt"/>
                <a:cs typeface="+mn-lt"/>
              </a:rPr>
              <a:t>	a1,1c00874e &lt;gemv+0x48&gt;</a:t>
            </a:r>
          </a:p>
          <a:p>
            <a:r>
              <a:rPr lang="en-US" sz="1100">
                <a:ea typeface="+mn-lt"/>
                <a:cs typeface="+mn-lt"/>
              </a:rPr>
              <a:t>1c00870e:	00251e13          	</a:t>
            </a:r>
            <a:r>
              <a:rPr lang="en-US" sz="1100" err="1">
                <a:ea typeface="+mn-lt"/>
                <a:cs typeface="+mn-lt"/>
              </a:rPr>
              <a:t>slli</a:t>
            </a:r>
            <a:r>
              <a:rPr lang="en-US" sz="1100">
                <a:ea typeface="+mn-lt"/>
                <a:cs typeface="+mn-lt"/>
              </a:rPr>
              <a:t>	t3,a0,0x2</a:t>
            </a:r>
          </a:p>
          <a:p>
            <a:r>
              <a:rPr lang="en-US" sz="1100">
                <a:ea typeface="+mn-lt"/>
                <a:cs typeface="+mn-lt"/>
              </a:rPr>
              <a:t>1c008712:	1e71                	</a:t>
            </a:r>
            <a:r>
              <a:rPr lang="en-US" sz="1100" err="1">
                <a:ea typeface="+mn-lt"/>
                <a:cs typeface="+mn-lt"/>
              </a:rPr>
              <a:t>addi</a:t>
            </a:r>
            <a:r>
              <a:rPr lang="en-US" sz="1100">
                <a:ea typeface="+mn-lt"/>
                <a:cs typeface="+mn-lt"/>
              </a:rPr>
              <a:t>	t3,t3,-4</a:t>
            </a:r>
          </a:p>
          <a:p>
            <a:r>
              <a:rPr lang="en-US" sz="1100">
                <a:ea typeface="+mn-lt"/>
                <a:cs typeface="+mn-lt"/>
              </a:rPr>
              <a:t>1c008714:	00259e93          	</a:t>
            </a:r>
            <a:r>
              <a:rPr lang="en-US" sz="1100" err="1">
                <a:ea typeface="+mn-lt"/>
                <a:cs typeface="+mn-lt"/>
              </a:rPr>
              <a:t>slli</a:t>
            </a:r>
            <a:r>
              <a:rPr lang="en-US" sz="1100">
                <a:ea typeface="+mn-lt"/>
                <a:cs typeface="+mn-lt"/>
              </a:rPr>
              <a:t>	t4,a1,0x2</a:t>
            </a:r>
          </a:p>
          <a:p>
            <a:r>
              <a:rPr lang="en-US" sz="1100">
                <a:ea typeface="+mn-lt"/>
                <a:cs typeface="+mn-lt"/>
              </a:rPr>
              <a:t>1c008718:	002e5e13          	</a:t>
            </a:r>
            <a:r>
              <a:rPr lang="en-US" sz="1100" err="1">
                <a:ea typeface="+mn-lt"/>
                <a:cs typeface="+mn-lt"/>
              </a:rPr>
              <a:t>srli</a:t>
            </a:r>
            <a:r>
              <a:rPr lang="en-US" sz="1100">
                <a:ea typeface="+mn-lt"/>
                <a:cs typeface="+mn-lt"/>
              </a:rPr>
              <a:t>	t3,t3,0x2</a:t>
            </a:r>
          </a:p>
          <a:p>
            <a:r>
              <a:rPr lang="en-US" sz="1100">
                <a:ea typeface="+mn-lt"/>
                <a:cs typeface="+mn-lt"/>
              </a:rPr>
              <a:t>1c00871c:	01d68f33          	add	t5,a3,t4</a:t>
            </a:r>
          </a:p>
          <a:p>
            <a:r>
              <a:rPr lang="en-US" sz="1100">
                <a:ea typeface="+mn-lt"/>
                <a:cs typeface="+mn-lt"/>
              </a:rPr>
              <a:t>1c008720:	0e05                	</a:t>
            </a:r>
            <a:r>
              <a:rPr lang="en-US" sz="1100" err="1">
                <a:ea typeface="+mn-lt"/>
                <a:cs typeface="+mn-lt"/>
              </a:rPr>
              <a:t>addi</a:t>
            </a:r>
            <a:r>
              <a:rPr lang="en-US" sz="1100">
                <a:ea typeface="+mn-lt"/>
                <a:cs typeface="+mn-lt"/>
              </a:rPr>
              <a:t>	t3,t3,1</a:t>
            </a:r>
          </a:p>
          <a:p>
            <a:r>
              <a:rPr lang="en-US" sz="1100">
                <a:ea typeface="+mn-lt"/>
                <a:cs typeface="+mn-lt"/>
              </a:rPr>
              <a:t>1c008722:	015e407b          	</a:t>
            </a:r>
            <a:r>
              <a:rPr lang="en-US" sz="1100" err="1">
                <a:ea typeface="+mn-lt"/>
                <a:cs typeface="+mn-lt"/>
              </a:rPr>
              <a:t>lp.setup</a:t>
            </a:r>
            <a:r>
              <a:rPr lang="en-US" sz="1100">
                <a:ea typeface="+mn-lt"/>
                <a:cs typeface="+mn-lt"/>
              </a:rPr>
              <a:t>	x0,t3,1c00874c &lt;gemv+0x46&gt;</a:t>
            </a:r>
          </a:p>
          <a:p>
            <a:r>
              <a:rPr lang="en-US" sz="1100">
                <a:ea typeface="+mn-lt"/>
                <a:cs typeface="+mn-lt"/>
              </a:rPr>
              <a:t>1c008726:	40df07b3          	sub	a5,t5,a3</a:t>
            </a:r>
          </a:p>
          <a:p>
            <a:r>
              <a:rPr lang="en-US" sz="1100">
                <a:ea typeface="+mn-lt"/>
                <a:cs typeface="+mn-lt"/>
              </a:rPr>
              <a:t>1c00872a:	17f1                	</a:t>
            </a:r>
            <a:r>
              <a:rPr lang="en-US" sz="1100" err="1">
                <a:ea typeface="+mn-lt"/>
                <a:cs typeface="+mn-lt"/>
              </a:rPr>
              <a:t>addi</a:t>
            </a:r>
            <a:r>
              <a:rPr lang="en-US" sz="1100">
                <a:ea typeface="+mn-lt"/>
                <a:cs typeface="+mn-lt"/>
              </a:rPr>
              <a:t>	a5,a5,-4</a:t>
            </a:r>
          </a:p>
          <a:p>
            <a:r>
              <a:rPr lang="en-US" sz="1100">
                <a:ea typeface="+mn-lt"/>
                <a:cs typeface="+mn-lt"/>
              </a:rPr>
              <a:t>1c00872c:	0047258b          	</a:t>
            </a:r>
            <a:r>
              <a:rPr lang="en-US" sz="1100" err="1">
                <a:ea typeface="+mn-lt"/>
                <a:cs typeface="+mn-lt"/>
              </a:rPr>
              <a:t>p.lw</a:t>
            </a:r>
            <a:r>
              <a:rPr lang="en-US" sz="1100">
                <a:ea typeface="+mn-lt"/>
                <a:cs typeface="+mn-lt"/>
              </a:rPr>
              <a:t>	a1,4(a4!) # 10004 &lt;__l1_heap_size+0x20&gt;</a:t>
            </a:r>
          </a:p>
          <a:p>
            <a:r>
              <a:rPr lang="en-US" sz="1100">
                <a:ea typeface="+mn-lt"/>
                <a:cs typeface="+mn-lt"/>
              </a:rPr>
              <a:t>1c008730:	8389                	</a:t>
            </a:r>
            <a:r>
              <a:rPr lang="en-US" sz="1100" err="1">
                <a:ea typeface="+mn-lt"/>
                <a:cs typeface="+mn-lt"/>
              </a:rPr>
              <a:t>srli</a:t>
            </a:r>
            <a:r>
              <a:rPr lang="en-US" sz="1100">
                <a:ea typeface="+mn-lt"/>
                <a:cs typeface="+mn-lt"/>
              </a:rPr>
              <a:t>	a5,a5,0x2</a:t>
            </a:r>
          </a:p>
          <a:p>
            <a:r>
              <a:rPr lang="en-US" sz="1100">
                <a:ea typeface="+mn-lt"/>
                <a:cs typeface="+mn-lt"/>
              </a:rPr>
              <a:t>1c008732:	8836                	mv	a6,a3</a:t>
            </a:r>
          </a:p>
          <a:p>
            <a:r>
              <a:rPr lang="en-US" sz="1100">
                <a:ea typeface="+mn-lt"/>
                <a:cs typeface="+mn-lt"/>
              </a:rPr>
              <a:t>1c008734:	8532                	mv	a0,a2</a:t>
            </a:r>
          </a:p>
          <a:p>
            <a:r>
              <a:rPr lang="en-US" sz="1100">
                <a:ea typeface="+mn-lt"/>
                <a:cs typeface="+mn-lt"/>
              </a:rPr>
              <a:t>1c008736:	0785                	</a:t>
            </a:r>
            <a:r>
              <a:rPr lang="en-US" sz="1100" err="1">
                <a:ea typeface="+mn-lt"/>
                <a:cs typeface="+mn-lt"/>
              </a:rPr>
              <a:t>addi</a:t>
            </a:r>
            <a:r>
              <a:rPr lang="en-US" sz="1100">
                <a:ea typeface="+mn-lt"/>
                <a:cs typeface="+mn-lt"/>
              </a:rPr>
              <a:t>	a5,a5,1</a:t>
            </a:r>
          </a:p>
          <a:p>
            <a:r>
              <a:rPr lang="en-US" sz="1100">
                <a:ea typeface="+mn-lt"/>
                <a:cs typeface="+mn-lt"/>
              </a:rPr>
              <a:t>1c008738:	0087c0fb          	</a:t>
            </a:r>
            <a:r>
              <a:rPr lang="en-US" sz="1100" b="1" err="1">
                <a:ea typeface="+mn-lt"/>
                <a:cs typeface="+mn-lt"/>
              </a:rPr>
              <a:t>lp.setup</a:t>
            </a:r>
            <a:r>
              <a:rPr lang="en-US" sz="1100">
                <a:ea typeface="+mn-lt"/>
                <a:cs typeface="+mn-lt"/>
              </a:rPr>
              <a:t>	x1,a5,</a:t>
            </a:r>
            <a:r>
              <a:rPr lang="en-US" sz="1100">
                <a:solidFill>
                  <a:srgbClr val="FF0000"/>
                </a:solidFill>
                <a:ea typeface="+mn-lt"/>
                <a:cs typeface="+mn-lt"/>
              </a:rPr>
              <a:t>1c008748</a:t>
            </a:r>
            <a:r>
              <a:rPr lang="en-US" sz="1100">
                <a:ea typeface="+mn-lt"/>
                <a:cs typeface="+mn-lt"/>
              </a:rPr>
              <a:t> &lt;gemv+0x42&gt;</a:t>
            </a:r>
          </a:p>
          <a:p>
            <a:r>
              <a:rPr lang="en-US" sz="1100">
                <a:ea typeface="+mn-lt"/>
                <a:cs typeface="+mn-lt"/>
              </a:rPr>
              <a:t>1c00873c:	0045230b          	</a:t>
            </a:r>
            <a:r>
              <a:rPr lang="en-US" sz="1100" err="1">
                <a:ea typeface="+mn-lt"/>
                <a:cs typeface="+mn-lt"/>
              </a:rPr>
              <a:t>p.lw</a:t>
            </a:r>
            <a:r>
              <a:rPr lang="en-US" sz="1100">
                <a:ea typeface="+mn-lt"/>
                <a:cs typeface="+mn-lt"/>
              </a:rPr>
              <a:t>	t1,4(a0!)</a:t>
            </a:r>
          </a:p>
          <a:p>
            <a:r>
              <a:rPr lang="en-US" sz="1100">
                <a:ea typeface="+mn-lt"/>
                <a:cs typeface="+mn-lt"/>
              </a:rPr>
              <a:t>1c008740:	0048288b          	</a:t>
            </a:r>
            <a:r>
              <a:rPr lang="en-US" sz="1100" err="1">
                <a:ea typeface="+mn-lt"/>
                <a:cs typeface="+mn-lt"/>
              </a:rPr>
              <a:t>p.lw</a:t>
            </a:r>
            <a:r>
              <a:rPr lang="en-US" sz="1100">
                <a:ea typeface="+mn-lt"/>
                <a:cs typeface="+mn-lt"/>
              </a:rPr>
              <a:t>	a7,4(a6!)</a:t>
            </a:r>
          </a:p>
          <a:p>
            <a:r>
              <a:rPr lang="en-US" sz="1100">
                <a:ea typeface="+mn-lt"/>
                <a:cs typeface="+mn-lt"/>
              </a:rPr>
              <a:t>1c008744:	431305b3          	p.mac	a1,t1,a7</a:t>
            </a:r>
          </a:p>
          <a:p>
            <a:r>
              <a:rPr lang="en-US" sz="1100">
                <a:solidFill>
                  <a:srgbClr val="FF0000"/>
                </a:solidFill>
                <a:ea typeface="+mn-lt"/>
                <a:cs typeface="+mn-lt"/>
              </a:rPr>
              <a:t>1c008748</a:t>
            </a:r>
            <a:r>
              <a:rPr lang="en-US" sz="1100">
                <a:ea typeface="+mn-lt"/>
                <a:cs typeface="+mn-lt"/>
              </a:rPr>
              <a:t>:	feb72e23          	</a:t>
            </a:r>
            <a:r>
              <a:rPr lang="en-US" sz="1100" err="1">
                <a:ea typeface="+mn-lt"/>
                <a:cs typeface="+mn-lt"/>
              </a:rPr>
              <a:t>sw</a:t>
            </a:r>
            <a:r>
              <a:rPr lang="en-US" sz="1100">
                <a:ea typeface="+mn-lt"/>
                <a:cs typeface="+mn-lt"/>
              </a:rPr>
              <a:t>	a1,-4(a4)</a:t>
            </a:r>
          </a:p>
          <a:p>
            <a:r>
              <a:rPr lang="en-US" sz="1100">
                <a:ea typeface="+mn-lt"/>
                <a:cs typeface="+mn-lt"/>
              </a:rPr>
              <a:t>1c00874c:	9676                	add	a2,a2,t4</a:t>
            </a:r>
          </a:p>
          <a:p>
            <a:r>
              <a:rPr lang="en-US" sz="1100">
                <a:ea typeface="+mn-lt"/>
                <a:cs typeface="+mn-lt"/>
              </a:rPr>
              <a:t>1c00874e:	8082                	ret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D93F63-1547-44F6-8517-131FC43765D6}"/>
              </a:ext>
            </a:extLst>
          </p:cNvPr>
          <p:cNvSpPr/>
          <p:nvPr/>
        </p:nvSpPr>
        <p:spPr>
          <a:xfrm>
            <a:off x="332510" y="5527965"/>
            <a:ext cx="4551202" cy="8436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1A6CE8-0650-443E-8F6B-5074F662409F}"/>
              </a:ext>
            </a:extLst>
          </p:cNvPr>
          <p:cNvSpPr txBox="1"/>
          <p:nvPr/>
        </p:nvSpPr>
        <p:spPr>
          <a:xfrm>
            <a:off x="5931417" y="4247926"/>
            <a:ext cx="7349836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latin typeface="Courier New"/>
                <a:cs typeface="Courier New"/>
              </a:rPr>
              <a:t>// generic matrix-vector multiplication</a:t>
            </a:r>
          </a:p>
          <a:p>
            <a:r>
              <a:rPr lang="en-US" sz="1200">
                <a:latin typeface="Courier New"/>
                <a:cs typeface="Courier New"/>
              </a:rPr>
              <a:t>void </a:t>
            </a:r>
            <a:r>
              <a:rPr lang="en-US" sz="1200" b="1" err="1">
                <a:solidFill>
                  <a:srgbClr val="00B0F0"/>
                </a:solidFill>
                <a:latin typeface="Courier New"/>
                <a:cs typeface="Courier New"/>
              </a:rPr>
              <a:t>gemv</a:t>
            </a:r>
            <a:r>
              <a:rPr lang="en-US" sz="1200">
                <a:latin typeface="Courier New"/>
                <a:cs typeface="Courier New"/>
              </a:rPr>
              <a:t>(int </a:t>
            </a:r>
            <a:r>
              <a:rPr lang="en-US" sz="1200" err="1">
                <a:latin typeface="Courier New"/>
                <a:cs typeface="Courier New"/>
              </a:rPr>
              <a:t>size_N</a:t>
            </a:r>
            <a:r>
              <a:rPr lang="en-US" sz="1200">
                <a:latin typeface="Courier New"/>
                <a:cs typeface="Courier New"/>
              </a:rPr>
              <a:t>, int </a:t>
            </a:r>
            <a:r>
              <a:rPr lang="en-US" sz="1200" err="1">
                <a:latin typeface="Courier New"/>
                <a:cs typeface="Courier New"/>
              </a:rPr>
              <a:t>size_M</a:t>
            </a:r>
            <a:r>
              <a:rPr lang="en-US" sz="1200">
                <a:latin typeface="Courier New"/>
                <a:cs typeface="Courier New"/>
              </a:rPr>
              <a:t>, </a:t>
            </a:r>
          </a:p>
          <a:p>
            <a:r>
              <a:rPr lang="en-US" sz="1200">
                <a:latin typeface="Courier New"/>
                <a:cs typeface="Courier New"/>
              </a:rPr>
              <a:t>float * </a:t>
            </a:r>
            <a:r>
              <a:rPr lang="en-US" sz="1200" err="1">
                <a:latin typeface="Courier New"/>
                <a:cs typeface="Courier New"/>
              </a:rPr>
              <a:t>mat_I</a:t>
            </a:r>
            <a:r>
              <a:rPr lang="en-US" sz="1200">
                <a:latin typeface="Courier New"/>
                <a:cs typeface="Courier New"/>
              </a:rPr>
              <a:t>, float *</a:t>
            </a:r>
            <a:r>
              <a:rPr lang="en-US" sz="1200" err="1">
                <a:latin typeface="Courier New"/>
                <a:cs typeface="Courier New"/>
              </a:rPr>
              <a:t>vec_i</a:t>
            </a:r>
            <a:r>
              <a:rPr lang="en-US" sz="1200">
                <a:latin typeface="Courier New"/>
                <a:cs typeface="Courier New"/>
              </a:rPr>
              <a:t>, float * </a:t>
            </a:r>
            <a:r>
              <a:rPr lang="en-US" sz="1200" err="1">
                <a:latin typeface="Courier New"/>
                <a:cs typeface="Courier New"/>
              </a:rPr>
              <a:t>vec_o</a:t>
            </a:r>
            <a:r>
              <a:rPr lang="en-US" sz="1200">
                <a:latin typeface="Courier New"/>
                <a:cs typeface="Courier New"/>
              </a:rPr>
              <a:t>)</a:t>
            </a:r>
          </a:p>
          <a:p>
            <a:r>
              <a:rPr lang="en-US" sz="1200">
                <a:latin typeface="Courier New"/>
                <a:cs typeface="Courier New"/>
              </a:rPr>
              <a:t>{</a:t>
            </a:r>
            <a:endParaRPr lang="en-US" sz="1200">
              <a:cs typeface="Calibri"/>
            </a:endParaRPr>
          </a:p>
          <a:p>
            <a:r>
              <a:rPr lang="en-US" sz="1200">
                <a:latin typeface="Courier New"/>
                <a:cs typeface="Courier New"/>
              </a:rPr>
              <a:t>    for (int </a:t>
            </a:r>
            <a:r>
              <a:rPr lang="en-US" sz="1200" err="1">
                <a:latin typeface="Courier New"/>
                <a:cs typeface="Courier New"/>
              </a:rPr>
              <a:t>i</a:t>
            </a:r>
            <a:r>
              <a:rPr lang="en-US" sz="1200">
                <a:latin typeface="Courier New"/>
                <a:cs typeface="Courier New"/>
              </a:rPr>
              <a:t>=0; </a:t>
            </a:r>
            <a:r>
              <a:rPr lang="en-US" sz="1200" err="1">
                <a:latin typeface="Courier New"/>
                <a:cs typeface="Courier New"/>
              </a:rPr>
              <a:t>i</a:t>
            </a:r>
            <a:r>
              <a:rPr lang="en-US" sz="1200">
                <a:latin typeface="Courier New"/>
                <a:cs typeface="Courier New"/>
              </a:rPr>
              <a:t>&lt;</a:t>
            </a:r>
            <a:r>
              <a:rPr lang="en-US" sz="1200" err="1">
                <a:latin typeface="Courier New"/>
                <a:cs typeface="Courier New"/>
              </a:rPr>
              <a:t>size_N</a:t>
            </a:r>
            <a:r>
              <a:rPr lang="en-US" sz="1200">
                <a:latin typeface="Courier New"/>
                <a:cs typeface="Courier New"/>
              </a:rPr>
              <a:t>; </a:t>
            </a:r>
            <a:r>
              <a:rPr lang="en-US" sz="1200" err="1">
                <a:latin typeface="Courier New"/>
                <a:cs typeface="Courier New"/>
              </a:rPr>
              <a:t>i</a:t>
            </a:r>
            <a:r>
              <a:rPr lang="en-US" sz="1200">
                <a:latin typeface="Courier New"/>
                <a:cs typeface="Courier New"/>
              </a:rPr>
              <a:t>++){</a:t>
            </a:r>
          </a:p>
          <a:p>
            <a:r>
              <a:rPr lang="en-US" sz="1200">
                <a:latin typeface="Courier New"/>
                <a:cs typeface="Courier New"/>
              </a:rPr>
              <a:t>      for (int j=0; j&lt;</a:t>
            </a:r>
            <a:r>
              <a:rPr lang="en-US" sz="1200" err="1">
                <a:latin typeface="Courier New"/>
                <a:cs typeface="Courier New"/>
              </a:rPr>
              <a:t>size_M</a:t>
            </a:r>
            <a:r>
              <a:rPr lang="en-US" sz="1200">
                <a:latin typeface="Courier New"/>
                <a:cs typeface="Courier New"/>
              </a:rPr>
              <a:t>; </a:t>
            </a:r>
            <a:r>
              <a:rPr lang="en-US" sz="1200" err="1">
                <a:latin typeface="Courier New"/>
                <a:cs typeface="Courier New"/>
              </a:rPr>
              <a:t>j++</a:t>
            </a:r>
            <a:r>
              <a:rPr lang="en-US" sz="1200">
                <a:latin typeface="Courier New"/>
                <a:cs typeface="Courier New"/>
              </a:rPr>
              <a:t>){</a:t>
            </a:r>
          </a:p>
          <a:p>
            <a:r>
              <a:rPr lang="en-US" sz="1200">
                <a:latin typeface="Courier New"/>
                <a:cs typeface="Courier New"/>
              </a:rPr>
              <a:t>          // </a:t>
            </a:r>
            <a:r>
              <a:rPr lang="en-US" sz="1200" err="1">
                <a:latin typeface="Courier New"/>
                <a:cs typeface="Courier New"/>
              </a:rPr>
              <a:t>mulitply</a:t>
            </a:r>
            <a:r>
              <a:rPr lang="en-US" sz="1200">
                <a:latin typeface="Courier New"/>
                <a:cs typeface="Courier New"/>
              </a:rPr>
              <a:t> accumulate operation</a:t>
            </a:r>
          </a:p>
          <a:p>
            <a:r>
              <a:rPr lang="en-US" sz="1200">
                <a:latin typeface="Courier New"/>
                <a:cs typeface="Courier New"/>
              </a:rPr>
              <a:t>          </a:t>
            </a:r>
            <a:r>
              <a:rPr lang="en-US" sz="1200" err="1">
                <a:latin typeface="Courier New"/>
                <a:cs typeface="Courier New"/>
              </a:rPr>
              <a:t>vec_o</a:t>
            </a:r>
            <a:r>
              <a:rPr lang="en-US" sz="1200">
                <a:latin typeface="Courier New"/>
                <a:cs typeface="Courier New"/>
              </a:rPr>
              <a:t>[</a:t>
            </a:r>
            <a:r>
              <a:rPr lang="en-US" sz="1200" err="1">
                <a:latin typeface="Courier New"/>
                <a:cs typeface="Courier New"/>
              </a:rPr>
              <a:t>i</a:t>
            </a:r>
            <a:r>
              <a:rPr lang="en-US" sz="1200">
                <a:latin typeface="Courier New"/>
                <a:cs typeface="Courier New"/>
              </a:rPr>
              <a:t>] += </a:t>
            </a:r>
            <a:r>
              <a:rPr lang="en-US" sz="1200" err="1">
                <a:latin typeface="Courier New"/>
                <a:cs typeface="Courier New"/>
              </a:rPr>
              <a:t>mat_i</a:t>
            </a:r>
            <a:r>
              <a:rPr lang="en-US" sz="1200">
                <a:latin typeface="Courier New"/>
                <a:cs typeface="Courier New"/>
              </a:rPr>
              <a:t>[</a:t>
            </a:r>
            <a:r>
              <a:rPr lang="en-US" sz="1200" err="1">
                <a:latin typeface="Courier New"/>
                <a:cs typeface="Courier New"/>
              </a:rPr>
              <a:t>i</a:t>
            </a:r>
            <a:r>
              <a:rPr lang="en-US" sz="1200">
                <a:latin typeface="Courier New"/>
                <a:cs typeface="Courier New"/>
              </a:rPr>
              <a:t>*</a:t>
            </a:r>
            <a:r>
              <a:rPr lang="en-US" sz="1200" err="1">
                <a:latin typeface="Courier New"/>
                <a:cs typeface="Courier New"/>
              </a:rPr>
              <a:t>size_M+j</a:t>
            </a:r>
            <a:r>
              <a:rPr lang="en-US" sz="1200">
                <a:latin typeface="Courier New"/>
                <a:cs typeface="Courier New"/>
              </a:rPr>
              <a:t>] * </a:t>
            </a:r>
            <a:r>
              <a:rPr lang="en-US" sz="1200" err="1">
                <a:latin typeface="Courier New"/>
                <a:cs typeface="Courier New"/>
              </a:rPr>
              <a:t>vec_i</a:t>
            </a:r>
            <a:r>
              <a:rPr lang="en-US" sz="1200">
                <a:latin typeface="Courier New"/>
                <a:cs typeface="Courier New"/>
              </a:rPr>
              <a:t>[j];</a:t>
            </a:r>
          </a:p>
          <a:p>
            <a:r>
              <a:rPr lang="en-US" sz="1200">
                <a:latin typeface="Courier New"/>
                <a:cs typeface="Courier New"/>
              </a:rPr>
              <a:t>       }</a:t>
            </a:r>
          </a:p>
          <a:p>
            <a:r>
              <a:rPr lang="en-US" sz="1200">
                <a:latin typeface="Courier New"/>
                <a:cs typeface="Courier New"/>
              </a:rPr>
              <a:t>    }</a:t>
            </a:r>
          </a:p>
          <a:p>
            <a:r>
              <a:rPr lang="en-US" sz="1200">
                <a:latin typeface="Courier New"/>
                <a:cs typeface="Courier New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2ED2DC-449D-4F7F-A03B-40E2E0D89AA4}"/>
              </a:ext>
            </a:extLst>
          </p:cNvPr>
          <p:cNvSpPr txBox="1"/>
          <p:nvPr/>
        </p:nvSpPr>
        <p:spPr>
          <a:xfrm>
            <a:off x="4094760" y="1189016"/>
            <a:ext cx="3732810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APP = matrix-vector</a:t>
            </a:r>
          </a:p>
          <a:p>
            <a:endParaRPr lang="en-US"/>
          </a:p>
          <a:p>
            <a:r>
              <a:rPr lang="en-US"/>
              <a:t>APP_SRCS += </a:t>
            </a:r>
            <a:r>
              <a:rPr lang="en-US" err="1"/>
              <a:t>test.c</a:t>
            </a:r>
            <a:endParaRPr lang="en-US">
              <a:cs typeface="Calibri"/>
            </a:endParaRPr>
          </a:p>
          <a:p>
            <a:r>
              <a:rPr lang="en-US"/>
              <a:t>APP_CFLAGS += </a:t>
            </a:r>
            <a:r>
              <a:rPr lang="en-US" b="1"/>
              <a:t>-O3 </a:t>
            </a:r>
            <a:r>
              <a:rPr lang="en-US"/>
              <a:t>-g </a:t>
            </a:r>
            <a:r>
              <a:rPr lang="en-US" strike="sngStrike"/>
              <a:t>-</a:t>
            </a:r>
            <a:r>
              <a:rPr lang="en-US" strike="sngStrike" err="1"/>
              <a:t>mnohwloops</a:t>
            </a:r>
            <a:endParaRPr lang="en-US" strike="sngStrike">
              <a:cs typeface="Calibri"/>
            </a:endParaRPr>
          </a:p>
          <a:p>
            <a:r>
              <a:rPr lang="en-US"/>
              <a:t>APP_LDFLAGS +=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/>
              <a:t>include $(RULES_DIR)/pmsis_rules.mk</a:t>
            </a:r>
            <a:endParaRPr lang="en-US">
              <a:cs typeface="Calibri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739027A-8BBF-4A63-A6D5-E1831AD168BC}"/>
              </a:ext>
            </a:extLst>
          </p:cNvPr>
          <p:cNvCxnSpPr/>
          <p:nvPr/>
        </p:nvCxnSpPr>
        <p:spPr>
          <a:xfrm>
            <a:off x="6496186" y="5250375"/>
            <a:ext cx="0" cy="568278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4873ED5-88E0-4C3C-AFE1-D1EAF7F6C324}"/>
              </a:ext>
            </a:extLst>
          </p:cNvPr>
          <p:cNvSpPr txBox="1"/>
          <p:nvPr/>
        </p:nvSpPr>
        <p:spPr>
          <a:xfrm>
            <a:off x="5821383" y="5250375"/>
            <a:ext cx="625867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Inner loop</a:t>
            </a:r>
            <a:endParaRPr lang="en-US" sz="1400" b="1">
              <a:solidFill>
                <a:srgbClr val="FF0000"/>
              </a:solidFill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A1E06-D2D2-4F79-AFC0-984C9D431518}"/>
              </a:ext>
            </a:extLst>
          </p:cNvPr>
          <p:cNvSpPr txBox="1"/>
          <p:nvPr/>
        </p:nvSpPr>
        <p:spPr>
          <a:xfrm>
            <a:off x="5303898" y="3649937"/>
            <a:ext cx="504734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Hardware Loops Instructions have been placed!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9B97321-2FF2-4BB4-A9F5-3A60AFF2C275}"/>
              </a:ext>
            </a:extLst>
          </p:cNvPr>
          <p:cNvCxnSpPr>
            <a:cxnSpLocks/>
          </p:cNvCxnSpPr>
          <p:nvPr/>
        </p:nvCxnSpPr>
        <p:spPr>
          <a:xfrm flipV="1">
            <a:off x="4468091" y="3877128"/>
            <a:ext cx="715323" cy="151783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8958560-7319-43DA-920B-9DE59AC58311}"/>
              </a:ext>
            </a:extLst>
          </p:cNvPr>
          <p:cNvCxnSpPr>
            <a:cxnSpLocks/>
          </p:cNvCxnSpPr>
          <p:nvPr/>
        </p:nvCxnSpPr>
        <p:spPr>
          <a:xfrm flipV="1">
            <a:off x="4883712" y="5493037"/>
            <a:ext cx="988981" cy="53369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2">
            <a:extLst>
              <a:ext uri="{FF2B5EF4-FFF2-40B4-BE49-F238E27FC236}">
                <a16:creationId xmlns:a16="http://schemas.microsoft.com/office/drawing/2014/main" id="{4BD0B48B-92CD-4A10-A8F8-2477317FB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ource Sans Pro"/>
                <a:ea typeface="Source Sans Pro"/>
              </a:rPr>
              <a:t>Assembly Code: HW loops</a:t>
            </a:r>
            <a:br>
              <a:rPr lang="it-IT"/>
            </a:br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37B50E0-FCA5-422C-BD9A-29E35946D0B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597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5C09B7-E81B-4C93-9127-DB0D4E19E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 Counters: Measuring the CPU Time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6CC209-4F2B-4C6A-A99C-EA8E8AA8BB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1800" dirty="0"/>
              <a:t>Each RI5CY core provides a </a:t>
            </a:r>
            <a:r>
              <a:rPr lang="en-US" sz="1800" b="1" dirty="0"/>
              <a:t>performance counter</a:t>
            </a:r>
            <a:r>
              <a:rPr lang="en-US" sz="1800" dirty="0"/>
              <a:t>. These 32-bit counters can be </a:t>
            </a:r>
            <a:r>
              <a:rPr lang="en-US" sz="1800" u="sng" dirty="0"/>
              <a:t>configured</a:t>
            </a:r>
            <a:r>
              <a:rPr lang="en-US" sz="1800" dirty="0"/>
              <a:t> to count the:</a:t>
            </a:r>
          </a:p>
          <a:p>
            <a:pPr marL="400038" lvl="1" indent="-108000">
              <a:spcBef>
                <a:spcPts val="100"/>
              </a:spcBef>
            </a:pPr>
            <a:r>
              <a:rPr lang="en-US" sz="1100" dirty="0"/>
              <a:t>Total number of cycles (also includes the cycles where the core is sleeping)</a:t>
            </a:r>
          </a:p>
          <a:p>
            <a:pPr marL="400038" lvl="1" indent="-108000">
              <a:spcBef>
                <a:spcPts val="100"/>
              </a:spcBef>
            </a:pPr>
            <a:r>
              <a:rPr lang="en-US" sz="1100" dirty="0"/>
              <a:t>Number of cycles the core was active (not sleeping)</a:t>
            </a:r>
          </a:p>
          <a:p>
            <a:pPr marL="400038" lvl="1" indent="-108000">
              <a:spcBef>
                <a:spcPts val="100"/>
              </a:spcBef>
            </a:pPr>
            <a:r>
              <a:rPr lang="en-US" sz="1100" dirty="0"/>
              <a:t>Number of instructions executed</a:t>
            </a:r>
          </a:p>
          <a:p>
            <a:pPr marL="400038" lvl="1" indent="-108000">
              <a:spcBef>
                <a:spcPts val="100"/>
              </a:spcBef>
            </a:pPr>
            <a:r>
              <a:rPr lang="en-US" sz="1100" dirty="0"/>
              <a:t>Number of load data hazards</a:t>
            </a:r>
          </a:p>
          <a:p>
            <a:pPr marL="400038" lvl="1" indent="-108000">
              <a:spcBef>
                <a:spcPts val="100"/>
              </a:spcBef>
            </a:pPr>
            <a:r>
              <a:rPr lang="en-US" sz="1100" dirty="0"/>
              <a:t>Number of jump register data hazards</a:t>
            </a:r>
          </a:p>
          <a:p>
            <a:pPr marL="400038" lvl="1" indent="-108000">
              <a:spcBef>
                <a:spcPts val="100"/>
              </a:spcBef>
            </a:pPr>
            <a:r>
              <a:rPr lang="en-US" sz="1100" dirty="0"/>
              <a:t>Number of cycles waiting for instruction fetches, i.e. number of instructions wasted due to non-ideal caching</a:t>
            </a:r>
          </a:p>
          <a:p>
            <a:pPr marL="400038" lvl="1" indent="-108000">
              <a:spcBef>
                <a:spcPts val="100"/>
              </a:spcBef>
            </a:pPr>
            <a:r>
              <a:rPr lang="en-US" sz="1100" dirty="0"/>
              <a:t>Number of data memory loads executed. Misaligned accesses are counted twice</a:t>
            </a:r>
          </a:p>
          <a:p>
            <a:pPr marL="400038" lvl="1" indent="-108000">
              <a:spcBef>
                <a:spcPts val="100"/>
              </a:spcBef>
            </a:pPr>
            <a:r>
              <a:rPr lang="en-US" sz="1100" dirty="0"/>
              <a:t>Number of data memory stores executed. Misaligned accesses are counted twice</a:t>
            </a:r>
          </a:p>
          <a:p>
            <a:pPr marL="400038" lvl="1" indent="-108000">
              <a:spcBef>
                <a:spcPts val="100"/>
              </a:spcBef>
            </a:pPr>
            <a:r>
              <a:rPr lang="en-US" sz="1100" dirty="0"/>
              <a:t>Number of unconditional jumps (j, </a:t>
            </a:r>
            <a:r>
              <a:rPr lang="en-US" sz="1100" dirty="0" err="1"/>
              <a:t>jal</a:t>
            </a:r>
            <a:r>
              <a:rPr lang="en-US" sz="1100" dirty="0"/>
              <a:t>, </a:t>
            </a:r>
            <a:r>
              <a:rPr lang="en-US" sz="1100" dirty="0" err="1"/>
              <a:t>jr</a:t>
            </a:r>
            <a:r>
              <a:rPr lang="en-US" sz="1100" dirty="0"/>
              <a:t>, </a:t>
            </a:r>
            <a:r>
              <a:rPr lang="en-US" sz="1100" dirty="0" err="1"/>
              <a:t>jalr</a:t>
            </a:r>
            <a:r>
              <a:rPr lang="en-US" sz="1100" dirty="0"/>
              <a:t>)</a:t>
            </a:r>
          </a:p>
          <a:p>
            <a:pPr marL="400038" lvl="1" indent="-108000">
              <a:spcBef>
                <a:spcPts val="100"/>
              </a:spcBef>
            </a:pPr>
            <a:r>
              <a:rPr lang="en-US" sz="1100" dirty="0"/>
              <a:t>Number of both taken and not taken branches</a:t>
            </a:r>
          </a:p>
          <a:p>
            <a:pPr marL="400038" lvl="1" indent="-108000">
              <a:spcBef>
                <a:spcPts val="100"/>
              </a:spcBef>
            </a:pPr>
            <a:r>
              <a:rPr lang="en-US" sz="1100" dirty="0"/>
              <a:t>Number of taken branches</a:t>
            </a:r>
          </a:p>
          <a:p>
            <a:pPr marL="400038" lvl="1" indent="-108000">
              <a:spcBef>
                <a:spcPts val="100"/>
              </a:spcBef>
            </a:pPr>
            <a:r>
              <a:rPr lang="en-US" sz="1100" dirty="0"/>
              <a:t>Number of compressed instructions executed</a:t>
            </a:r>
          </a:p>
          <a:p>
            <a:endParaRPr lang="en-US" sz="1200" dirty="0"/>
          </a:p>
          <a:p>
            <a:r>
              <a:rPr lang="en-US" sz="1800" dirty="0"/>
              <a:t>The performance counters of the cluster cores can also count the:</a:t>
            </a:r>
          </a:p>
          <a:p>
            <a:pPr marL="360000" indent="-1714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b="0" dirty="0"/>
              <a:t>Number of memory loads to EXT executed. Misaligned accesses are counted twice. Every non-L1 access is considered external</a:t>
            </a:r>
          </a:p>
          <a:p>
            <a:pPr marL="360000" indent="-1714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b="0" dirty="0"/>
              <a:t>Number of memory stores to EXT executed. Misaligned accesses are counted twice. Every non-L1 access is considered external</a:t>
            </a:r>
          </a:p>
          <a:p>
            <a:pPr marL="360000" indent="-1714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b="0" dirty="0"/>
              <a:t>Number of cycles used for memory loads to EXT. Every non-L1 access is considered external </a:t>
            </a:r>
          </a:p>
          <a:p>
            <a:pPr marL="360000" indent="-1714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b="0" dirty="0"/>
              <a:t>Number of cycles used for memory stores to EXT. Every non-L1 access is considered external </a:t>
            </a:r>
          </a:p>
          <a:p>
            <a:pPr marL="360000" indent="-1714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b="0" dirty="0"/>
              <a:t>Number of cycles wasted due to L1/log-interconnect contention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00D59-6E25-4EAC-AA43-F9F995A8852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D7AE6D-3DAE-49B6-A003-C28B60A0BAE4}"/>
              </a:ext>
            </a:extLst>
          </p:cNvPr>
          <p:cNvSpPr/>
          <p:nvPr/>
        </p:nvSpPr>
        <p:spPr>
          <a:xfrm>
            <a:off x="9379084" y="1980336"/>
            <a:ext cx="2285865" cy="19375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RISC-V</a:t>
            </a:r>
          </a:p>
          <a:p>
            <a:pPr algn="ctr"/>
            <a:r>
              <a:rPr lang="en-US" dirty="0">
                <a:latin typeface="Arial Narrow" panose="020B0606020202030204" pitchFamily="34" charset="0"/>
              </a:rPr>
              <a:t>Core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D3DE57-C74C-41BF-A8E5-C0B6E7BC8835}"/>
              </a:ext>
            </a:extLst>
          </p:cNvPr>
          <p:cNvSpPr/>
          <p:nvPr/>
        </p:nvSpPr>
        <p:spPr>
          <a:xfrm>
            <a:off x="10678705" y="2098435"/>
            <a:ext cx="867669" cy="504357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Arial Narrow" panose="020B0606020202030204" pitchFamily="34" charset="0"/>
              </a:rPr>
              <a:t>Performance Counters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3F1A7F-F289-40AB-A9E4-2D66DA0EB8D1}"/>
              </a:ext>
            </a:extLst>
          </p:cNvPr>
          <p:cNvSpPr txBox="1"/>
          <p:nvPr/>
        </p:nvSpPr>
        <p:spPr>
          <a:xfrm>
            <a:off x="2446825" y="6105451"/>
            <a:ext cx="7393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C00000"/>
                </a:solidFill>
              </a:rPr>
              <a:t>Important</a:t>
            </a:r>
            <a:r>
              <a:rPr lang="en-US" sz="1800">
                <a:solidFill>
                  <a:srgbClr val="C00000"/>
                </a:solidFill>
              </a:rPr>
              <a:t>: while on the PULP Virtual Platform multiple perf counters can be enabled concurrently, only one counter is available on a real HW device! </a:t>
            </a:r>
          </a:p>
        </p:txBody>
      </p:sp>
    </p:spTree>
    <p:extLst>
      <p:ext uri="{BB962C8B-B14F-4D97-AF65-F5344CB8AC3E}">
        <p14:creationId xmlns:p14="http://schemas.microsoft.com/office/powerpoint/2010/main" val="531360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AC728D-B2F3-4A55-AC8E-16B52E96064B}"/>
              </a:ext>
            </a:extLst>
          </p:cNvPr>
          <p:cNvSpPr/>
          <p:nvPr/>
        </p:nvSpPr>
        <p:spPr>
          <a:xfrm>
            <a:off x="623392" y="2060848"/>
            <a:ext cx="6192688" cy="41044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6AA98E-A1BB-424B-86F6-6130F8451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the performance Counters on PULP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1C8EC-3022-41A8-B61B-1086E6766C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Using the PMSIS library APIs: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7C09DCC-CD1C-4368-8010-ACEB29DCDE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9D2134D-28EB-4FB7-B02D-0BEB64D6677D}"/>
              </a:ext>
            </a:extLst>
          </p:cNvPr>
          <p:cNvSpPr txBox="1">
            <a:spLocks/>
          </p:cNvSpPr>
          <p:nvPr/>
        </p:nvSpPr>
        <p:spPr>
          <a:xfrm>
            <a:off x="7439410" y="5877272"/>
            <a:ext cx="4080024" cy="34339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720000"/>
            <a:r>
              <a:rPr lang="it-IT" sz="1400" b="0" i="0" dirty="0">
                <a:latin typeface="Arial Narrow" panose="020B0604020202020204" pitchFamily="34" charset="0"/>
                <a:cs typeface="Arial Narrow" panose="020B0604020202020204" pitchFamily="34" charset="0"/>
              </a:rPr>
              <a:t>/</a:t>
            </a:r>
            <a:r>
              <a:rPr lang="it-IT" sz="1400" b="0" i="0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rtos</a:t>
            </a:r>
            <a:r>
              <a:rPr lang="it-IT" sz="1400" b="0" i="0" dirty="0">
                <a:latin typeface="Arial Narrow" panose="020B0604020202020204" pitchFamily="34" charset="0"/>
                <a:cs typeface="Arial Narrow" panose="020B0604020202020204" pitchFamily="34" charset="0"/>
              </a:rPr>
              <a:t>/</a:t>
            </a:r>
            <a:r>
              <a:rPr lang="it-IT" sz="1400" b="0" i="0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pmsis</a:t>
            </a:r>
            <a:r>
              <a:rPr lang="it-IT" sz="1400" b="0" i="0" dirty="0">
                <a:latin typeface="Arial Narrow" panose="020B0604020202020204" pitchFamily="34" charset="0"/>
                <a:cs typeface="Arial Narrow" panose="020B0604020202020204" pitchFamily="34" charset="0"/>
              </a:rPr>
              <a:t>/</a:t>
            </a:r>
            <a:r>
              <a:rPr lang="it-IT" sz="1400" b="0" i="0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pmsis_api</a:t>
            </a:r>
            <a:r>
              <a:rPr lang="it-IT" sz="1400" b="0" i="0" dirty="0">
                <a:latin typeface="Arial Narrow" panose="020B0604020202020204" pitchFamily="34" charset="0"/>
                <a:cs typeface="Arial Narrow" panose="020B0604020202020204" pitchFamily="34" charset="0"/>
              </a:rPr>
              <a:t>/include/</a:t>
            </a:r>
            <a:r>
              <a:rPr lang="it-IT" sz="1400" b="0" i="0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pmsis</a:t>
            </a:r>
            <a:r>
              <a:rPr lang="it-IT" sz="1400" b="0" i="0" dirty="0">
                <a:latin typeface="Arial Narrow" panose="020B0604020202020204" pitchFamily="34" charset="0"/>
                <a:cs typeface="Arial Narrow" panose="020B0604020202020204" pitchFamily="34" charset="0"/>
              </a:rPr>
              <a:t>/chips/</a:t>
            </a:r>
            <a:r>
              <a:rPr lang="it-IT" sz="1400" b="0" i="0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default.h</a:t>
            </a:r>
            <a:endParaRPr lang="it-IT" sz="1400" b="0" i="0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7B600B-D787-4641-9818-732B07311794}"/>
              </a:ext>
            </a:extLst>
          </p:cNvPr>
          <p:cNvSpPr/>
          <p:nvPr/>
        </p:nvSpPr>
        <p:spPr>
          <a:xfrm>
            <a:off x="767408" y="2132856"/>
            <a:ext cx="576064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enable the perf counters of interest</a:t>
            </a:r>
          </a:p>
          <a:p>
            <a:r>
              <a:rPr lang="en-US" sz="1400" b="1" err="1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pi_perf_conf</a:t>
            </a:r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  	1 &lt;&lt; </a:t>
            </a:r>
            <a:r>
              <a:rPr lang="en-US" sz="140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PI_PERF_CYCLES </a:t>
            </a:r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</a:t>
            </a:r>
          </a:p>
          <a:p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  	1 &lt;&lt; </a:t>
            </a:r>
            <a:r>
              <a:rPr lang="en-US" sz="140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PI_PERF_INSTR </a:t>
            </a:r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endParaRPr lang="en-US" sz="140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reset the performance counters</a:t>
            </a:r>
          </a:p>
          <a:p>
            <a:r>
              <a:rPr lang="en-US" sz="1400" b="1" err="1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pi_perf_reset</a:t>
            </a:r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start the performance counters</a:t>
            </a:r>
          </a:p>
          <a:p>
            <a:r>
              <a:rPr lang="en-US" sz="1400" b="1" err="1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pi_perf_start</a:t>
            </a:r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endParaRPr lang="en-US" sz="140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task to profile</a:t>
            </a:r>
          </a:p>
          <a:p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foo(); </a:t>
            </a:r>
          </a:p>
          <a:p>
            <a:endParaRPr lang="en-US" sz="140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stop the performance counters</a:t>
            </a:r>
          </a:p>
          <a:p>
            <a:r>
              <a:rPr lang="en-US" sz="1400" b="1" err="1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pi_perf_stop</a:t>
            </a:r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endParaRPr lang="en-US" sz="140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collect and print statistics</a:t>
            </a:r>
          </a:p>
          <a:p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uint32_t </a:t>
            </a:r>
            <a:r>
              <a:rPr lang="en-US" sz="140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instr_cnt</a:t>
            </a:r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err="1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pi_perf_read</a:t>
            </a:r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PI_PERF_INSTR</a:t>
            </a:r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uint32_t </a:t>
            </a:r>
            <a:r>
              <a:rPr lang="en-US" sz="140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cycles_cnt</a:t>
            </a:r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err="1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pi_perf_read</a:t>
            </a:r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PI_PERF_CYCLES</a:t>
            </a:r>
            <a:r>
              <a:rPr lang="en-US" sz="140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60BF28-FB3A-45CA-8A86-90756712B347}"/>
              </a:ext>
            </a:extLst>
          </p:cNvPr>
          <p:cNvCxnSpPr>
            <a:cxnSpLocks/>
          </p:cNvCxnSpPr>
          <p:nvPr/>
        </p:nvCxnSpPr>
        <p:spPr>
          <a:xfrm flipH="1">
            <a:off x="5087888" y="1705397"/>
            <a:ext cx="1296144" cy="8693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D3CB688-4326-442A-B211-395944192633}"/>
              </a:ext>
            </a:extLst>
          </p:cNvPr>
          <p:cNvSpPr txBox="1"/>
          <p:nvPr/>
        </p:nvSpPr>
        <p:spPr>
          <a:xfrm>
            <a:off x="6384032" y="1311094"/>
            <a:ext cx="3312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Configure which  performance counters to enable!</a:t>
            </a:r>
          </a:p>
        </p:txBody>
      </p:sp>
      <p:pic>
        <p:nvPicPr>
          <p:cNvPr id="13" name="Segnaposto contenuto 9">
            <a:extLst>
              <a:ext uri="{FF2B5EF4-FFF2-40B4-BE49-F238E27FC236}">
                <a16:creationId xmlns:a16="http://schemas.microsoft.com/office/drawing/2014/main" id="{06A76D76-26B1-4E5F-A985-32BF33AC95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632"/>
          <a:stretch/>
        </p:blipFill>
        <p:spPr>
          <a:xfrm>
            <a:off x="7608168" y="2276872"/>
            <a:ext cx="3742508" cy="355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774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0C3A60-380E-4B88-9991-55598CBF7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Profile the </a:t>
            </a:r>
            <a:r>
              <a:rPr lang="en-US" i="1" err="1"/>
              <a:t>gemv</a:t>
            </a:r>
            <a:endParaRPr lang="en-US" i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F2139-6150-437B-967A-1D33069860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Make a new project by copying the </a:t>
            </a:r>
            <a:r>
              <a:rPr lang="en-US" i="1" dirty="0"/>
              <a:t>matrix-vector </a:t>
            </a:r>
            <a:r>
              <a:rPr lang="en-US" i="1" dirty="0" err="1"/>
              <a:t>gemv</a:t>
            </a:r>
            <a:r>
              <a:rPr lang="en-US" i="1" dirty="0"/>
              <a:t> </a:t>
            </a:r>
            <a:r>
              <a:rPr lang="en-US" dirty="0"/>
              <a:t>example into a new directory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212767-41AD-45E5-B604-6CC28E7E81E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0128F1-7B7F-4345-BAD0-1ADDFD3ECC13}"/>
              </a:ext>
            </a:extLst>
          </p:cNvPr>
          <p:cNvSpPr/>
          <p:nvPr/>
        </p:nvSpPr>
        <p:spPr>
          <a:xfrm>
            <a:off x="2581864" y="1672281"/>
            <a:ext cx="6560468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cp -r </a:t>
            </a:r>
            <a:r>
              <a:rPr lang="en-US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matrix_vector</a:t>
            </a:r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matrix_vector_perf</a:t>
            </a:r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cd </a:t>
            </a:r>
            <a:r>
              <a:rPr lang="en-US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matrix_vector_perf</a:t>
            </a:r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7C1D7316-C8DA-4A92-8C68-F4C0F5EA2338}"/>
              </a:ext>
            </a:extLst>
          </p:cNvPr>
          <p:cNvSpPr txBox="1">
            <a:spLocks/>
          </p:cNvSpPr>
          <p:nvPr/>
        </p:nvSpPr>
        <p:spPr>
          <a:xfrm>
            <a:off x="527051" y="2552834"/>
            <a:ext cx="11233149" cy="361247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each of the previous compiler optimizations, </a:t>
            </a:r>
            <a:r>
              <a:rPr lang="en-US" b="1" dirty="0"/>
              <a:t>measure the performance </a:t>
            </a:r>
            <a:r>
              <a:rPr lang="en-US" u="sng" dirty="0"/>
              <a:t>using the PMSIS performance counters</a:t>
            </a:r>
            <a:r>
              <a:rPr lang="en-US" dirty="0"/>
              <a:t> and report: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number of clock cycles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number of instructions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CPI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compute the number of clock cycles and instructions per </a:t>
            </a:r>
            <a:r>
              <a:rPr lang="en-US" i="1" dirty="0"/>
              <a:t>elementary operation</a:t>
            </a:r>
            <a:r>
              <a:rPr lang="en-US" dirty="0"/>
              <a:t>.</a:t>
            </a:r>
          </a:p>
          <a:p>
            <a:pPr marL="1200150" lvl="1" indent="-457200"/>
            <a:r>
              <a:rPr lang="en-US" sz="2000" dirty="0"/>
              <a:t>1 elementary operation := 1 Multiply-and-Accumulate</a:t>
            </a:r>
          </a:p>
        </p:txBody>
      </p:sp>
      <p:pic>
        <p:nvPicPr>
          <p:cNvPr id="24" name="Picture 7">
            <a:extLst>
              <a:ext uri="{FF2B5EF4-FFF2-40B4-BE49-F238E27FC236}">
                <a16:creationId xmlns:a16="http://schemas.microsoft.com/office/drawing/2014/main" id="{2E93EC6A-E985-46E9-9094-8B91D74E7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004" y="4676969"/>
            <a:ext cx="2214996" cy="46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9513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0C3A60-380E-4B88-9991-55598CBF7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Profile the </a:t>
            </a:r>
            <a:r>
              <a:rPr lang="en-US" i="1" err="1"/>
              <a:t>gemv</a:t>
            </a:r>
            <a:endParaRPr lang="en-US" i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F2139-6150-437B-967A-1D33069860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Make a new project by copying the  </a:t>
            </a:r>
            <a:r>
              <a:rPr lang="en-US" i="1" dirty="0"/>
              <a:t>matrix-vector </a:t>
            </a:r>
            <a:r>
              <a:rPr lang="en-US" i="1" dirty="0" err="1"/>
              <a:t>gemv</a:t>
            </a:r>
            <a:r>
              <a:rPr lang="en-US" i="1" dirty="0"/>
              <a:t> </a:t>
            </a:r>
            <a:r>
              <a:rPr lang="en-US" dirty="0"/>
              <a:t>example into a new folder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839CD72-7DEB-4415-BA77-94E5F7DCF7A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0128F1-7B7F-4345-BAD0-1ADDFD3ECC13}"/>
              </a:ext>
            </a:extLst>
          </p:cNvPr>
          <p:cNvSpPr/>
          <p:nvPr/>
        </p:nvSpPr>
        <p:spPr>
          <a:xfrm>
            <a:off x="2581864" y="1672281"/>
            <a:ext cx="6560468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cp -r </a:t>
            </a:r>
            <a:r>
              <a:rPr lang="en-US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matrix_vector</a:t>
            </a:r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matrix_vector_perf</a:t>
            </a:r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cd </a:t>
            </a:r>
            <a:r>
              <a:rPr lang="en-US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matrix_vector_perf</a:t>
            </a:r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14FF04D-73E7-4ADE-AFCD-6C1C73BDBFA0}"/>
              </a:ext>
            </a:extLst>
          </p:cNvPr>
          <p:cNvSpPr txBox="1">
            <a:spLocks/>
          </p:cNvSpPr>
          <p:nvPr/>
        </p:nvSpPr>
        <p:spPr>
          <a:xfrm>
            <a:off x="527051" y="2689305"/>
            <a:ext cx="11233149" cy="43204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accent2">
                    <a:lumMod val="75000"/>
                  </a:schemeClr>
                </a:solidFill>
                <a:latin typeface="Source Sans Pro"/>
                <a:ea typeface="Source Sans Pro"/>
              </a:rPr>
              <a:t>Solution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Source Sans Pro"/>
                <a:ea typeface="Source Sans Pro"/>
              </a:rPr>
              <a:t>:</a:t>
            </a:r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B75429-7102-4D5C-A91A-25CCCE2CAC7E}"/>
              </a:ext>
            </a:extLst>
          </p:cNvPr>
          <p:cNvSpPr txBox="1"/>
          <p:nvPr/>
        </p:nvSpPr>
        <p:spPr>
          <a:xfrm>
            <a:off x="713588" y="3157958"/>
            <a:ext cx="6146481" cy="249299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Courier New"/>
                <a:ea typeface="+mn-lt"/>
                <a:cs typeface="+mn-lt"/>
              </a:rPr>
              <a:t>  </a:t>
            </a:r>
            <a:r>
              <a:rPr lang="en-US" sz="1200" b="1" err="1">
                <a:latin typeface="Courier New"/>
                <a:ea typeface="+mn-lt"/>
                <a:cs typeface="+mn-lt"/>
              </a:rPr>
              <a:t>pi_perf_conf</a:t>
            </a:r>
            <a:r>
              <a:rPr lang="en-US" sz="1200" b="1">
                <a:latin typeface="Courier New"/>
                <a:ea typeface="+mn-lt"/>
                <a:cs typeface="+mn-lt"/>
              </a:rPr>
              <a:t>(1&lt;&lt;PI_PERF_CYCLES | 1&lt;&lt;PI_PERF_INSTR);</a:t>
            </a:r>
            <a:endParaRPr lang="en-US" b="1">
              <a:latin typeface="Courier New"/>
              <a:ea typeface="+mn-lt"/>
              <a:cs typeface="+mn-lt"/>
            </a:endParaRPr>
          </a:p>
          <a:p>
            <a:r>
              <a:rPr lang="en-US" sz="1200" b="1">
                <a:latin typeface="Courier New"/>
                <a:ea typeface="+mn-lt"/>
                <a:cs typeface="+mn-lt"/>
              </a:rPr>
              <a:t>  </a:t>
            </a:r>
            <a:r>
              <a:rPr lang="en-US" sz="1200" b="1" err="1">
                <a:latin typeface="Courier New"/>
                <a:ea typeface="+mn-lt"/>
                <a:cs typeface="+mn-lt"/>
              </a:rPr>
              <a:t>pi_perf_reset</a:t>
            </a:r>
            <a:r>
              <a:rPr lang="en-US" sz="1200" b="1">
                <a:latin typeface="Courier New"/>
                <a:ea typeface="+mn-lt"/>
                <a:cs typeface="+mn-lt"/>
              </a:rPr>
              <a:t>();</a:t>
            </a:r>
            <a:endParaRPr lang="en-US" b="1">
              <a:latin typeface="Courier New"/>
              <a:ea typeface="+mn-lt"/>
              <a:cs typeface="+mn-lt"/>
            </a:endParaRPr>
          </a:p>
          <a:p>
            <a:endParaRPr lang="en-US" b="1">
              <a:latin typeface="Courier New"/>
              <a:ea typeface="+mn-lt"/>
              <a:cs typeface="+mn-lt"/>
            </a:endParaRPr>
          </a:p>
          <a:p>
            <a:r>
              <a:rPr lang="en-US" sz="1200" b="1">
                <a:latin typeface="Courier New"/>
                <a:ea typeface="+mn-lt"/>
                <a:cs typeface="+mn-lt"/>
              </a:rPr>
              <a:t>  </a:t>
            </a:r>
            <a:r>
              <a:rPr lang="en-US" sz="1200" b="1" err="1">
                <a:latin typeface="Courier New"/>
                <a:ea typeface="+mn-lt"/>
                <a:cs typeface="+mn-lt"/>
              </a:rPr>
              <a:t>pi_perf_start</a:t>
            </a:r>
            <a:r>
              <a:rPr lang="en-US" sz="1200" b="1">
                <a:latin typeface="Courier New"/>
                <a:ea typeface="+mn-lt"/>
                <a:cs typeface="+mn-lt"/>
              </a:rPr>
              <a:t>();</a:t>
            </a:r>
            <a:endParaRPr lang="en-US" b="1">
              <a:latin typeface="Courier New"/>
              <a:ea typeface="+mn-lt"/>
              <a:cs typeface="+mn-lt"/>
            </a:endParaRPr>
          </a:p>
          <a:p>
            <a:r>
              <a:rPr lang="en-US" sz="1200">
                <a:latin typeface="Courier New"/>
                <a:ea typeface="+mn-lt"/>
                <a:cs typeface="+mn-lt"/>
              </a:rPr>
              <a:t>  // call the matrix-vector </a:t>
            </a:r>
            <a:r>
              <a:rPr lang="en-US" sz="1200" err="1">
                <a:latin typeface="Courier New"/>
                <a:ea typeface="+mn-lt"/>
                <a:cs typeface="+mn-lt"/>
              </a:rPr>
              <a:t>fucntion</a:t>
            </a:r>
            <a:endParaRPr lang="en-US">
              <a:latin typeface="Courier New"/>
              <a:cs typeface="Courier New"/>
            </a:endParaRPr>
          </a:p>
          <a:p>
            <a:r>
              <a:rPr lang="en-US" sz="1200">
                <a:latin typeface="Courier New"/>
                <a:ea typeface="+mn-lt"/>
                <a:cs typeface="+mn-lt"/>
              </a:rPr>
              <a:t>  </a:t>
            </a:r>
            <a:r>
              <a:rPr lang="en-US" sz="1200" b="1" err="1">
                <a:solidFill>
                  <a:srgbClr val="00B0F0"/>
                </a:solidFill>
                <a:latin typeface="Courier New"/>
                <a:ea typeface="+mn-lt"/>
                <a:cs typeface="+mn-lt"/>
              </a:rPr>
              <a:t>gemv</a:t>
            </a:r>
            <a:r>
              <a:rPr lang="en-US" sz="1200">
                <a:latin typeface="Courier New"/>
                <a:ea typeface="+mn-lt"/>
                <a:cs typeface="+mn-lt"/>
              </a:rPr>
              <a:t>(N, M, matrix, vector, </a:t>
            </a:r>
            <a:r>
              <a:rPr lang="en-US" sz="1200" err="1">
                <a:latin typeface="Courier New"/>
                <a:ea typeface="+mn-lt"/>
                <a:cs typeface="+mn-lt"/>
              </a:rPr>
              <a:t>output_vec</a:t>
            </a:r>
            <a:r>
              <a:rPr lang="en-US" sz="1200">
                <a:latin typeface="Courier New"/>
                <a:ea typeface="+mn-lt"/>
                <a:cs typeface="+mn-lt"/>
              </a:rPr>
              <a:t>);</a:t>
            </a:r>
            <a:endParaRPr lang="en-US">
              <a:latin typeface="Courier New"/>
              <a:cs typeface="Courier New"/>
            </a:endParaRPr>
          </a:p>
          <a:p>
            <a:r>
              <a:rPr lang="en-US" sz="1200">
                <a:latin typeface="Courier New"/>
                <a:ea typeface="+mn-lt"/>
                <a:cs typeface="+mn-lt"/>
              </a:rPr>
              <a:t> </a:t>
            </a:r>
            <a:r>
              <a:rPr lang="en-US" sz="1200" b="1">
                <a:latin typeface="Courier New"/>
                <a:ea typeface="+mn-lt"/>
                <a:cs typeface="+mn-lt"/>
              </a:rPr>
              <a:t> </a:t>
            </a:r>
            <a:r>
              <a:rPr lang="en-US" sz="1200" b="1" err="1">
                <a:latin typeface="Courier New"/>
                <a:ea typeface="+mn-lt"/>
                <a:cs typeface="+mn-lt"/>
              </a:rPr>
              <a:t>pi_perf_stop</a:t>
            </a:r>
            <a:r>
              <a:rPr lang="en-US" sz="1200" b="1">
                <a:latin typeface="Courier New"/>
                <a:ea typeface="+mn-lt"/>
                <a:cs typeface="+mn-lt"/>
              </a:rPr>
              <a:t>();</a:t>
            </a:r>
            <a:endParaRPr lang="en-US" b="1">
              <a:latin typeface="Courier New"/>
              <a:ea typeface="+mn-lt"/>
              <a:cs typeface="+mn-lt"/>
            </a:endParaRPr>
          </a:p>
          <a:p>
            <a:endParaRPr lang="en-US">
              <a:latin typeface="Courier New"/>
              <a:ea typeface="+mn-lt"/>
              <a:cs typeface="+mn-lt"/>
            </a:endParaRPr>
          </a:p>
          <a:p>
            <a:r>
              <a:rPr lang="en-US" sz="1200">
                <a:latin typeface="Courier New"/>
                <a:ea typeface="+mn-lt"/>
                <a:cs typeface="+mn-lt"/>
              </a:rPr>
              <a:t> </a:t>
            </a:r>
            <a:r>
              <a:rPr lang="en-US" sz="1200" b="1">
                <a:latin typeface="Courier New"/>
                <a:ea typeface="+mn-lt"/>
                <a:cs typeface="+mn-lt"/>
              </a:rPr>
              <a:t> uint32_t </a:t>
            </a:r>
            <a:r>
              <a:rPr lang="en-US" sz="1200" b="1" err="1">
                <a:latin typeface="Courier New"/>
                <a:ea typeface="+mn-lt"/>
                <a:cs typeface="+mn-lt"/>
              </a:rPr>
              <a:t>instr_cnt</a:t>
            </a:r>
            <a:r>
              <a:rPr lang="en-US" sz="1200" b="1">
                <a:latin typeface="Courier New"/>
                <a:ea typeface="+mn-lt"/>
                <a:cs typeface="+mn-lt"/>
              </a:rPr>
              <a:t> = </a:t>
            </a:r>
            <a:r>
              <a:rPr lang="en-US" sz="1200" b="1" err="1">
                <a:latin typeface="Courier New"/>
                <a:ea typeface="+mn-lt"/>
                <a:cs typeface="+mn-lt"/>
              </a:rPr>
              <a:t>pi_perf_read</a:t>
            </a:r>
            <a:r>
              <a:rPr lang="en-US" sz="1200" b="1">
                <a:latin typeface="Courier New"/>
                <a:ea typeface="+mn-lt"/>
                <a:cs typeface="+mn-lt"/>
              </a:rPr>
              <a:t>(PI_PERF_INSTR);</a:t>
            </a:r>
            <a:endParaRPr lang="en-US" b="1">
              <a:latin typeface="Courier New"/>
              <a:ea typeface="+mn-lt"/>
              <a:cs typeface="+mn-lt"/>
            </a:endParaRPr>
          </a:p>
          <a:p>
            <a:r>
              <a:rPr lang="en-US" sz="1200" b="1">
                <a:latin typeface="Courier New"/>
                <a:ea typeface="+mn-lt"/>
                <a:cs typeface="+mn-lt"/>
              </a:rPr>
              <a:t>  uint32_t </a:t>
            </a:r>
            <a:r>
              <a:rPr lang="en-US" sz="1200" b="1" err="1">
                <a:latin typeface="Courier New"/>
                <a:ea typeface="+mn-lt"/>
                <a:cs typeface="+mn-lt"/>
              </a:rPr>
              <a:t>cycles_cnt</a:t>
            </a:r>
            <a:r>
              <a:rPr lang="en-US" sz="1200" b="1">
                <a:latin typeface="Courier New"/>
                <a:ea typeface="+mn-lt"/>
                <a:cs typeface="+mn-lt"/>
              </a:rPr>
              <a:t> = </a:t>
            </a:r>
            <a:r>
              <a:rPr lang="en-US" sz="1200" b="1" err="1">
                <a:latin typeface="Courier New"/>
                <a:ea typeface="+mn-lt"/>
                <a:cs typeface="+mn-lt"/>
              </a:rPr>
              <a:t>pi_perf_read</a:t>
            </a:r>
            <a:r>
              <a:rPr lang="en-US" sz="1200" b="1">
                <a:latin typeface="Courier New"/>
                <a:ea typeface="+mn-lt"/>
                <a:cs typeface="+mn-lt"/>
              </a:rPr>
              <a:t>(PI_PERF_CYCLES);</a:t>
            </a:r>
            <a:endParaRPr lang="en-US" b="1">
              <a:latin typeface="Courier New"/>
              <a:ea typeface="+mn-lt"/>
              <a:cs typeface="+mn-lt"/>
            </a:endParaRPr>
          </a:p>
          <a:p>
            <a:r>
              <a:rPr lang="en-US" sz="1200">
                <a:latin typeface="Courier New"/>
                <a:ea typeface="+mn-lt"/>
                <a:cs typeface="+mn-lt"/>
              </a:rPr>
              <a:t>  </a:t>
            </a:r>
            <a:r>
              <a:rPr lang="en-US" sz="1200" err="1">
                <a:latin typeface="Courier New"/>
                <a:ea typeface="+mn-lt"/>
                <a:cs typeface="+mn-lt"/>
              </a:rPr>
              <a:t>printf</a:t>
            </a:r>
            <a:r>
              <a:rPr lang="en-US" sz="1200">
                <a:latin typeface="Courier New"/>
                <a:ea typeface="+mn-lt"/>
                <a:cs typeface="+mn-lt"/>
              </a:rPr>
              <a:t>("</a:t>
            </a:r>
            <a:r>
              <a:rPr lang="en-US" sz="1200" err="1">
                <a:latin typeface="Courier New"/>
                <a:ea typeface="+mn-lt"/>
                <a:cs typeface="+mn-lt"/>
              </a:rPr>
              <a:t>Num.Istr</a:t>
            </a:r>
            <a:r>
              <a:rPr lang="en-US" sz="1200">
                <a:latin typeface="Courier New"/>
                <a:ea typeface="+mn-lt"/>
                <a:cs typeface="+mn-lt"/>
              </a:rPr>
              <a:t>: %d </a:t>
            </a:r>
            <a:r>
              <a:rPr lang="en-US" sz="1200" err="1">
                <a:latin typeface="Courier New"/>
                <a:ea typeface="+mn-lt"/>
                <a:cs typeface="+mn-lt"/>
              </a:rPr>
              <a:t>Num.Cycles</a:t>
            </a:r>
            <a:r>
              <a:rPr lang="en-US" sz="1200">
                <a:latin typeface="Courier New"/>
                <a:ea typeface="+mn-lt"/>
                <a:cs typeface="+mn-lt"/>
              </a:rPr>
              <a:t>: %d \n", </a:t>
            </a:r>
            <a:r>
              <a:rPr lang="en-US" sz="1200" err="1">
                <a:latin typeface="Courier New"/>
                <a:ea typeface="+mn-lt"/>
                <a:cs typeface="+mn-lt"/>
              </a:rPr>
              <a:t>instr_cnt</a:t>
            </a:r>
            <a:r>
              <a:rPr lang="en-US" sz="1200">
                <a:latin typeface="Courier New"/>
                <a:ea typeface="+mn-lt"/>
                <a:cs typeface="+mn-lt"/>
              </a:rPr>
              <a:t>, </a:t>
            </a:r>
            <a:r>
              <a:rPr lang="en-US" sz="1200" err="1">
                <a:latin typeface="Courier New"/>
                <a:ea typeface="+mn-lt"/>
                <a:cs typeface="+mn-lt"/>
              </a:rPr>
              <a:t>cycles_cnt</a:t>
            </a:r>
            <a:r>
              <a:rPr lang="en-US" sz="1200">
                <a:latin typeface="Courier New"/>
                <a:ea typeface="+mn-lt"/>
                <a:cs typeface="+mn-lt"/>
              </a:rPr>
              <a:t>);</a:t>
            </a:r>
            <a:endParaRPr lang="en-US">
              <a:latin typeface="Courier New"/>
              <a:ea typeface="+mn-lt"/>
              <a:cs typeface="+mn-lt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E94391D0-5752-4A1A-BB98-AF9868883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826742"/>
              </p:ext>
            </p:extLst>
          </p:nvPr>
        </p:nvGraphicFramePr>
        <p:xfrm>
          <a:off x="7191074" y="3698703"/>
          <a:ext cx="4780144" cy="204216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195036">
                  <a:extLst>
                    <a:ext uri="{9D8B030D-6E8A-4147-A177-3AD203B41FA5}">
                      <a16:colId xmlns:a16="http://schemas.microsoft.com/office/drawing/2014/main" val="864172452"/>
                    </a:ext>
                  </a:extLst>
                </a:gridCol>
                <a:gridCol w="1195036">
                  <a:extLst>
                    <a:ext uri="{9D8B030D-6E8A-4147-A177-3AD203B41FA5}">
                      <a16:colId xmlns:a16="http://schemas.microsoft.com/office/drawing/2014/main" val="2957560234"/>
                    </a:ext>
                  </a:extLst>
                </a:gridCol>
                <a:gridCol w="1195036">
                  <a:extLst>
                    <a:ext uri="{9D8B030D-6E8A-4147-A177-3AD203B41FA5}">
                      <a16:colId xmlns:a16="http://schemas.microsoft.com/office/drawing/2014/main" val="3741834600"/>
                    </a:ext>
                  </a:extLst>
                </a:gridCol>
                <a:gridCol w="1195036">
                  <a:extLst>
                    <a:ext uri="{9D8B030D-6E8A-4147-A177-3AD203B41FA5}">
                      <a16:colId xmlns:a16="http://schemas.microsoft.com/office/drawing/2014/main" val="696509464"/>
                    </a:ext>
                  </a:extLst>
                </a:gridCol>
              </a:tblGrid>
              <a:tr h="187877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-03 </a:t>
                      </a:r>
                      <a:r>
                        <a:rPr lang="en-US" sz="1400" err="1"/>
                        <a:t>HWLoops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11484"/>
                  </a:ext>
                </a:extLst>
              </a:tr>
              <a:tr h="187877">
                <a:tc>
                  <a:txBody>
                    <a:bodyPr/>
                    <a:lstStyle/>
                    <a:p>
                      <a:r>
                        <a:rPr lang="en-US" sz="1400"/>
                        <a:t>Clock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22891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20282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12987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630250"/>
                  </a:ext>
                </a:extLst>
              </a:tr>
              <a:tr h="187877">
                <a:tc>
                  <a:txBody>
                    <a:bodyPr/>
                    <a:lstStyle/>
                    <a:p>
                      <a:r>
                        <a:rPr lang="en-US" sz="1400"/>
                        <a:t>Instr.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15835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12780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10483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076022"/>
                  </a:ext>
                </a:extLst>
              </a:tr>
              <a:tr h="187877">
                <a:tc>
                  <a:txBody>
                    <a:bodyPr/>
                    <a:lstStyle/>
                    <a:p>
                      <a:r>
                        <a:rPr lang="en-US" sz="1400"/>
                        <a:t>CPI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108704"/>
                  </a:ext>
                </a:extLst>
              </a:tr>
              <a:tr h="187877">
                <a:tc>
                  <a:txBody>
                    <a:bodyPr/>
                    <a:lstStyle/>
                    <a:p>
                      <a:r>
                        <a:rPr lang="en-US" sz="1400" err="1"/>
                        <a:t>Clk</a:t>
                      </a:r>
                      <a:r>
                        <a:rPr lang="en-US" sz="1400"/>
                        <a:t> Cyc / MAC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733077"/>
                  </a:ext>
                </a:extLst>
              </a:tr>
              <a:tr h="187877">
                <a:tc>
                  <a:txBody>
                    <a:bodyPr/>
                    <a:lstStyle/>
                    <a:p>
                      <a:r>
                        <a:rPr lang="en-US" sz="1400" err="1"/>
                        <a:t>Instr</a:t>
                      </a:r>
                      <a:r>
                        <a:rPr lang="en-US" sz="1400"/>
                        <a:t> / MAC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75524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3556AE3-82B8-489C-94BF-0F6CCE3DD6CD}"/>
              </a:ext>
            </a:extLst>
          </p:cNvPr>
          <p:cNvSpPr txBox="1"/>
          <p:nvPr/>
        </p:nvSpPr>
        <p:spPr>
          <a:xfrm>
            <a:off x="7419071" y="3266656"/>
            <a:ext cx="38105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#</a:t>
            </a:r>
            <a:r>
              <a:rPr lang="en-US" i="1"/>
              <a:t>MAC</a:t>
            </a:r>
            <a:r>
              <a:rPr lang="en-US"/>
              <a:t> = N x M = 50 x 50 = 2500</a:t>
            </a:r>
          </a:p>
        </p:txBody>
      </p:sp>
    </p:spTree>
    <p:extLst>
      <p:ext uri="{BB962C8B-B14F-4D97-AF65-F5344CB8AC3E}">
        <p14:creationId xmlns:p14="http://schemas.microsoft.com/office/powerpoint/2010/main" val="8398265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CF61A5-CA46-4A33-B79F-96D7D290A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 Assignment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887D5B57-EB59-4452-B298-AAE70C3F8965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sz="2000" dirty="0"/>
                  <a:t>Provide an implementation of:</a:t>
                </a:r>
              </a:p>
              <a:p>
                <a:r>
                  <a:rPr lang="en-US" sz="2000" b="1" dirty="0">
                    <a:solidFill>
                      <a:srgbClr val="C00000"/>
                    </a:solidFill>
                  </a:rPr>
                  <a:t>1. </a:t>
                </a:r>
                <a:r>
                  <a:rPr lang="en-US" sz="2000" dirty="0"/>
                  <a:t>the C function </a:t>
                </a:r>
                <a:r>
                  <a:rPr lang="en-US" sz="2000" dirty="0" err="1"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gemvt</a:t>
                </a:r>
                <a:r>
                  <a:rPr lang="en-US" sz="2000" dirty="0"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()</a:t>
                </a:r>
                <a:r>
                  <a:rPr lang="en-US" sz="2000" dirty="0"/>
                  <a:t>that takes an integer (</a:t>
                </a:r>
                <a:r>
                  <a:rPr lang="en-US" sz="2000" i="1" dirty="0"/>
                  <a:t>int32</a:t>
                </a:r>
                <a:r>
                  <a:rPr lang="en-US" sz="2000" dirty="0"/>
                  <a:t>) matrix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it-IT" sz="2000" b="0" i="1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an integer vector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computes the vector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it-IT" sz="2000" b="1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,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is the transpose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b="1" dirty="0">
                    <a:solidFill>
                      <a:srgbClr val="C00000"/>
                    </a:solidFill>
                  </a:rPr>
                  <a:t>2. </a:t>
                </a:r>
                <a:r>
                  <a:rPr lang="en-US" sz="2000" dirty="0"/>
                  <a:t>the C function </a:t>
                </a:r>
                <a:r>
                  <a:rPr lang="en-US" sz="2000" dirty="0" err="1"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gemm</a:t>
                </a:r>
                <a:r>
                  <a:rPr lang="en-US" sz="2000" dirty="0"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()</a:t>
                </a:r>
                <a:r>
                  <a:rPr lang="en-US" sz="2000" dirty="0"/>
                  <a:t>, the </a:t>
                </a:r>
                <a:r>
                  <a:rPr lang="en-US" sz="2000" i="1" dirty="0"/>
                  <a:t>general matrix multiply</a:t>
                </a:r>
                <a:r>
                  <a:rPr lang="en-US" sz="2000" dirty="0"/>
                  <a:t>, that takes two </a:t>
                </a:r>
                <a:r>
                  <a:rPr lang="en-US" sz="2000" i="1" dirty="0" err="1"/>
                  <a:t>NxN</a:t>
                </a:r>
                <a:r>
                  <a:rPr lang="en-US" sz="2000" i="1" dirty="0"/>
                  <a:t> </a:t>
                </a:r>
                <a:r>
                  <a:rPr lang="en-US" sz="2000" dirty="0"/>
                  <a:t>matrices and returns an </a:t>
                </a:r>
                <a:r>
                  <a:rPr lang="en-US" sz="2000" i="1" dirty="0" err="1"/>
                  <a:t>NxN</a:t>
                </a:r>
                <a:r>
                  <a:rPr lang="en-US" sz="2000" dirty="0"/>
                  <a:t> matrix.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r>
                  <a:rPr lang="en-US" sz="2000" dirty="0"/>
                  <a:t>For each function:</a:t>
                </a:r>
              </a:p>
              <a:p>
                <a:pPr marL="571488" lvl="1" indent="-342900"/>
                <a:r>
                  <a:rPr lang="en-US" sz="1577" dirty="0"/>
                  <a:t>Test the its correct behavior</a:t>
                </a:r>
              </a:p>
              <a:p>
                <a:pPr marL="571488" lvl="1" indent="-342900"/>
                <a:r>
                  <a:rPr lang="en-US" sz="1577" dirty="0"/>
                  <a:t>Measure the number of clock cycles, IPC and efficiency (MAC / clock cycles)</a:t>
                </a:r>
              </a:p>
              <a:p>
                <a:pPr marL="571488" lvl="1" indent="-342900"/>
                <a:r>
                  <a:rPr lang="en-US" sz="1577" dirty="0"/>
                  <a:t>Maximize efficiency!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887D5B57-EB59-4452-B298-AAE70C3F89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257" t="-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061C54-2A87-4C78-B499-A2F956B6F67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0684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A5053-97CB-4724-B255-706C542971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91440" tIns="45720" rIns="91440" bIns="45720" anchor="t"/>
          <a:lstStyle/>
          <a:p>
            <a:r>
              <a:rPr lang="en-US" sz="2100" dirty="0">
                <a:latin typeface="Century Gothic"/>
                <a:ea typeface="Roboto Light"/>
                <a:cs typeface="Calibri Light"/>
              </a:rPr>
              <a:t>Alberto </a:t>
            </a:r>
            <a:r>
              <a:rPr lang="en-US" sz="2100" dirty="0" err="1">
                <a:latin typeface="Century Gothic"/>
                <a:ea typeface="Roboto Light"/>
                <a:cs typeface="Calibri Light"/>
              </a:rPr>
              <a:t>Dequino</a:t>
            </a:r>
            <a:endParaRPr lang="en-US" sz="2100">
              <a:latin typeface="Century Gothic"/>
              <a:ea typeface="Roboto Light"/>
              <a:cs typeface="Calibri Light"/>
            </a:endParaRPr>
          </a:p>
          <a:p>
            <a:endParaRPr lang="en-US" sz="2100" dirty="0">
              <a:latin typeface="Century Gothic"/>
            </a:endParaRPr>
          </a:p>
          <a:p>
            <a:r>
              <a:rPr lang="en-US" sz="2100">
                <a:latin typeface="Century Gothic"/>
                <a:ea typeface="Roboto Light"/>
                <a:cs typeface="Calibri Light"/>
              </a:rPr>
              <a:t>Calin Diaconu</a:t>
            </a:r>
            <a:endParaRPr lang="en-US" sz="2100" dirty="0">
              <a:latin typeface="Century Gothic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DCDEEC-A6E5-4B20-B136-927ED1B39B8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16503" y="2238092"/>
            <a:ext cx="9410700" cy="1441450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500" dirty="0">
                <a:latin typeface="Century Gothic"/>
                <a:ea typeface="Roboto Light"/>
                <a:cs typeface="Roboto Light"/>
                <a:hlinkClick r:id="rId2"/>
              </a:rPr>
              <a:t>alberto.dequino@unibo.it</a:t>
            </a:r>
            <a:endParaRPr lang="en-US" sz="2500" dirty="0">
              <a:ea typeface="Roboto Light"/>
              <a:cs typeface="Roboto Light"/>
            </a:endParaRPr>
          </a:p>
          <a:p>
            <a:pPr marL="0" indent="0">
              <a:buNone/>
            </a:pPr>
            <a:endParaRPr lang="en-US" sz="2500" dirty="0">
              <a:latin typeface="Century Gothic"/>
            </a:endParaRPr>
          </a:p>
          <a:p>
            <a:pPr marL="0" indent="0">
              <a:buNone/>
            </a:pPr>
            <a:r>
              <a:rPr lang="en-US" sz="2500" dirty="0">
                <a:latin typeface="Century Gothic"/>
                <a:ea typeface="Roboto Light"/>
                <a:cs typeface="Roboto Light"/>
                <a:hlinkClick r:id="rId3"/>
              </a:rPr>
              <a:t>calin.diaconu2@unibo.it</a:t>
            </a:r>
            <a:endParaRPr lang="en-US" sz="2500" dirty="0">
              <a:latin typeface="Century Gothic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498511"/>
      </p:ext>
    </p:extLst>
  </p:cSld>
  <p:clrMapOvr>
    <a:masterClrMapping/>
  </p:clrMapOvr>
</p:sld>
</file>

<file path=ppt/theme/theme1.xml><?xml version="1.0" encoding="utf-8"?>
<a:theme xmlns:a="http://schemas.openxmlformats.org/drawingml/2006/main" name="COPERTIN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4000" b="1" dirty="0" smtClean="0">
            <a:solidFill>
              <a:schemeClr val="bg1"/>
            </a:solidFill>
            <a:latin typeface="Century Gothic" panose="020B0502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odelloPptIstituzionaleBologna4-3" id="{B8D0F4AB-59B0-4047-875E-E6877BD56A5E}" vid="{45760B21-68C2-9840-AFB1-73FEC082CBB2}"/>
    </a:ext>
  </a:extLst>
</a:theme>
</file>

<file path=ppt/theme/theme2.xml><?xml version="1.0" encoding="utf-8"?>
<a:theme xmlns:a="http://schemas.openxmlformats.org/drawingml/2006/main" name="1_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i="0" cap="none" spc="0" dirty="0" smtClean="0">
            <a:ln>
              <a:noFill/>
            </a:ln>
            <a:solidFill>
              <a:schemeClr val="bg2"/>
            </a:solidFill>
            <a:effectLst/>
            <a:latin typeface="+mj-lt"/>
            <a:cs typeface="Arial Narrow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720000">
          <a:defRPr sz="2400" b="0" i="0" dirty="0" smtClean="0">
            <a:solidFill>
              <a:schemeClr val="accent1"/>
            </a:solidFill>
            <a:latin typeface="+mn-lt"/>
            <a:cs typeface="Arial Narrow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01_Intro_Architectures_RISCV_2025_FRANCESCO" id="{D2381578-3147-C84A-9038-91BEDAFAA4A6}" vid="{19F228F0-784F-754B-8966-6A2EDC6A023E}"/>
    </a:ext>
  </a:extLst>
</a:theme>
</file>

<file path=ppt/theme/theme3.xml><?xml version="1.0" encoding="utf-8"?>
<a:theme xmlns:a="http://schemas.openxmlformats.org/drawingml/2006/main" name="DIAPOSITIV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loPptIstituzionaleBologna4-3" id="{B8D0F4AB-59B0-4047-875E-E6877BD56A5E}" vid="{8CD27338-4583-844A-80A0-D761EFF3D4FB}"/>
    </a:ext>
  </a:extLst>
</a:theme>
</file>

<file path=ppt/theme/theme4.xml><?xml version="1.0" encoding="utf-8"?>
<a:theme xmlns:a="http://schemas.openxmlformats.org/drawingml/2006/main" name="CHIUSURA">
  <a:themeElements>
    <a:clrScheme name="Personalizzato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EEECE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loPptIstituzionaleBologna4-3" id="{B8D0F4AB-59B0-4047-875E-E6877BD56A5E}" vid="{D8ECB409-EA4B-0C4E-9DA3-1D45C9C8AC68}"/>
    </a:ext>
  </a:extLst>
</a:theme>
</file>

<file path=ppt/theme/theme5.xml><?xml version="1.0" encoding="utf-8"?>
<a:theme xmlns:a="http://schemas.openxmlformats.org/drawingml/2006/main" name="eth_praesentation_4zu3_ETH6">
  <a:themeElements>
    <a:clrScheme name="Pulp Colors">
      <a:dk1>
        <a:sysClr val="windowText" lastClr="000000"/>
      </a:dk1>
      <a:lt1>
        <a:sysClr val="window" lastClr="FFFFFF"/>
      </a:lt1>
      <a:dk2>
        <a:srgbClr val="5E5E5E"/>
      </a:dk2>
      <a:lt2>
        <a:srgbClr val="B4B4B4"/>
      </a:lt2>
      <a:accent1>
        <a:srgbClr val="1CB24B"/>
      </a:accent1>
      <a:accent2>
        <a:srgbClr val="F79646"/>
      </a:accent2>
      <a:accent3>
        <a:srgbClr val="B4B4B4"/>
      </a:accent3>
      <a:accent4>
        <a:srgbClr val="5E5E5E"/>
      </a:accent4>
      <a:accent5>
        <a:srgbClr val="E86E0A"/>
      </a:accent5>
      <a:accent6>
        <a:srgbClr val="0E5624"/>
      </a:accent6>
      <a:hlink>
        <a:srgbClr val="1CB24B"/>
      </a:hlink>
      <a:folHlink>
        <a:srgbClr val="0E5624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sq">
          <a:solidFill>
            <a:schemeClr val="tx1"/>
          </a:solidFill>
          <a:round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ETH 6">
        <a:dk1>
          <a:sysClr val="windowText" lastClr="000000"/>
        </a:dk1>
        <a:lt1>
          <a:sysClr val="window" lastClr="FFFFFF"/>
        </a:lt1>
        <a:dk2>
          <a:srgbClr val="000000"/>
        </a:dk2>
        <a:lt2>
          <a:srgbClr val="FFFFFF"/>
        </a:lt2>
        <a:accent1>
          <a:srgbClr val="6F6F64"/>
        </a:accent1>
        <a:accent2>
          <a:srgbClr val="86867D"/>
        </a:accent2>
        <a:accent3>
          <a:srgbClr val="9D9D96"/>
        </a:accent3>
        <a:accent4>
          <a:srgbClr val="B4B4AE"/>
        </a:accent4>
        <a:accent5>
          <a:srgbClr val="CBCBC7"/>
        </a:accent5>
        <a:accent6>
          <a:srgbClr val="E2E2E0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ETH 3">
      <a:srgbClr val="1269B0"/>
    </a:custClr>
    <a:custClr name="ETH 4">
      <a:srgbClr val="72791C"/>
    </a:custClr>
    <a:custClr name="ETH 5">
      <a:srgbClr val="91056A"/>
    </a:custClr>
    <a:custClr name="ETH 6">
      <a:srgbClr val="6F6F6E"/>
    </a:custClr>
    <a:custClr name="ETH 7">
      <a:srgbClr val="A8322D"/>
    </a:custClr>
    <a:custClr name="ETH 8">
      <a:srgbClr val="007A96"/>
    </a:custClr>
    <a:custClr name="ETH 9">
      <a:srgbClr val="956013"/>
    </a:custClr>
  </a:custClrLst>
  <a:extLst>
    <a:ext uri="{05A4C25C-085E-4340-85A3-A5531E510DB2}">
      <thm15:themeFamily xmlns:thm15="http://schemas.microsoft.com/office/thememl/2012/main" name="eth_praesentation_4zu3_ETH1_d" id="{13D4407A-1790-4B2E-BB8C-EB574A67D067}" vid="{CD87C4A7-662A-4073-B26A-B07F61798336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1455</TotalTime>
  <Words>4036</Words>
  <Application>Microsoft Office PowerPoint</Application>
  <PresentationFormat>Widescreen</PresentationFormat>
  <Paragraphs>625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29</vt:i4>
      </vt:variant>
    </vt:vector>
  </HeadingPairs>
  <TitlesOfParts>
    <vt:vector size="47" baseType="lpstr">
      <vt:lpstr>Arial</vt:lpstr>
      <vt:lpstr>Arial Narrow</vt:lpstr>
      <vt:lpstr>Calibri</vt:lpstr>
      <vt:lpstr>Calibri Light</vt:lpstr>
      <vt:lpstr>Calibri Regular</vt:lpstr>
      <vt:lpstr>Cambria Math</vt:lpstr>
      <vt:lpstr>Century Gothic</vt:lpstr>
      <vt:lpstr>Consolas</vt:lpstr>
      <vt:lpstr>Courier New</vt:lpstr>
      <vt:lpstr>Roboto Light</vt:lpstr>
      <vt:lpstr>Source Sans Pro</vt:lpstr>
      <vt:lpstr>Times New Roman</vt:lpstr>
      <vt:lpstr>Wingdings</vt:lpstr>
      <vt:lpstr>COPERTINA</vt:lpstr>
      <vt:lpstr>1_PULP Triangle</vt:lpstr>
      <vt:lpstr>DIAPOSITIVE</vt:lpstr>
      <vt:lpstr>CHIUSURA</vt:lpstr>
      <vt:lpstr>eth_praesentation_4zu3_ETH6</vt:lpstr>
      <vt:lpstr>LAB01 -   Embedded Programming on PULP </vt:lpstr>
      <vt:lpstr>Labs (tentative) schedule</vt:lpstr>
      <vt:lpstr>Goal of the Class</vt:lpstr>
      <vt:lpstr>Get confident with the PULP Platform</vt:lpstr>
      <vt:lpstr>Getting Started: Docker setup</vt:lpstr>
      <vt:lpstr>Getting Started: Open project in the Docker container</vt:lpstr>
      <vt:lpstr>Getting Started: Helloworld</vt:lpstr>
      <vt:lpstr>Behind the scenes: Build Automation with Makefiles</vt:lpstr>
      <vt:lpstr>Compilation toolchain</vt:lpstr>
      <vt:lpstr>PULP Software Environment Workflow</vt:lpstr>
      <vt:lpstr>PULP Software Environment Workflow</vt:lpstr>
      <vt:lpstr>PULP SDK</vt:lpstr>
      <vt:lpstr>GVSoC – Features</vt:lpstr>
      <vt:lpstr>Example I: Sum values of a Vector on the PULP platform</vt:lpstr>
      <vt:lpstr>Casting Variables and Passing Parameters via Makefile </vt:lpstr>
      <vt:lpstr>Try on your own: Find an element within an array</vt:lpstr>
      <vt:lpstr>Example II: Matrix-Vector Product </vt:lpstr>
      <vt:lpstr>Example II: Matrix-Vector Product</vt:lpstr>
      <vt:lpstr>Example II: Matrix-Vector Product </vt:lpstr>
      <vt:lpstr>Assembly Code</vt:lpstr>
      <vt:lpstr>Assembly Code</vt:lpstr>
      <vt:lpstr>Assembly Code: O3 optimization </vt:lpstr>
      <vt:lpstr>Assembly Code: HW loops </vt:lpstr>
      <vt:lpstr>Performance Counters: Measuring the CPU Time</vt:lpstr>
      <vt:lpstr>Using the performance Counters on PULP</vt:lpstr>
      <vt:lpstr>Profile the gemv</vt:lpstr>
      <vt:lpstr>Profile the gemv</vt:lpstr>
      <vt:lpstr>Lab Assignment</vt:lpstr>
      <vt:lpstr>PowerPoint Presentation</vt:lpstr>
    </vt:vector>
  </TitlesOfParts>
  <Company>Università di Bologna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UTENTE</dc:creator>
  <cp:lastModifiedBy>Calin Diaconu</cp:lastModifiedBy>
  <cp:revision>91</cp:revision>
  <cp:lastPrinted>2020-04-17T09:44:22Z</cp:lastPrinted>
  <dcterms:created xsi:type="dcterms:W3CDTF">2017-11-13T10:11:35Z</dcterms:created>
  <dcterms:modified xsi:type="dcterms:W3CDTF">2026-03-12T14:01:00Z</dcterms:modified>
</cp:coreProperties>
</file>