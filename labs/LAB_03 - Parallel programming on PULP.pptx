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316440" y="1960920"/>
            <a:ext cx="5234400" cy="171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316440" y="1960920"/>
            <a:ext cx="5234400" cy="171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316440" y="1960920"/>
            <a:ext cx="2554200" cy="171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2998800" y="1960920"/>
            <a:ext cx="2554200" cy="171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316440" y="196092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2998800" y="1960920"/>
            <a:ext cx="2554200" cy="171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316440" y="285840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316440" y="1960920"/>
            <a:ext cx="2554200" cy="171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2998800" y="196092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2998800" y="285840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316440" y="196092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2998800" y="196092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316440" y="2858400"/>
            <a:ext cx="52344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316440" y="1960920"/>
            <a:ext cx="52344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16440" y="2858400"/>
            <a:ext cx="52344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16440" y="196092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2998800" y="196092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316440" y="285840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2998800" y="285840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316440" y="1960920"/>
            <a:ext cx="168516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2086200" y="1960920"/>
            <a:ext cx="168516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/>
          </p:nvPr>
        </p:nvSpPr>
        <p:spPr>
          <a:xfrm>
            <a:off x="3855960" y="1960920"/>
            <a:ext cx="168516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/>
          </p:nvPr>
        </p:nvSpPr>
        <p:spPr>
          <a:xfrm>
            <a:off x="316440" y="2858400"/>
            <a:ext cx="168516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/>
          </p:nvPr>
        </p:nvSpPr>
        <p:spPr>
          <a:xfrm>
            <a:off x="2086200" y="2858400"/>
            <a:ext cx="168516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/>
          </p:nvPr>
        </p:nvSpPr>
        <p:spPr>
          <a:xfrm>
            <a:off x="3855960" y="2858400"/>
            <a:ext cx="168516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ubTitle"/>
          </p:nvPr>
        </p:nvSpPr>
        <p:spPr>
          <a:xfrm>
            <a:off x="316440" y="1960920"/>
            <a:ext cx="5234400" cy="171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316440" y="1960920"/>
            <a:ext cx="5234400" cy="171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316440" y="1960920"/>
            <a:ext cx="2554200" cy="171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2998800" y="1960920"/>
            <a:ext cx="2554200" cy="171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316440" y="196092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2998800" y="1960920"/>
            <a:ext cx="2554200" cy="171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316440" y="285840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316440" y="1960920"/>
            <a:ext cx="2554200" cy="171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2998800" y="196092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2998800" y="285840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316440" y="196092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2998800" y="196092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316440" y="2858400"/>
            <a:ext cx="52344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316440" y="1960920"/>
            <a:ext cx="52344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316440" y="2858400"/>
            <a:ext cx="52344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316440" y="196092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2998800" y="196092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/>
          </p:nvPr>
        </p:nvSpPr>
        <p:spPr>
          <a:xfrm>
            <a:off x="316440" y="285840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/>
          </p:nvPr>
        </p:nvSpPr>
        <p:spPr>
          <a:xfrm>
            <a:off x="2998800" y="285840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316440" y="1960920"/>
            <a:ext cx="168516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/>
          </p:nvPr>
        </p:nvSpPr>
        <p:spPr>
          <a:xfrm>
            <a:off x="2086200" y="1960920"/>
            <a:ext cx="168516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/>
          </p:nvPr>
        </p:nvSpPr>
        <p:spPr>
          <a:xfrm>
            <a:off x="3855960" y="1960920"/>
            <a:ext cx="168516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/>
          </p:nvPr>
        </p:nvSpPr>
        <p:spPr>
          <a:xfrm>
            <a:off x="316440" y="2858400"/>
            <a:ext cx="168516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6"/>
          <p:cNvSpPr>
            <a:spLocks noGrp="1"/>
          </p:cNvSpPr>
          <p:nvPr>
            <p:ph/>
          </p:nvPr>
        </p:nvSpPr>
        <p:spPr>
          <a:xfrm>
            <a:off x="2086200" y="2858400"/>
            <a:ext cx="168516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7"/>
          <p:cNvSpPr>
            <a:spLocks noGrp="1"/>
          </p:cNvSpPr>
          <p:nvPr>
            <p:ph/>
          </p:nvPr>
        </p:nvSpPr>
        <p:spPr>
          <a:xfrm>
            <a:off x="3855960" y="2858400"/>
            <a:ext cx="168516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ubTitle"/>
          </p:nvPr>
        </p:nvSpPr>
        <p:spPr>
          <a:xfrm>
            <a:off x="316440" y="1960920"/>
            <a:ext cx="5234400" cy="171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316440" y="1960920"/>
            <a:ext cx="5234400" cy="171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316440" y="1960920"/>
            <a:ext cx="2554200" cy="171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2998800" y="1960920"/>
            <a:ext cx="2554200" cy="171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316440" y="196092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2998800" y="1960920"/>
            <a:ext cx="2554200" cy="171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316440" y="285840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316440" y="1960920"/>
            <a:ext cx="2554200" cy="171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2998800" y="196092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/>
          </p:nvPr>
        </p:nvSpPr>
        <p:spPr>
          <a:xfrm>
            <a:off x="2998800" y="285840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316440" y="196092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/>
          </p:nvPr>
        </p:nvSpPr>
        <p:spPr>
          <a:xfrm>
            <a:off x="2998800" y="196092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/>
          </p:nvPr>
        </p:nvSpPr>
        <p:spPr>
          <a:xfrm>
            <a:off x="316440" y="2858400"/>
            <a:ext cx="52344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316440" y="1960920"/>
            <a:ext cx="52344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/>
          </p:nvPr>
        </p:nvSpPr>
        <p:spPr>
          <a:xfrm>
            <a:off x="316440" y="2858400"/>
            <a:ext cx="52344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316440" y="196092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/>
          </p:nvPr>
        </p:nvSpPr>
        <p:spPr>
          <a:xfrm>
            <a:off x="2998800" y="196092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/>
          </p:nvPr>
        </p:nvSpPr>
        <p:spPr>
          <a:xfrm>
            <a:off x="316440" y="285840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/>
          </p:nvPr>
        </p:nvSpPr>
        <p:spPr>
          <a:xfrm>
            <a:off x="2998800" y="2858400"/>
            <a:ext cx="255420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316440" y="1960920"/>
            <a:ext cx="168516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2086200" y="1960920"/>
            <a:ext cx="168516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/>
          </p:nvPr>
        </p:nvSpPr>
        <p:spPr>
          <a:xfrm>
            <a:off x="3855960" y="1960920"/>
            <a:ext cx="168516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PlaceHolder 5"/>
          <p:cNvSpPr>
            <a:spLocks noGrp="1"/>
          </p:cNvSpPr>
          <p:nvPr>
            <p:ph/>
          </p:nvPr>
        </p:nvSpPr>
        <p:spPr>
          <a:xfrm>
            <a:off x="316440" y="2858400"/>
            <a:ext cx="168516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" name="PlaceHolder 6"/>
          <p:cNvSpPr>
            <a:spLocks noGrp="1"/>
          </p:cNvSpPr>
          <p:nvPr>
            <p:ph/>
          </p:nvPr>
        </p:nvSpPr>
        <p:spPr>
          <a:xfrm>
            <a:off x="2086200" y="2858400"/>
            <a:ext cx="168516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" name="PlaceHolder 7"/>
          <p:cNvSpPr>
            <a:spLocks noGrp="1"/>
          </p:cNvSpPr>
          <p:nvPr>
            <p:ph/>
          </p:nvPr>
        </p:nvSpPr>
        <p:spPr>
          <a:xfrm>
            <a:off x="3855960" y="2858400"/>
            <a:ext cx="1685160" cy="8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Relationship Id="rId9" Type="http://schemas.openxmlformats.org/officeDocument/2006/relationships/slideLayout" Target="../slideLayouts/slideLayout5.xml"/><Relationship Id="rId10" Type="http://schemas.openxmlformats.org/officeDocument/2006/relationships/slideLayout" Target="../slideLayouts/slideLayout6.xml"/><Relationship Id="rId11" Type="http://schemas.openxmlformats.org/officeDocument/2006/relationships/slideLayout" Target="../slideLayouts/slideLayout7.xml"/><Relationship Id="rId12" Type="http://schemas.openxmlformats.org/officeDocument/2006/relationships/slideLayout" Target="../slideLayouts/slideLayout8.xml"/><Relationship Id="rId13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 8" hidden="1"/>
          <p:cNvSpPr/>
          <p:nvPr/>
        </p:nvSpPr>
        <p:spPr>
          <a:xfrm>
            <a:off x="7484400" y="496224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Rectangle: Rounded Corners 18" hidden="1"/>
          <p:cNvSpPr/>
          <p:nvPr/>
        </p:nvSpPr>
        <p:spPr>
          <a:xfrm rot="2700000">
            <a:off x="11085840" y="380520"/>
            <a:ext cx="379080" cy="379080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Rectangle: Rounded Corners 29" hidden="1"/>
          <p:cNvSpPr/>
          <p:nvPr/>
        </p:nvSpPr>
        <p:spPr>
          <a:xfrm rot="2700000">
            <a:off x="11288520" y="229680"/>
            <a:ext cx="680400" cy="680400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3" name="Group 13"/>
          <p:cNvGrpSpPr/>
          <p:nvPr/>
        </p:nvGrpSpPr>
        <p:grpSpPr>
          <a:xfrm>
            <a:off x="-133560" y="6323760"/>
            <a:ext cx="2034000" cy="533160"/>
            <a:chOff x="-133560" y="6323760"/>
            <a:chExt cx="2034000" cy="533160"/>
          </a:xfrm>
        </p:grpSpPr>
        <p:pic>
          <p:nvPicPr>
            <p:cNvPr id="4" name="Picture 7" descr=""/>
            <p:cNvPicPr/>
            <p:nvPr/>
          </p:nvPicPr>
          <p:blipFill>
            <a:blip r:embed="rId2"/>
            <a:srcRect l="0" t="68292" r="0" b="0"/>
            <a:stretch/>
          </p:blipFill>
          <p:spPr>
            <a:xfrm>
              <a:off x="450000" y="6454440"/>
              <a:ext cx="1450440" cy="3650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" name="Picture 9" descr=""/>
            <p:cNvPicPr/>
            <p:nvPr/>
          </p:nvPicPr>
          <p:blipFill>
            <a:blip r:embed="rId3"/>
            <a:srcRect l="0" t="0" r="0" b="28326"/>
            <a:stretch/>
          </p:blipFill>
          <p:spPr>
            <a:xfrm>
              <a:off x="-133560" y="6323760"/>
              <a:ext cx="936360" cy="5331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81600" y="1854720"/>
            <a:ext cx="1066716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809" spc="-106" strike="noStrike">
                <a:solidFill>
                  <a:srgbClr val="c00000"/>
                </a:solidFill>
                <a:latin typeface="Calibri"/>
                <a:ea typeface="Roboto Condensed"/>
              </a:rPr>
              <a:t>Click to edit Master title style (in case you have a</a:t>
            </a:r>
            <a:br/>
            <a:r>
              <a:rPr b="0" lang="en-US" sz="3809" spc="-106" strike="noStrike">
                <a:solidFill>
                  <a:srgbClr val="c00000"/>
                </a:solidFill>
                <a:latin typeface="Calibri"/>
                <a:ea typeface="Roboto Condensed"/>
              </a:rPr>
              <a:t>very very long title it can also span multiple lines)</a:t>
            </a:r>
            <a:endParaRPr b="0" lang="it-IT" sz="380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Rectangle: Rounded Corners 22"/>
          <p:cNvSpPr/>
          <p:nvPr/>
        </p:nvSpPr>
        <p:spPr>
          <a:xfrm rot="2700000">
            <a:off x="9949320" y="3485520"/>
            <a:ext cx="1617120" cy="1617120"/>
          </a:xfrm>
          <a:prstGeom prst="roundRect">
            <a:avLst>
              <a:gd name="adj" fmla="val 415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" name="Rectangle: Rounded Corners 31"/>
          <p:cNvSpPr/>
          <p:nvPr/>
        </p:nvSpPr>
        <p:spPr>
          <a:xfrm rot="2700000">
            <a:off x="9473400" y="3854880"/>
            <a:ext cx="861480" cy="883080"/>
          </a:xfrm>
          <a:prstGeom prst="roundRect">
            <a:avLst>
              <a:gd name="adj" fmla="val 838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381600" y="3884760"/>
            <a:ext cx="6095520" cy="1713600"/>
          </a:xfrm>
          <a:prstGeom prst="rect">
            <a:avLst/>
          </a:prstGeom>
          <a:noFill/>
          <a:ln w="0">
            <a:noFill/>
          </a:ln>
        </p:spPr>
        <p:txBody>
          <a:bodyPr lIns="0" rIns="0" tIns="46800" anchor="t">
            <a:noAutofit/>
          </a:bodyPr>
          <a:p>
            <a:pPr>
              <a:lnSpc>
                <a:spcPct val="100000"/>
              </a:lnSpc>
              <a:spcBef>
                <a:spcPts val="1270"/>
              </a:spcBef>
              <a:buNone/>
              <a:tabLst>
                <a:tab algn="l" pos="0"/>
              </a:tabLst>
            </a:pPr>
            <a:r>
              <a:rPr b="1" lang="en-US" sz="2120" spc="-1" strike="noStrike">
                <a:solidFill>
                  <a:srgbClr val="c00000"/>
                </a:solidFill>
                <a:latin typeface="Calibri"/>
                <a:ea typeface="Roboto Light"/>
              </a:rPr>
              <a:t>Author Name 1    </a:t>
            </a:r>
            <a:r>
              <a:rPr b="0" lang="en-US" sz="2120" spc="-1" strike="noStrike">
                <a:solidFill>
                  <a:srgbClr val="000000"/>
                </a:solidFill>
                <a:latin typeface="Calibri Light"/>
                <a:ea typeface="Roboto Light"/>
              </a:rPr>
              <a:t>mail1@iis.ee.ethz.ch</a:t>
            </a:r>
            <a:br/>
            <a:r>
              <a:rPr b="1" lang="en-US" sz="2120" spc="-1" strike="noStrike">
                <a:solidFill>
                  <a:srgbClr val="c00000"/>
                </a:solidFill>
                <a:latin typeface="Calibri"/>
                <a:ea typeface="Roboto Light"/>
              </a:rPr>
              <a:t>Author Name 2    </a:t>
            </a:r>
            <a:r>
              <a:rPr b="0" lang="en-US" sz="2120" spc="-1" strike="noStrike">
                <a:solidFill>
                  <a:srgbClr val="000000"/>
                </a:solidFill>
                <a:latin typeface="Calibri Light"/>
                <a:ea typeface="Roboto Light"/>
              </a:rPr>
              <a:t>mail2@iis.ee.ethz.ch</a:t>
            </a:r>
            <a:br/>
            <a:r>
              <a:rPr b="1" lang="en-US" sz="2120" spc="-1" strike="noStrike">
                <a:solidFill>
                  <a:srgbClr val="c00000"/>
                </a:solidFill>
                <a:latin typeface="Calibri"/>
                <a:ea typeface="Roboto Light"/>
              </a:rPr>
              <a:t>Author Name 3    </a:t>
            </a:r>
            <a:r>
              <a:rPr b="0" lang="en-US" sz="2120" spc="-1" strike="noStrike">
                <a:solidFill>
                  <a:srgbClr val="000000"/>
                </a:solidFill>
                <a:latin typeface="Calibri Light"/>
                <a:ea typeface="Roboto Light"/>
              </a:rPr>
              <a:t>mail3@unibo.it</a:t>
            </a:r>
            <a:br/>
            <a:r>
              <a:rPr b="1" lang="en-US" sz="2120" spc="-1" strike="noStrike">
                <a:solidFill>
                  <a:srgbClr val="c00000"/>
                </a:solidFill>
                <a:latin typeface="Calibri"/>
                <a:ea typeface="Roboto Light"/>
              </a:rPr>
              <a:t>Author Name 4    </a:t>
            </a:r>
            <a:r>
              <a:rPr b="0" lang="en-US" sz="2120" spc="-1" strike="noStrike">
                <a:solidFill>
                  <a:srgbClr val="000000"/>
                </a:solidFill>
                <a:latin typeface="Calibri Light"/>
                <a:ea typeface="Roboto Light"/>
              </a:rPr>
              <a:t>mail4@unibo.it</a:t>
            </a:r>
            <a:endParaRPr b="1" lang="it-IT" sz="212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" name="Picture 11" descr="A logo on a black background&#10;&#10;Description automatically generated"/>
          <p:cNvPicPr/>
          <p:nvPr/>
        </p:nvPicPr>
        <p:blipFill>
          <a:blip r:embed="rId4"/>
          <a:srcRect l="7436" t="9486" r="7772" b="7239"/>
          <a:stretch/>
        </p:blipFill>
        <p:spPr>
          <a:xfrm>
            <a:off x="9447120" y="4643280"/>
            <a:ext cx="2454120" cy="19105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8"/>
          <p:cNvSpPr/>
          <p:nvPr/>
        </p:nvSpPr>
        <p:spPr>
          <a:xfrm>
            <a:off x="7484400" y="496224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Rectangle: Rounded Corners 18"/>
          <p:cNvSpPr/>
          <p:nvPr/>
        </p:nvSpPr>
        <p:spPr>
          <a:xfrm rot="2700000">
            <a:off x="11085840" y="380520"/>
            <a:ext cx="379080" cy="379080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Rectangle: Rounded Corners 29"/>
          <p:cNvSpPr/>
          <p:nvPr/>
        </p:nvSpPr>
        <p:spPr>
          <a:xfrm rot="2700000">
            <a:off x="11288520" y="229680"/>
            <a:ext cx="680400" cy="680400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50" name="Group 13"/>
          <p:cNvGrpSpPr/>
          <p:nvPr/>
        </p:nvGrpSpPr>
        <p:grpSpPr>
          <a:xfrm>
            <a:off x="-133560" y="6323760"/>
            <a:ext cx="2034000" cy="533160"/>
            <a:chOff x="-133560" y="6323760"/>
            <a:chExt cx="2034000" cy="533160"/>
          </a:xfrm>
        </p:grpSpPr>
        <p:pic>
          <p:nvPicPr>
            <p:cNvPr id="51" name="Picture 7" descr=""/>
            <p:cNvPicPr/>
            <p:nvPr/>
          </p:nvPicPr>
          <p:blipFill>
            <a:blip r:embed="rId2"/>
            <a:srcRect l="0" t="68292" r="0" b="0"/>
            <a:stretch/>
          </p:blipFill>
          <p:spPr>
            <a:xfrm>
              <a:off x="450000" y="6454440"/>
              <a:ext cx="1450440" cy="3650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2" name="Picture 9" descr=""/>
            <p:cNvPicPr/>
            <p:nvPr/>
          </p:nvPicPr>
          <p:blipFill>
            <a:blip r:embed="rId3"/>
            <a:srcRect l="0" t="0" r="0" b="28326"/>
            <a:stretch/>
          </p:blipFill>
          <p:spPr>
            <a:xfrm>
              <a:off x="-133560" y="6323760"/>
              <a:ext cx="936360" cy="5331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809" spc="-106" strike="noStrike">
                <a:solidFill>
                  <a:srgbClr val="c00000"/>
                </a:solidFill>
                <a:latin typeface="Calibri"/>
                <a:ea typeface="Roboto"/>
              </a:rPr>
              <a:t>Click to edit Master title style</a:t>
            </a:r>
            <a:endParaRPr b="0" lang="it-IT" sz="380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316440" y="990720"/>
            <a:ext cx="10667160" cy="5523840"/>
          </a:xfrm>
          <a:prstGeom prst="rect">
            <a:avLst/>
          </a:prstGeom>
          <a:noFill/>
          <a:ln w="0">
            <a:noFill/>
          </a:ln>
        </p:spPr>
        <p:txBody>
          <a:bodyPr lIns="0" rIns="0" tIns="46800" anchor="t">
            <a:noAutofit/>
          </a:bodyPr>
          <a:p>
            <a:pPr marL="304920" indent="-30492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Arial"/>
              <a:buChar char="•"/>
            </a:pPr>
            <a:r>
              <a:rPr b="1" lang="en-US" sz="2540" spc="-1" strike="noStrike">
                <a:solidFill>
                  <a:srgbClr val="000000"/>
                </a:solidFill>
                <a:latin typeface="Calibri"/>
                <a:ea typeface="Roboto Light"/>
              </a:rPr>
              <a:t>Click to edit Master text styles</a:t>
            </a:r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  <a:p>
            <a:pPr lvl="1" marL="533520" indent="-228600">
              <a:lnSpc>
                <a:spcPct val="100000"/>
              </a:lnSpc>
              <a:spcBef>
                <a:spcPts val="635"/>
              </a:spcBef>
              <a:buClr>
                <a:srgbClr val="000000"/>
              </a:buClr>
              <a:buSzPct val="90000"/>
              <a:buFont typeface="Arial"/>
              <a:buChar char="•"/>
            </a:pPr>
            <a:r>
              <a:rPr b="0" lang="en-US" sz="2120" spc="-1" strike="noStrike">
                <a:solidFill>
                  <a:srgbClr val="000000"/>
                </a:solidFill>
                <a:latin typeface="Calibri"/>
                <a:ea typeface="Roboto Light"/>
              </a:rPr>
              <a:t>Second level</a:t>
            </a:r>
            <a:endParaRPr b="0" lang="it-IT" sz="2120" spc="-1" strike="noStrike">
              <a:solidFill>
                <a:srgbClr val="000000"/>
              </a:solidFill>
              <a:latin typeface="Calibri"/>
            </a:endParaRPr>
          </a:p>
          <a:p>
            <a:pPr lvl="2" marL="762120" indent="-228600">
              <a:lnSpc>
                <a:spcPct val="100000"/>
              </a:lnSpc>
              <a:spcBef>
                <a:spcPts val="635"/>
              </a:spcBef>
              <a:buClr>
                <a:srgbClr val="000000"/>
              </a:buClr>
              <a:buSzPct val="90000"/>
              <a:buFont typeface="Arial"/>
              <a:buChar char="•"/>
            </a:pPr>
            <a:r>
              <a:rPr b="0" lang="en-US" sz="1910" spc="-1" strike="noStrike">
                <a:solidFill>
                  <a:srgbClr val="000000"/>
                </a:solidFill>
                <a:latin typeface="Calibri"/>
                <a:ea typeface="Roboto Light"/>
              </a:rPr>
              <a:t>Third level</a:t>
            </a:r>
            <a:endParaRPr b="0" lang="it-IT" sz="1910" spc="-1" strike="noStrike">
              <a:solidFill>
                <a:srgbClr val="000000"/>
              </a:solidFill>
              <a:latin typeface="Calibri"/>
            </a:endParaRPr>
          </a:p>
          <a:p>
            <a:pPr lvl="3" marL="990720" indent="-228600">
              <a:lnSpc>
                <a:spcPct val="100000"/>
              </a:lnSpc>
              <a:buClr>
                <a:srgbClr val="000000"/>
              </a:buClr>
              <a:buSzPct val="90000"/>
              <a:buFont typeface="Arial"/>
              <a:buChar char="•"/>
            </a:pPr>
            <a:r>
              <a:rPr b="0" lang="en-US" sz="1270" spc="-1" strike="noStrike">
                <a:solidFill>
                  <a:srgbClr val="000000"/>
                </a:solidFill>
                <a:latin typeface="Calibri"/>
                <a:ea typeface="Roboto Light"/>
              </a:rPr>
              <a:t>Fourth level</a:t>
            </a:r>
            <a:endParaRPr b="0" lang="it-IT" sz="1270" spc="-1" strike="noStrike">
              <a:solidFill>
                <a:srgbClr val="000000"/>
              </a:solidFill>
              <a:latin typeface="Calibri"/>
            </a:endParaRPr>
          </a:p>
          <a:p>
            <a:pPr lvl="4" marL="1219320" indent="-228600">
              <a:lnSpc>
                <a:spcPct val="100000"/>
              </a:lnSpc>
              <a:buClr>
                <a:srgbClr val="000000"/>
              </a:buClr>
              <a:buSzPct val="90000"/>
              <a:buFont typeface="Arial"/>
              <a:buChar char="•"/>
            </a:pPr>
            <a:r>
              <a:rPr b="0" lang="en-US" sz="1170" spc="-1" strike="noStrike">
                <a:solidFill>
                  <a:srgbClr val="000000"/>
                </a:solidFill>
                <a:latin typeface="Calibri"/>
                <a:ea typeface="Roboto Light"/>
              </a:rPr>
              <a:t>Fifth level</a:t>
            </a:r>
            <a:endParaRPr b="0" lang="it-IT" sz="117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/>
          </p:nvPr>
        </p:nvSpPr>
        <p:spPr>
          <a:xfrm>
            <a:off x="3710160" y="6495840"/>
            <a:ext cx="72381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endParaRPr b="0" lang="it-IT" sz="2400" spc="-1" strike="noStrike"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852C6F12-834B-42A5-A8E8-791FAD7939CF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4b4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8" hidden="1"/>
          <p:cNvSpPr/>
          <p:nvPr/>
        </p:nvSpPr>
        <p:spPr>
          <a:xfrm>
            <a:off x="7484400" y="496224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Rectangle: Rounded Corners 18" hidden="1"/>
          <p:cNvSpPr/>
          <p:nvPr/>
        </p:nvSpPr>
        <p:spPr>
          <a:xfrm rot="2700000">
            <a:off x="11085840" y="380520"/>
            <a:ext cx="379080" cy="379080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5" name="Rectangle: Rounded Corners 29" hidden="1"/>
          <p:cNvSpPr/>
          <p:nvPr/>
        </p:nvSpPr>
        <p:spPr>
          <a:xfrm rot="2700000">
            <a:off x="11288520" y="229680"/>
            <a:ext cx="680400" cy="680400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96" name="Group 13"/>
          <p:cNvGrpSpPr/>
          <p:nvPr/>
        </p:nvGrpSpPr>
        <p:grpSpPr>
          <a:xfrm>
            <a:off x="-133560" y="6323760"/>
            <a:ext cx="2034000" cy="533160"/>
            <a:chOff x="-133560" y="6323760"/>
            <a:chExt cx="2034000" cy="533160"/>
          </a:xfrm>
        </p:grpSpPr>
        <p:pic>
          <p:nvPicPr>
            <p:cNvPr id="97" name="Picture 7" descr=""/>
            <p:cNvPicPr/>
            <p:nvPr/>
          </p:nvPicPr>
          <p:blipFill>
            <a:blip r:embed="rId2"/>
            <a:srcRect l="0" t="68292" r="0" b="0"/>
            <a:stretch/>
          </p:blipFill>
          <p:spPr>
            <a:xfrm>
              <a:off x="450000" y="6454440"/>
              <a:ext cx="1450440" cy="3650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8" name="Picture 9" descr=""/>
            <p:cNvPicPr/>
            <p:nvPr/>
          </p:nvPicPr>
          <p:blipFill>
            <a:blip r:embed="rId3"/>
            <a:srcRect l="0" t="0" r="0" b="28326"/>
            <a:stretch/>
          </p:blipFill>
          <p:spPr>
            <a:xfrm>
              <a:off x="-133560" y="6323760"/>
              <a:ext cx="936360" cy="53316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99" name="Group 12"/>
          <p:cNvGrpSpPr/>
          <p:nvPr/>
        </p:nvGrpSpPr>
        <p:grpSpPr>
          <a:xfrm>
            <a:off x="7862760" y="1833120"/>
            <a:ext cx="3138120" cy="3138120"/>
            <a:chOff x="7862760" y="1833120"/>
            <a:chExt cx="3138120" cy="3138120"/>
          </a:xfrm>
        </p:grpSpPr>
        <p:sp>
          <p:nvSpPr>
            <p:cNvPr id="100" name="Google Shape;1096;p28"/>
            <p:cNvSpPr/>
            <p:nvPr/>
          </p:nvSpPr>
          <p:spPr>
            <a:xfrm>
              <a:off x="7862760" y="1833120"/>
              <a:ext cx="3138120" cy="3138120"/>
            </a:xfrm>
            <a:custGeom>
              <a:avLst/>
              <a:gdLst/>
              <a:ahLst/>
              <a:rect l="l" t="t" r="r" b="b"/>
              <a:pathLst>
                <a:path w="158750" h="158750">
                  <a:moveTo>
                    <a:pt x="8255" y="0"/>
                  </a:moveTo>
                  <a:cubicBezTo>
                    <a:pt x="3810" y="0"/>
                    <a:pt x="0" y="3810"/>
                    <a:pt x="0" y="8255"/>
                  </a:cubicBezTo>
                  <a:lnTo>
                    <a:pt x="0" y="119380"/>
                  </a:lnTo>
                  <a:lnTo>
                    <a:pt x="31750" y="87630"/>
                  </a:lnTo>
                  <a:lnTo>
                    <a:pt x="111125" y="87630"/>
                  </a:lnTo>
                  <a:cubicBezTo>
                    <a:pt x="115570" y="87630"/>
                    <a:pt x="119380" y="83820"/>
                    <a:pt x="119380" y="79375"/>
                  </a:cubicBezTo>
                  <a:lnTo>
                    <a:pt x="119380" y="8255"/>
                  </a:lnTo>
                  <a:cubicBezTo>
                    <a:pt x="119380" y="3810"/>
                    <a:pt x="115570" y="0"/>
                    <a:pt x="111125" y="0"/>
                  </a:cubicBezTo>
                  <a:close/>
                  <a:moveTo>
                    <a:pt x="135255" y="31750"/>
                  </a:moveTo>
                  <a:lnTo>
                    <a:pt x="135255" y="103505"/>
                  </a:lnTo>
                  <a:lnTo>
                    <a:pt x="31750" y="103505"/>
                  </a:lnTo>
                  <a:lnTo>
                    <a:pt x="31750" y="119380"/>
                  </a:lnTo>
                  <a:cubicBezTo>
                    <a:pt x="31750" y="123190"/>
                    <a:pt x="35560" y="127000"/>
                    <a:pt x="40005" y="127000"/>
                  </a:cubicBezTo>
                  <a:lnTo>
                    <a:pt x="127000" y="127000"/>
                  </a:lnTo>
                  <a:lnTo>
                    <a:pt x="158750" y="158750"/>
                  </a:lnTo>
                  <a:lnTo>
                    <a:pt x="158750" y="40005"/>
                  </a:lnTo>
                  <a:cubicBezTo>
                    <a:pt x="158750" y="35560"/>
                    <a:pt x="154940" y="31750"/>
                    <a:pt x="151130" y="31750"/>
                  </a:cubicBezTo>
                  <a:close/>
                </a:path>
              </a:pathLst>
            </a:custGeom>
            <a:solidFill>
              <a:schemeClr val="bg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" name="TextBox 7"/>
            <p:cNvSpPr/>
            <p:nvPr/>
          </p:nvSpPr>
          <p:spPr>
            <a:xfrm>
              <a:off x="8341200" y="2334960"/>
              <a:ext cx="1414080" cy="79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en-US" sz="4660" spc="-1" strike="noStrike">
                  <a:solidFill>
                    <a:srgbClr val="b4b4b6"/>
                  </a:solidFill>
                  <a:latin typeface="Calibri"/>
                  <a:ea typeface="Roboto Condensed"/>
                </a:rPr>
                <a:t>Q&amp;A</a:t>
              </a:r>
              <a:endParaRPr b="0" lang="it-IT" sz="4660" spc="-1" strike="noStrike">
                <a:latin typeface="Arial"/>
              </a:endParaRPr>
            </a:p>
          </p:txBody>
        </p:sp>
      </p:grpSp>
      <p:sp>
        <p:nvSpPr>
          <p:cNvPr id="102" name="PlaceHolder 1"/>
          <p:cNvSpPr>
            <a:spLocks noGrp="1"/>
          </p:cNvSpPr>
          <p:nvPr>
            <p:ph type="body"/>
          </p:nvPr>
        </p:nvSpPr>
        <p:spPr>
          <a:xfrm>
            <a:off x="316440" y="1960920"/>
            <a:ext cx="5234400" cy="1718280"/>
          </a:xfrm>
          <a:prstGeom prst="rect">
            <a:avLst/>
          </a:prstGeom>
          <a:noFill/>
          <a:ln w="0">
            <a:noFill/>
          </a:ln>
        </p:spPr>
        <p:txBody>
          <a:bodyPr lIns="0" rIns="0" tIns="46800" anchor="t">
            <a:noAutofit/>
          </a:bodyPr>
          <a:p>
            <a:pPr>
              <a:lnSpc>
                <a:spcPct val="100000"/>
              </a:lnSpc>
              <a:spcBef>
                <a:spcPts val="1270"/>
              </a:spcBef>
              <a:buNone/>
              <a:tabLst>
                <a:tab algn="l" pos="0"/>
              </a:tabLst>
            </a:pPr>
            <a:r>
              <a:rPr b="1" lang="en-US" sz="2120" spc="-1" strike="noStrike">
                <a:solidFill>
                  <a:srgbClr val="ffffff"/>
                </a:solidFill>
                <a:latin typeface="Calibri"/>
                <a:ea typeface="Roboto Light"/>
              </a:rPr>
              <a:t>Author Name 1    </a:t>
            </a:r>
            <a:r>
              <a:rPr b="0" lang="en-US" sz="2120" spc="-1" strike="noStrike">
                <a:solidFill>
                  <a:srgbClr val="000000"/>
                </a:solidFill>
                <a:latin typeface="Calibri Light"/>
                <a:ea typeface="Roboto Light"/>
              </a:rPr>
              <a:t>mail1@iis.ee.ethz.ch</a:t>
            </a:r>
            <a:br/>
            <a:r>
              <a:rPr b="1" lang="en-US" sz="2120" spc="-1" strike="noStrike">
                <a:solidFill>
                  <a:srgbClr val="ffffff"/>
                </a:solidFill>
                <a:latin typeface="Calibri"/>
                <a:ea typeface="Roboto Light"/>
              </a:rPr>
              <a:t>Author Name 2    </a:t>
            </a:r>
            <a:r>
              <a:rPr b="0" lang="en-US" sz="2120" spc="-1" strike="noStrike">
                <a:solidFill>
                  <a:srgbClr val="000000"/>
                </a:solidFill>
                <a:latin typeface="Calibri Light"/>
                <a:ea typeface="Roboto Light"/>
              </a:rPr>
              <a:t>mail2@iis.ee.ethz.ch</a:t>
            </a:r>
            <a:br/>
            <a:r>
              <a:rPr b="1" lang="en-US" sz="2120" spc="-1" strike="noStrike">
                <a:solidFill>
                  <a:srgbClr val="ffffff"/>
                </a:solidFill>
                <a:latin typeface="Calibri"/>
                <a:ea typeface="Roboto Light"/>
              </a:rPr>
              <a:t>Author Name 3    </a:t>
            </a:r>
            <a:r>
              <a:rPr b="0" lang="en-US" sz="2120" spc="-1" strike="noStrike">
                <a:solidFill>
                  <a:srgbClr val="000000"/>
                </a:solidFill>
                <a:latin typeface="Calibri Light"/>
                <a:ea typeface="Roboto Light"/>
              </a:rPr>
              <a:t>mail3@unibo.it</a:t>
            </a:r>
            <a:br/>
            <a:r>
              <a:rPr b="1" lang="en-US" sz="2120" spc="-1" strike="noStrike">
                <a:solidFill>
                  <a:srgbClr val="ffffff"/>
                </a:solidFill>
                <a:latin typeface="Calibri"/>
                <a:ea typeface="Roboto Light"/>
              </a:rPr>
              <a:t>Author Name 4    </a:t>
            </a:r>
            <a:r>
              <a:rPr b="0" lang="en-US" sz="2120" spc="-1" strike="noStrike">
                <a:solidFill>
                  <a:srgbClr val="000000"/>
                </a:solidFill>
                <a:latin typeface="Calibri Light"/>
                <a:ea typeface="Roboto Light"/>
              </a:rPr>
              <a:t>mail4@unibo.it</a:t>
            </a:r>
            <a:endParaRPr b="1" lang="it-IT" sz="212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TextBox 15"/>
          <p:cNvSpPr/>
          <p:nvPr/>
        </p:nvSpPr>
        <p:spPr>
          <a:xfrm>
            <a:off x="232560" y="5401080"/>
            <a:ext cx="5325480" cy="8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it-IT" sz="1590" spc="-1" strike="noStrike">
                <a:solidFill>
                  <a:srgbClr val="ffffff"/>
                </a:solidFill>
                <a:latin typeface="Calibri"/>
              </a:rPr>
              <a:t>DEI – Università di Bologna</a:t>
            </a:r>
            <a:br/>
            <a:r>
              <a:rPr b="0" lang="it-IT" sz="1590" spc="-1" strike="noStrike">
                <a:solidFill>
                  <a:srgbClr val="ffffff"/>
                </a:solidFill>
                <a:latin typeface="Calibri Light"/>
              </a:rPr>
              <a:t>Viale del Risorgimento 2</a:t>
            </a:r>
            <a:endParaRPr b="0" lang="it-IT" sz="159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it-IT" sz="1590" spc="-1" strike="noStrike">
                <a:solidFill>
                  <a:srgbClr val="ffffff"/>
                </a:solidFill>
                <a:latin typeface="Calibri Light"/>
              </a:rPr>
              <a:t>Bologna, Italy</a:t>
            </a:r>
            <a:endParaRPr b="0" lang="it-IT" sz="1590" spc="-1" strike="noStrike">
              <a:latin typeface="Arial"/>
            </a:endParaRPr>
          </a:p>
        </p:txBody>
      </p:sp>
      <p:pic>
        <p:nvPicPr>
          <p:cNvPr id="104" name="Picture 19" descr="A logo with text on it&#10;&#10;Description automatically generated"/>
          <p:cNvPicPr/>
          <p:nvPr/>
        </p:nvPicPr>
        <p:blipFill>
          <a:blip r:embed="rId4"/>
          <a:srcRect l="0" t="0" r="0" b="23890"/>
          <a:stretch/>
        </p:blipFill>
        <p:spPr>
          <a:xfrm>
            <a:off x="28800" y="6368040"/>
            <a:ext cx="773640" cy="437040"/>
          </a:xfrm>
          <a:prstGeom prst="rect">
            <a:avLst/>
          </a:prstGeom>
          <a:ln w="0">
            <a:noFill/>
          </a:ln>
        </p:spPr>
      </p:pic>
      <p:pic>
        <p:nvPicPr>
          <p:cNvPr id="105" name="Picture 20" descr="A logo with text on it&#10;&#10;Description automatically generated"/>
          <p:cNvPicPr/>
          <p:nvPr/>
        </p:nvPicPr>
        <p:blipFill>
          <a:blip r:embed="rId5"/>
          <a:srcRect l="0" t="76038" r="0" b="0"/>
          <a:stretch/>
        </p:blipFill>
        <p:spPr>
          <a:xfrm>
            <a:off x="658080" y="6443280"/>
            <a:ext cx="1197720" cy="212760"/>
          </a:xfrm>
          <a:prstGeom prst="rect">
            <a:avLst/>
          </a:prstGeom>
          <a:ln w="0">
            <a:noFill/>
          </a:ln>
        </p:spPr>
      </p:pic>
      <p:sp>
        <p:nvSpPr>
          <p:cNvPr id="10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it-IT" sz="1800" spc="-1" strike="noStrike">
                <a:solidFill>
                  <a:srgbClr val="000000"/>
                </a:solidFill>
                <a:latin typeface="Calibri"/>
              </a:rPr>
              <a:t>Fai clic per modificare il formato del testo del titolo</a:t>
            </a:r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alberto.dequino@unibo.it" TargetMode="External"/><Relationship Id="rId2" Type="http://schemas.openxmlformats.org/officeDocument/2006/relationships/hyperlink" Target="mailto:calin.diaconu2@unibo.it" TargetMode="External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hyperlink" Target="https://www.docker.com/products/docker-desktop/" TargetMode="External"/><Relationship Id="rId3" Type="http://schemas.openxmlformats.org/officeDocument/2006/relationships/hyperlink" Target="https://learn.microsoft.com/en-us/windows/wsl/install" TargetMode="External"/><Relationship Id="rId4" Type="http://schemas.openxmlformats.org/officeDocument/2006/relationships/hyperlink" Target="https://code.visualstudio.com/" TargetMode="External"/><Relationship Id="rId5" Type="http://schemas.openxmlformats.org/officeDocument/2006/relationships/hyperlink" Target="https://marketplace.visualstudio.com/items?itemName=ms-vscode-remote.remote-containers" TargetMode="External"/><Relationship Id="rId6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hyperlink" Target="https://www.freecodecamp.org/news/learn-the-basics-of-git-in-under-10-minutes-da548267cc91/" TargetMode="External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381600" y="1854720"/>
            <a:ext cx="1066716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809" spc="-106" strike="noStrike">
                <a:solidFill>
                  <a:srgbClr val="c00000"/>
                </a:solidFill>
                <a:latin typeface="Calibri"/>
                <a:ea typeface="Roboto Condensed"/>
              </a:rPr>
              <a:t>LAB 03</a:t>
            </a:r>
            <a:br/>
            <a:r>
              <a:rPr b="0" lang="en-US" sz="3809" spc="-106" strike="noStrike">
                <a:solidFill>
                  <a:srgbClr val="c00000"/>
                </a:solidFill>
                <a:latin typeface="Calibri"/>
                <a:ea typeface="Roboto Condensed"/>
              </a:rPr>
              <a:t>Parallel Programming on PULP</a:t>
            </a:r>
            <a:br/>
            <a:endParaRPr b="0" lang="it-IT" sz="380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381600" y="3884760"/>
            <a:ext cx="6095520" cy="1713600"/>
          </a:xfrm>
          <a:prstGeom prst="rect">
            <a:avLst/>
          </a:prstGeom>
          <a:noFill/>
          <a:ln w="0">
            <a:noFill/>
          </a:ln>
        </p:spPr>
        <p:txBody>
          <a:bodyPr lIns="0" rIns="0" tIns="46800" anchor="t">
            <a:noAutofit/>
          </a:bodyPr>
          <a:p>
            <a:pPr>
              <a:lnSpc>
                <a:spcPct val="100000"/>
              </a:lnSpc>
              <a:spcBef>
                <a:spcPts val="1270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c00000"/>
                </a:solidFill>
                <a:latin typeface="Calibri"/>
                <a:ea typeface="Source Sans Pro"/>
              </a:rPr>
              <a:t>Alberto Dequino (</a:t>
            </a:r>
            <a:r>
              <a:rPr b="1" lang="en-US" sz="1800" spc="-1" strike="noStrike" u="sng">
                <a:solidFill>
                  <a:srgbClr val="007996"/>
                </a:solidFill>
                <a:uFillTx/>
                <a:latin typeface="Calibri"/>
                <a:ea typeface="Source Sans Pro"/>
                <a:hlinkClick r:id="rId1"/>
              </a:rPr>
              <a:t>alberto.dequino@unibo.it</a:t>
            </a:r>
            <a:r>
              <a:rPr b="1" lang="en-US" sz="1800" spc="-1" strike="noStrike">
                <a:solidFill>
                  <a:srgbClr val="c00000"/>
                </a:solidFill>
                <a:latin typeface="Calibri"/>
                <a:ea typeface="Source Sans Pro"/>
              </a:rPr>
              <a:t>)</a:t>
            </a:r>
            <a:endParaRPr b="1" lang="it-IT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c00000"/>
                </a:solidFill>
                <a:latin typeface="Calibri"/>
                <a:ea typeface="Source Sans Pro"/>
              </a:rPr>
              <a:t>C</a:t>
            </a:r>
            <a:r>
              <a:rPr b="1" lang="ro-RO" sz="1800" spc="-1" strike="noStrike">
                <a:solidFill>
                  <a:srgbClr val="c00000"/>
                </a:solidFill>
                <a:latin typeface="Calibri"/>
                <a:ea typeface="Source Sans Pro"/>
              </a:rPr>
              <a:t>ă</a:t>
            </a:r>
            <a:r>
              <a:rPr b="1" lang="en-US" sz="1800" spc="-1" strike="noStrike">
                <a:solidFill>
                  <a:srgbClr val="c00000"/>
                </a:solidFill>
                <a:latin typeface="Calibri"/>
                <a:ea typeface="Source Sans Pro"/>
              </a:rPr>
              <a:t>lin Diaconu (</a:t>
            </a:r>
            <a:r>
              <a:rPr b="1" lang="en-US" sz="1800" spc="-1" strike="noStrike" u="sng">
                <a:solidFill>
                  <a:srgbClr val="007996"/>
                </a:solidFill>
                <a:uFillTx/>
                <a:latin typeface="Calibri"/>
                <a:ea typeface="Source Sans Pro"/>
                <a:hlinkClick r:id="rId2"/>
              </a:rPr>
              <a:t>calin.diaconu2@unibo.it</a:t>
            </a:r>
            <a:r>
              <a:rPr b="1" lang="en-US" sz="1800" spc="-1" strike="noStrike">
                <a:solidFill>
                  <a:srgbClr val="c00000"/>
                </a:solidFill>
                <a:latin typeface="Calibri"/>
                <a:ea typeface="Source Sans Pro"/>
              </a:rPr>
              <a:t>)</a:t>
            </a:r>
            <a:endParaRPr b="1" lang="it-IT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  <a:tabLst>
                <a:tab algn="l" pos="0"/>
              </a:tabLst>
            </a:pPr>
            <a:r>
              <a:rPr b="0" lang="it-IT" sz="1800" spc="-1" strike="noStrike">
                <a:solidFill>
                  <a:srgbClr val="c00000"/>
                </a:solidFill>
                <a:latin typeface="Calibri"/>
                <a:ea typeface="Roboto Light"/>
              </a:rPr>
              <a:t>Francesco Conti</a:t>
            </a:r>
            <a:endParaRPr b="1" lang="it-IT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  <a:tabLst>
                <a:tab algn="l" pos="0"/>
              </a:tabLst>
            </a:pPr>
            <a:r>
              <a:rPr b="0" lang="it-IT" sz="1800" spc="-1" strike="noStrike">
                <a:solidFill>
                  <a:srgbClr val="c00000"/>
                </a:solidFill>
                <a:latin typeface="Calibri"/>
                <a:ea typeface="Roboto Light"/>
              </a:rPr>
              <a:t>Giuseppe Tagliavini</a:t>
            </a:r>
            <a:endParaRPr b="1" lang="it-IT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800" spc="-106" strike="noStrike">
                <a:solidFill>
                  <a:srgbClr val="c00000"/>
                </a:solidFill>
                <a:latin typeface="Calibri"/>
                <a:ea typeface="Roboto"/>
              </a:rPr>
              <a:t>PULP: A Parallel Ultra-Low-Power Computing Platform</a:t>
            </a:r>
            <a:endParaRPr b="0" lang="it-IT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AFB5E9CB-95DD-4EBA-924E-BD5001271EC5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  <p:sp>
        <p:nvSpPr>
          <p:cNvPr id="147" name="Rectangle 125"/>
          <p:cNvSpPr/>
          <p:nvPr/>
        </p:nvSpPr>
        <p:spPr>
          <a:xfrm>
            <a:off x="2906640" y="4742280"/>
            <a:ext cx="1704600" cy="329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48" name="Rectangle 126"/>
          <p:cNvSpPr/>
          <p:nvPr/>
        </p:nvSpPr>
        <p:spPr>
          <a:xfrm rot="16200000">
            <a:off x="2827440" y="528624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CLK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49" name="Rectangle 128"/>
          <p:cNvSpPr/>
          <p:nvPr/>
        </p:nvSpPr>
        <p:spPr>
          <a:xfrm rot="16200000">
            <a:off x="3267000" y="528480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TIMER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50" name="Rectangle 130"/>
          <p:cNvSpPr/>
          <p:nvPr/>
        </p:nvSpPr>
        <p:spPr>
          <a:xfrm rot="16200000">
            <a:off x="4131360" y="414828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51" name="Straight Connector 133"/>
          <p:cNvSpPr/>
          <p:nvPr/>
        </p:nvSpPr>
        <p:spPr>
          <a:xfrm flipV="1">
            <a:off x="309168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2" name="Straight Connector 134"/>
          <p:cNvSpPr/>
          <p:nvPr/>
        </p:nvSpPr>
        <p:spPr>
          <a:xfrm flipV="1">
            <a:off x="3531240" y="507096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3" name="Rectangle 68"/>
          <p:cNvSpPr/>
          <p:nvPr/>
        </p:nvSpPr>
        <p:spPr>
          <a:xfrm>
            <a:off x="1461600" y="388368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SPI 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54" name="Rectangle 69"/>
          <p:cNvSpPr/>
          <p:nvPr/>
        </p:nvSpPr>
        <p:spPr>
          <a:xfrm>
            <a:off x="1461600" y="428004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CAMIF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55" name="Straight Connector 70"/>
          <p:cNvSpPr/>
          <p:nvPr/>
        </p:nvSpPr>
        <p:spPr>
          <a:xfrm>
            <a:off x="2046960" y="404856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6" name="Straight Connector 71"/>
          <p:cNvSpPr/>
          <p:nvPr/>
        </p:nvSpPr>
        <p:spPr>
          <a:xfrm>
            <a:off x="2046960" y="44449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7" name="Rectangle 72"/>
          <p:cNvSpPr/>
          <p:nvPr/>
        </p:nvSpPr>
        <p:spPr>
          <a:xfrm>
            <a:off x="1461600" y="467640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I2C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58" name="Rectangle 73"/>
          <p:cNvSpPr/>
          <p:nvPr/>
        </p:nvSpPr>
        <p:spPr>
          <a:xfrm>
            <a:off x="1461600" y="507276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UART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59" name="Straight Connector 74"/>
          <p:cNvSpPr/>
          <p:nvPr/>
        </p:nvSpPr>
        <p:spPr>
          <a:xfrm>
            <a:off x="2046960" y="48412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0" name="Straight Connector 75"/>
          <p:cNvSpPr/>
          <p:nvPr/>
        </p:nvSpPr>
        <p:spPr>
          <a:xfrm>
            <a:off x="2046960" y="523764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1" name="Rectangle 152"/>
          <p:cNvSpPr/>
          <p:nvPr/>
        </p:nvSpPr>
        <p:spPr>
          <a:xfrm rot="16200000">
            <a:off x="1329120" y="4485600"/>
            <a:ext cx="2273760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µDMA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2" name="Rectangle 154"/>
          <p:cNvSpPr/>
          <p:nvPr/>
        </p:nvSpPr>
        <p:spPr>
          <a:xfrm>
            <a:off x="1462680" y="250092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3" name="Straight Connector 155"/>
          <p:cNvSpPr/>
          <p:nvPr/>
        </p:nvSpPr>
        <p:spPr>
          <a:xfrm>
            <a:off x="2048040" y="266580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4" name="Straight Connector 156"/>
          <p:cNvSpPr/>
          <p:nvPr/>
        </p:nvSpPr>
        <p:spPr>
          <a:xfrm>
            <a:off x="115956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5" name="Rectangle 66"/>
          <p:cNvSpPr/>
          <p:nvPr/>
        </p:nvSpPr>
        <p:spPr>
          <a:xfrm>
            <a:off x="4439880" y="1786320"/>
            <a:ext cx="54792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ROM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6" name="Rectangle 119"/>
          <p:cNvSpPr/>
          <p:nvPr/>
        </p:nvSpPr>
        <p:spPr>
          <a:xfrm>
            <a:off x="2289240" y="2504160"/>
            <a:ext cx="2591640" cy="3297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Logarithmic Interconnect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7" name="Straight Connector 120"/>
          <p:cNvSpPr/>
          <p:nvPr/>
        </p:nvSpPr>
        <p:spPr>
          <a:xfrm flipV="1">
            <a:off x="2463480" y="23418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8" name="Straight Connector 122"/>
          <p:cNvSpPr/>
          <p:nvPr/>
        </p:nvSpPr>
        <p:spPr>
          <a:xfrm flipV="1">
            <a:off x="352008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9" name="Straight Connector 123"/>
          <p:cNvSpPr/>
          <p:nvPr/>
        </p:nvSpPr>
        <p:spPr>
          <a:xfrm flipV="1">
            <a:off x="466524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0" name="Straight Connector 157"/>
          <p:cNvSpPr/>
          <p:nvPr/>
        </p:nvSpPr>
        <p:spPr>
          <a:xfrm flipV="1">
            <a:off x="246348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1" name="Rectangle 131"/>
          <p:cNvSpPr/>
          <p:nvPr/>
        </p:nvSpPr>
        <p:spPr>
          <a:xfrm>
            <a:off x="3813120" y="3002760"/>
            <a:ext cx="722160" cy="528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rIns="27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RISC-V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72" name="Straight Connector 138"/>
          <p:cNvSpPr/>
          <p:nvPr/>
        </p:nvSpPr>
        <p:spPr>
          <a:xfrm flipV="1">
            <a:off x="398736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3" name="Straight Connector 139"/>
          <p:cNvSpPr/>
          <p:nvPr/>
        </p:nvSpPr>
        <p:spPr>
          <a:xfrm flipV="1">
            <a:off x="438912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4" name="Straight Connector 159"/>
          <p:cNvSpPr/>
          <p:nvPr/>
        </p:nvSpPr>
        <p:spPr>
          <a:xfrm flipV="1">
            <a:off x="2778480" y="2828520"/>
            <a:ext cx="360" cy="12009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5" name="Straight Connector 160"/>
          <p:cNvSpPr/>
          <p:nvPr/>
        </p:nvSpPr>
        <p:spPr>
          <a:xfrm flipV="1">
            <a:off x="2639160" y="4038480"/>
            <a:ext cx="139320" cy="2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6" name="Rectangle 141"/>
          <p:cNvSpPr/>
          <p:nvPr/>
        </p:nvSpPr>
        <p:spPr>
          <a:xfrm>
            <a:off x="2285640" y="2997000"/>
            <a:ext cx="365760" cy="401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 vert="vert270" rot="16200000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77" name="Rectangle 147"/>
          <p:cNvSpPr/>
          <p:nvPr/>
        </p:nvSpPr>
        <p:spPr>
          <a:xfrm>
            <a:off x="1463400" y="299700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GPIO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78" name="Straight Connector 149"/>
          <p:cNvSpPr/>
          <p:nvPr/>
        </p:nvSpPr>
        <p:spPr>
          <a:xfrm flipV="1">
            <a:off x="2048760" y="3140640"/>
            <a:ext cx="234360" cy="7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9" name="Straight Connector 161"/>
          <p:cNvSpPr/>
          <p:nvPr/>
        </p:nvSpPr>
        <p:spPr>
          <a:xfrm flipV="1">
            <a:off x="2463480" y="340488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0" name="Rectangle 68"/>
          <p:cNvSpPr/>
          <p:nvPr/>
        </p:nvSpPr>
        <p:spPr>
          <a:xfrm>
            <a:off x="1469160" y="342900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I2S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81" name="Straight Connector 70"/>
          <p:cNvSpPr/>
          <p:nvPr/>
        </p:nvSpPr>
        <p:spPr>
          <a:xfrm>
            <a:off x="2054520" y="35938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2" name="Rectangle 73"/>
          <p:cNvSpPr/>
          <p:nvPr/>
        </p:nvSpPr>
        <p:spPr>
          <a:xfrm>
            <a:off x="1469160" y="547488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SDIO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83" name="Straight Connector 75"/>
          <p:cNvSpPr/>
          <p:nvPr/>
        </p:nvSpPr>
        <p:spPr>
          <a:xfrm>
            <a:off x="2054520" y="56401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4" name="Elbow Connector 3"/>
          <p:cNvSpPr/>
          <p:nvPr/>
        </p:nvSpPr>
        <p:spPr>
          <a:xfrm>
            <a:off x="2651760" y="3197880"/>
            <a:ext cx="254160" cy="1709280"/>
          </a:xfrm>
          <a:prstGeom prst="bentConnector3">
            <a:avLst>
              <a:gd name="adj1" fmla="val 24952"/>
            </a:avLst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85" name="Rectangle 128"/>
          <p:cNvSpPr/>
          <p:nvPr/>
        </p:nvSpPr>
        <p:spPr>
          <a:xfrm rot="16200000">
            <a:off x="3705120" y="528624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EVENT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86" name="Straight Connector 134"/>
          <p:cNvSpPr/>
          <p:nvPr/>
        </p:nvSpPr>
        <p:spPr>
          <a:xfrm flipV="1">
            <a:off x="396936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7" name="Rectangle 128"/>
          <p:cNvSpPr/>
          <p:nvPr/>
        </p:nvSpPr>
        <p:spPr>
          <a:xfrm rot="16200000">
            <a:off x="4131360" y="529848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SoC CTRL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88" name="Straight Connector 134"/>
          <p:cNvSpPr/>
          <p:nvPr/>
        </p:nvSpPr>
        <p:spPr>
          <a:xfrm flipV="1">
            <a:off x="4395240" y="5085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9" name="Straight Connector 134"/>
          <p:cNvSpPr/>
          <p:nvPr/>
        </p:nvSpPr>
        <p:spPr>
          <a:xfrm flipV="1">
            <a:off x="4419000" y="4581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90" name="Rectangle 130"/>
          <p:cNvSpPr/>
          <p:nvPr/>
        </p:nvSpPr>
        <p:spPr>
          <a:xfrm rot="16200000">
            <a:off x="3699000" y="415836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INTC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91" name="Straight Connector 134"/>
          <p:cNvSpPr/>
          <p:nvPr/>
        </p:nvSpPr>
        <p:spPr>
          <a:xfrm flipV="1">
            <a:off x="3987000" y="459108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92" name="Straight Connector 134"/>
          <p:cNvSpPr/>
          <p:nvPr/>
        </p:nvSpPr>
        <p:spPr>
          <a:xfrm flipH="1" flipV="1">
            <a:off x="3263400" y="3524040"/>
            <a:ext cx="9360" cy="1199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93" name="Straight Connector 79"/>
          <p:cNvSpPr/>
          <p:nvPr/>
        </p:nvSpPr>
        <p:spPr>
          <a:xfrm flipV="1">
            <a:off x="3963240" y="3557520"/>
            <a:ext cx="360" cy="51948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4" name="Straight Connector 81"/>
          <p:cNvSpPr/>
          <p:nvPr/>
        </p:nvSpPr>
        <p:spPr>
          <a:xfrm flipV="1">
            <a:off x="4395240" y="3543480"/>
            <a:ext cx="0" cy="53640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5" name="Rectangle 131"/>
          <p:cNvSpPr/>
          <p:nvPr/>
        </p:nvSpPr>
        <p:spPr>
          <a:xfrm>
            <a:off x="2902320" y="2995920"/>
            <a:ext cx="722160" cy="52812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rIns="27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ACCEL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96" name="Straight Connector 138"/>
          <p:cNvSpPr/>
          <p:nvPr/>
        </p:nvSpPr>
        <p:spPr>
          <a:xfrm flipV="1">
            <a:off x="307656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97" name="Straight Connector 139"/>
          <p:cNvSpPr/>
          <p:nvPr/>
        </p:nvSpPr>
        <p:spPr>
          <a:xfrm flipV="1">
            <a:off x="321012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98" name="Straight Connector 138"/>
          <p:cNvSpPr/>
          <p:nvPr/>
        </p:nvSpPr>
        <p:spPr>
          <a:xfrm flipV="1">
            <a:off x="335412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99" name="Straight Connector 139"/>
          <p:cNvSpPr/>
          <p:nvPr/>
        </p:nvSpPr>
        <p:spPr>
          <a:xfrm flipV="1">
            <a:off x="348804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00" name="Straight Connector 156"/>
          <p:cNvSpPr/>
          <p:nvPr/>
        </p:nvSpPr>
        <p:spPr>
          <a:xfrm>
            <a:off x="115524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01" name="Straight Connector 156"/>
          <p:cNvSpPr/>
          <p:nvPr/>
        </p:nvSpPr>
        <p:spPr>
          <a:xfrm>
            <a:off x="115524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02" name="Straight Connector 156"/>
          <p:cNvSpPr/>
          <p:nvPr/>
        </p:nvSpPr>
        <p:spPr>
          <a:xfrm>
            <a:off x="115524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03" name="Straight Connector 156"/>
          <p:cNvSpPr/>
          <p:nvPr/>
        </p:nvSpPr>
        <p:spPr>
          <a:xfrm>
            <a:off x="115524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04" name="Straight Connector 156"/>
          <p:cNvSpPr/>
          <p:nvPr/>
        </p:nvSpPr>
        <p:spPr>
          <a:xfrm>
            <a:off x="115920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05" name="Straight Connector 156"/>
          <p:cNvSpPr/>
          <p:nvPr/>
        </p:nvSpPr>
        <p:spPr>
          <a:xfrm>
            <a:off x="115920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06" name="Straight Connector 156"/>
          <p:cNvSpPr/>
          <p:nvPr/>
        </p:nvSpPr>
        <p:spPr>
          <a:xfrm>
            <a:off x="115524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07" name="Trapezoid 112"/>
          <p:cNvSpPr/>
          <p:nvPr/>
        </p:nvSpPr>
        <p:spPr>
          <a:xfrm rot="16200000">
            <a:off x="-795960" y="4004280"/>
            <a:ext cx="3615840" cy="273960"/>
          </a:xfrm>
          <a:prstGeom prst="trapezoid">
            <a:avLst>
              <a:gd name="adj" fmla="val 25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Pad Control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08" name="Straight Connector 156"/>
          <p:cNvSpPr/>
          <p:nvPr/>
        </p:nvSpPr>
        <p:spPr>
          <a:xfrm>
            <a:off x="56520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09" name="Straight Connector 156"/>
          <p:cNvSpPr/>
          <p:nvPr/>
        </p:nvSpPr>
        <p:spPr>
          <a:xfrm>
            <a:off x="56088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10" name="Straight Connector 156"/>
          <p:cNvSpPr/>
          <p:nvPr/>
        </p:nvSpPr>
        <p:spPr>
          <a:xfrm>
            <a:off x="56088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11" name="Straight Connector 156"/>
          <p:cNvSpPr/>
          <p:nvPr/>
        </p:nvSpPr>
        <p:spPr>
          <a:xfrm>
            <a:off x="56088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12" name="Straight Connector 156"/>
          <p:cNvSpPr/>
          <p:nvPr/>
        </p:nvSpPr>
        <p:spPr>
          <a:xfrm>
            <a:off x="56088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13" name="Straight Connector 156"/>
          <p:cNvSpPr/>
          <p:nvPr/>
        </p:nvSpPr>
        <p:spPr>
          <a:xfrm>
            <a:off x="56448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14" name="Straight Connector 156"/>
          <p:cNvSpPr/>
          <p:nvPr/>
        </p:nvSpPr>
        <p:spPr>
          <a:xfrm>
            <a:off x="56448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15" name="Straight Connector 156"/>
          <p:cNvSpPr/>
          <p:nvPr/>
        </p:nvSpPr>
        <p:spPr>
          <a:xfrm>
            <a:off x="56088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16" name="Elbow Connector 122"/>
          <p:cNvSpPr/>
          <p:nvPr/>
        </p:nvSpPr>
        <p:spPr>
          <a:xfrm rot="5400000">
            <a:off x="2619360" y="4138200"/>
            <a:ext cx="168840" cy="3383280"/>
          </a:xfrm>
          <a:prstGeom prst="bentConnector3">
            <a:avLst>
              <a:gd name="adj1" fmla="val 200174"/>
            </a:avLst>
          </a:prstGeom>
          <a:noFill/>
          <a:ln cap="sq" w="22225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7" name="Straight Connector 120"/>
          <p:cNvSpPr/>
          <p:nvPr/>
        </p:nvSpPr>
        <p:spPr>
          <a:xfrm flipV="1">
            <a:off x="2593440" y="2229120"/>
            <a:ext cx="360" cy="2635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18" name="Straight Connector 120"/>
          <p:cNvSpPr/>
          <p:nvPr/>
        </p:nvSpPr>
        <p:spPr>
          <a:xfrm flipV="1">
            <a:off x="2737800" y="1981080"/>
            <a:ext cx="360" cy="5295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19" name="Straight Connector 120"/>
          <p:cNvSpPr/>
          <p:nvPr/>
        </p:nvSpPr>
        <p:spPr>
          <a:xfrm flipV="1">
            <a:off x="2877120" y="1783800"/>
            <a:ext cx="0" cy="726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20" name="Rectangle 118"/>
          <p:cNvSpPr/>
          <p:nvPr/>
        </p:nvSpPr>
        <p:spPr>
          <a:xfrm>
            <a:off x="2593440" y="152208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21" name="Rectangle 118"/>
          <p:cNvSpPr/>
          <p:nvPr/>
        </p:nvSpPr>
        <p:spPr>
          <a:xfrm>
            <a:off x="2445120" y="160452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22" name="Rectangle 118"/>
          <p:cNvSpPr/>
          <p:nvPr/>
        </p:nvSpPr>
        <p:spPr>
          <a:xfrm>
            <a:off x="2291760" y="170064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23" name="Rectangle 124"/>
          <p:cNvSpPr/>
          <p:nvPr/>
        </p:nvSpPr>
        <p:spPr>
          <a:xfrm>
            <a:off x="2163600" y="180468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24" name="TextBox 135"/>
          <p:cNvSpPr/>
          <p:nvPr/>
        </p:nvSpPr>
        <p:spPr>
          <a:xfrm rot="19092600">
            <a:off x="1611000" y="1535760"/>
            <a:ext cx="12236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Interleaved banks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25" name="Rectangle 124"/>
          <p:cNvSpPr/>
          <p:nvPr/>
        </p:nvSpPr>
        <p:spPr>
          <a:xfrm>
            <a:off x="3220920" y="178632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26" name="Rectangle 124"/>
          <p:cNvSpPr/>
          <p:nvPr/>
        </p:nvSpPr>
        <p:spPr>
          <a:xfrm>
            <a:off x="3821040" y="179100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27" name="Straight Connector 122"/>
          <p:cNvSpPr/>
          <p:nvPr/>
        </p:nvSpPr>
        <p:spPr>
          <a:xfrm flipV="1">
            <a:off x="4101480" y="231444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28" name="TextBox 139"/>
          <p:cNvSpPr/>
          <p:nvPr/>
        </p:nvSpPr>
        <p:spPr>
          <a:xfrm>
            <a:off x="3439080" y="1592280"/>
            <a:ext cx="9673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private banks</a:t>
            </a:r>
            <a:endParaRPr b="0" lang="it-IT" sz="1050" spc="-1" strike="noStrike">
              <a:latin typeface="Arial"/>
            </a:endParaRPr>
          </a:p>
        </p:txBody>
      </p:sp>
      <p:grpSp>
        <p:nvGrpSpPr>
          <p:cNvPr id="229" name="Group 140"/>
          <p:cNvGrpSpPr/>
          <p:nvPr/>
        </p:nvGrpSpPr>
        <p:grpSpPr>
          <a:xfrm>
            <a:off x="2493360" y="5733360"/>
            <a:ext cx="1482480" cy="257040"/>
            <a:chOff x="2493360" y="5733360"/>
            <a:chExt cx="1482480" cy="257040"/>
          </a:xfrm>
        </p:grpSpPr>
        <p:sp>
          <p:nvSpPr>
            <p:cNvPr id="230" name="Elbow Connector 141"/>
            <p:cNvSpPr/>
            <p:nvPr/>
          </p:nvSpPr>
          <p:spPr>
            <a:xfrm>
              <a:off x="2493360" y="5814720"/>
              <a:ext cx="1482480" cy="175680"/>
            </a:xfrm>
            <a:prstGeom prst="bentConnector3">
              <a:avLst>
                <a:gd name="adj1" fmla="val -101"/>
              </a:avLst>
            </a:prstGeom>
            <a:noFill/>
            <a:ln cap="sq" w="22225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1" name="Straight Arrow Connector 142"/>
            <p:cNvSpPr/>
            <p:nvPr/>
          </p:nvSpPr>
          <p:spPr>
            <a:xfrm flipV="1">
              <a:off x="3966120" y="5733360"/>
              <a:ext cx="2880" cy="243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cap="sq" w="22225">
              <a:solidFill>
                <a:srgbClr val="000000"/>
              </a:solidFill>
              <a:round/>
              <a:tailEnd len="med" type="triangle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ttangolo 8"/>
          <p:cNvSpPr/>
          <p:nvPr/>
        </p:nvSpPr>
        <p:spPr>
          <a:xfrm>
            <a:off x="5063760" y="1577520"/>
            <a:ext cx="6987240" cy="477864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solidFill>
              <a:srgbClr val="7c24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800" spc="-106" strike="noStrike">
                <a:solidFill>
                  <a:srgbClr val="c00000"/>
                </a:solidFill>
                <a:latin typeface="Calibri"/>
                <a:ea typeface="Roboto"/>
              </a:rPr>
              <a:t>PULP: A Parallel Ultra-Low-Power Computing Platform</a:t>
            </a:r>
            <a:endParaRPr b="0" lang="it-IT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D518A109-94F2-4C7F-B146-4F6942852977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  <p:sp>
        <p:nvSpPr>
          <p:cNvPr id="235" name="Rectangle 125"/>
          <p:cNvSpPr/>
          <p:nvPr/>
        </p:nvSpPr>
        <p:spPr>
          <a:xfrm>
            <a:off x="2906640" y="4742280"/>
            <a:ext cx="1704600" cy="329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36" name="Rectangle 126"/>
          <p:cNvSpPr/>
          <p:nvPr/>
        </p:nvSpPr>
        <p:spPr>
          <a:xfrm rot="16200000">
            <a:off x="2827440" y="528624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CLK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37" name="Rectangle 128"/>
          <p:cNvSpPr/>
          <p:nvPr/>
        </p:nvSpPr>
        <p:spPr>
          <a:xfrm rot="16200000">
            <a:off x="3267000" y="528480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TIMER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38" name="Rectangle 130"/>
          <p:cNvSpPr/>
          <p:nvPr/>
        </p:nvSpPr>
        <p:spPr>
          <a:xfrm rot="16200000">
            <a:off x="4131360" y="414828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39" name="Straight Connector 133"/>
          <p:cNvSpPr/>
          <p:nvPr/>
        </p:nvSpPr>
        <p:spPr>
          <a:xfrm flipV="1">
            <a:off x="309168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40" name="Straight Connector 134"/>
          <p:cNvSpPr/>
          <p:nvPr/>
        </p:nvSpPr>
        <p:spPr>
          <a:xfrm flipV="1">
            <a:off x="3531240" y="507096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41" name="Rectangle 68"/>
          <p:cNvSpPr/>
          <p:nvPr/>
        </p:nvSpPr>
        <p:spPr>
          <a:xfrm>
            <a:off x="1461600" y="388368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SPI 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42" name="Rectangle 69"/>
          <p:cNvSpPr/>
          <p:nvPr/>
        </p:nvSpPr>
        <p:spPr>
          <a:xfrm>
            <a:off x="1461600" y="428004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CAMIF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43" name="Straight Connector 70"/>
          <p:cNvSpPr/>
          <p:nvPr/>
        </p:nvSpPr>
        <p:spPr>
          <a:xfrm>
            <a:off x="2046960" y="404856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44" name="Straight Connector 71"/>
          <p:cNvSpPr/>
          <p:nvPr/>
        </p:nvSpPr>
        <p:spPr>
          <a:xfrm>
            <a:off x="2046960" y="44449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45" name="Rectangle 72"/>
          <p:cNvSpPr/>
          <p:nvPr/>
        </p:nvSpPr>
        <p:spPr>
          <a:xfrm>
            <a:off x="1461600" y="467640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I2C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46" name="Rectangle 73"/>
          <p:cNvSpPr/>
          <p:nvPr/>
        </p:nvSpPr>
        <p:spPr>
          <a:xfrm>
            <a:off x="1461600" y="507276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UART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47" name="Straight Connector 74"/>
          <p:cNvSpPr/>
          <p:nvPr/>
        </p:nvSpPr>
        <p:spPr>
          <a:xfrm>
            <a:off x="2046960" y="48412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48" name="Straight Connector 75"/>
          <p:cNvSpPr/>
          <p:nvPr/>
        </p:nvSpPr>
        <p:spPr>
          <a:xfrm>
            <a:off x="2046960" y="523764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49" name="Rectangle 152"/>
          <p:cNvSpPr/>
          <p:nvPr/>
        </p:nvSpPr>
        <p:spPr>
          <a:xfrm rot="16200000">
            <a:off x="1329120" y="4485600"/>
            <a:ext cx="2273760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µDMA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50" name="Rectangle 154"/>
          <p:cNvSpPr/>
          <p:nvPr/>
        </p:nvSpPr>
        <p:spPr>
          <a:xfrm>
            <a:off x="1462680" y="250092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51" name="Straight Connector 155"/>
          <p:cNvSpPr/>
          <p:nvPr/>
        </p:nvSpPr>
        <p:spPr>
          <a:xfrm>
            <a:off x="2048040" y="266580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52" name="Straight Connector 156"/>
          <p:cNvSpPr/>
          <p:nvPr/>
        </p:nvSpPr>
        <p:spPr>
          <a:xfrm>
            <a:off x="115956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53" name="Rectangle 66"/>
          <p:cNvSpPr/>
          <p:nvPr/>
        </p:nvSpPr>
        <p:spPr>
          <a:xfrm>
            <a:off x="4439880" y="1786320"/>
            <a:ext cx="54792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ROM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54" name="Rectangle 119"/>
          <p:cNvSpPr/>
          <p:nvPr/>
        </p:nvSpPr>
        <p:spPr>
          <a:xfrm>
            <a:off x="2289240" y="2504160"/>
            <a:ext cx="2591640" cy="3297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Logarithmic Interconnect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55" name="Straight Connector 120"/>
          <p:cNvSpPr/>
          <p:nvPr/>
        </p:nvSpPr>
        <p:spPr>
          <a:xfrm flipV="1">
            <a:off x="2463480" y="23418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56" name="Straight Connector 122"/>
          <p:cNvSpPr/>
          <p:nvPr/>
        </p:nvSpPr>
        <p:spPr>
          <a:xfrm flipV="1">
            <a:off x="352008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57" name="Straight Connector 123"/>
          <p:cNvSpPr/>
          <p:nvPr/>
        </p:nvSpPr>
        <p:spPr>
          <a:xfrm flipV="1">
            <a:off x="466524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58" name="Straight Connector 157"/>
          <p:cNvSpPr/>
          <p:nvPr/>
        </p:nvSpPr>
        <p:spPr>
          <a:xfrm flipV="1">
            <a:off x="246348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59" name="Rectangle 131"/>
          <p:cNvSpPr/>
          <p:nvPr/>
        </p:nvSpPr>
        <p:spPr>
          <a:xfrm>
            <a:off x="3813120" y="3002760"/>
            <a:ext cx="722160" cy="528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rIns="27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RISC-V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60" name="Straight Connector 138"/>
          <p:cNvSpPr/>
          <p:nvPr/>
        </p:nvSpPr>
        <p:spPr>
          <a:xfrm flipV="1">
            <a:off x="398736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61" name="Straight Connector 139"/>
          <p:cNvSpPr/>
          <p:nvPr/>
        </p:nvSpPr>
        <p:spPr>
          <a:xfrm flipV="1">
            <a:off x="438912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62" name="Straight Connector 159"/>
          <p:cNvSpPr/>
          <p:nvPr/>
        </p:nvSpPr>
        <p:spPr>
          <a:xfrm flipV="1">
            <a:off x="2778480" y="2828520"/>
            <a:ext cx="360" cy="12009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63" name="Straight Connector 160"/>
          <p:cNvSpPr/>
          <p:nvPr/>
        </p:nvSpPr>
        <p:spPr>
          <a:xfrm flipV="1">
            <a:off x="2639160" y="4038480"/>
            <a:ext cx="139320" cy="2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64" name="Rectangle 141"/>
          <p:cNvSpPr/>
          <p:nvPr/>
        </p:nvSpPr>
        <p:spPr>
          <a:xfrm>
            <a:off x="2285640" y="2997000"/>
            <a:ext cx="365760" cy="401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 vert="vert270" rot="16200000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65" name="Rectangle 147"/>
          <p:cNvSpPr/>
          <p:nvPr/>
        </p:nvSpPr>
        <p:spPr>
          <a:xfrm>
            <a:off x="1463400" y="299700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GPIO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66" name="Straight Connector 149"/>
          <p:cNvSpPr/>
          <p:nvPr/>
        </p:nvSpPr>
        <p:spPr>
          <a:xfrm flipV="1">
            <a:off x="2048760" y="3140640"/>
            <a:ext cx="234360" cy="7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67" name="Straight Connector 161"/>
          <p:cNvSpPr/>
          <p:nvPr/>
        </p:nvSpPr>
        <p:spPr>
          <a:xfrm flipV="1">
            <a:off x="2463480" y="340488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68" name="Rectangle 68"/>
          <p:cNvSpPr/>
          <p:nvPr/>
        </p:nvSpPr>
        <p:spPr>
          <a:xfrm>
            <a:off x="1469160" y="342900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I2S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69" name="Straight Connector 70"/>
          <p:cNvSpPr/>
          <p:nvPr/>
        </p:nvSpPr>
        <p:spPr>
          <a:xfrm>
            <a:off x="2054520" y="35938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70" name="Rectangle 73"/>
          <p:cNvSpPr/>
          <p:nvPr/>
        </p:nvSpPr>
        <p:spPr>
          <a:xfrm>
            <a:off x="1469160" y="547488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SDIO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71" name="Straight Connector 75"/>
          <p:cNvSpPr/>
          <p:nvPr/>
        </p:nvSpPr>
        <p:spPr>
          <a:xfrm>
            <a:off x="2054520" y="56401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72" name="Elbow Connector 3"/>
          <p:cNvSpPr/>
          <p:nvPr/>
        </p:nvSpPr>
        <p:spPr>
          <a:xfrm>
            <a:off x="2651760" y="3197880"/>
            <a:ext cx="254160" cy="1709280"/>
          </a:xfrm>
          <a:prstGeom prst="bentConnector3">
            <a:avLst>
              <a:gd name="adj1" fmla="val 24952"/>
            </a:avLst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73" name="Rectangle 128"/>
          <p:cNvSpPr/>
          <p:nvPr/>
        </p:nvSpPr>
        <p:spPr>
          <a:xfrm rot="16200000">
            <a:off x="3705120" y="528624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EVENT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74" name="Straight Connector 134"/>
          <p:cNvSpPr/>
          <p:nvPr/>
        </p:nvSpPr>
        <p:spPr>
          <a:xfrm flipV="1">
            <a:off x="396936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75" name="Rectangle 128"/>
          <p:cNvSpPr/>
          <p:nvPr/>
        </p:nvSpPr>
        <p:spPr>
          <a:xfrm rot="16200000">
            <a:off x="4131360" y="529848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SoC CTRL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76" name="Straight Connector 134"/>
          <p:cNvSpPr/>
          <p:nvPr/>
        </p:nvSpPr>
        <p:spPr>
          <a:xfrm flipV="1">
            <a:off x="4395240" y="5085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77" name="Straight Connector 134"/>
          <p:cNvSpPr/>
          <p:nvPr/>
        </p:nvSpPr>
        <p:spPr>
          <a:xfrm flipV="1">
            <a:off x="4419000" y="4581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78" name="Rectangle 130"/>
          <p:cNvSpPr/>
          <p:nvPr/>
        </p:nvSpPr>
        <p:spPr>
          <a:xfrm rot="16200000">
            <a:off x="3699000" y="415836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INTC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79" name="Straight Connector 134"/>
          <p:cNvSpPr/>
          <p:nvPr/>
        </p:nvSpPr>
        <p:spPr>
          <a:xfrm flipV="1">
            <a:off x="3987000" y="459108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80" name="Straight Connector 134"/>
          <p:cNvSpPr/>
          <p:nvPr/>
        </p:nvSpPr>
        <p:spPr>
          <a:xfrm flipH="1" flipV="1">
            <a:off x="3263400" y="3524040"/>
            <a:ext cx="9360" cy="1199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81" name="Straight Connector 79"/>
          <p:cNvSpPr/>
          <p:nvPr/>
        </p:nvSpPr>
        <p:spPr>
          <a:xfrm flipV="1">
            <a:off x="3963240" y="3557520"/>
            <a:ext cx="360" cy="51948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82" name="Straight Connector 81"/>
          <p:cNvSpPr/>
          <p:nvPr/>
        </p:nvSpPr>
        <p:spPr>
          <a:xfrm flipV="1">
            <a:off x="4395240" y="3543480"/>
            <a:ext cx="0" cy="53640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83" name="Rectangle 131"/>
          <p:cNvSpPr/>
          <p:nvPr/>
        </p:nvSpPr>
        <p:spPr>
          <a:xfrm>
            <a:off x="2902320" y="2995920"/>
            <a:ext cx="722160" cy="52812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rIns="27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ACCEL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84" name="Straight Connector 138"/>
          <p:cNvSpPr/>
          <p:nvPr/>
        </p:nvSpPr>
        <p:spPr>
          <a:xfrm flipV="1">
            <a:off x="307656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85" name="Straight Connector 139"/>
          <p:cNvSpPr/>
          <p:nvPr/>
        </p:nvSpPr>
        <p:spPr>
          <a:xfrm flipV="1">
            <a:off x="321012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86" name="Straight Connector 138"/>
          <p:cNvSpPr/>
          <p:nvPr/>
        </p:nvSpPr>
        <p:spPr>
          <a:xfrm flipV="1">
            <a:off x="335412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87" name="Straight Connector 139"/>
          <p:cNvSpPr/>
          <p:nvPr/>
        </p:nvSpPr>
        <p:spPr>
          <a:xfrm flipV="1">
            <a:off x="348804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88" name="Straight Connector 156"/>
          <p:cNvSpPr/>
          <p:nvPr/>
        </p:nvSpPr>
        <p:spPr>
          <a:xfrm>
            <a:off x="115524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89" name="Straight Connector 156"/>
          <p:cNvSpPr/>
          <p:nvPr/>
        </p:nvSpPr>
        <p:spPr>
          <a:xfrm>
            <a:off x="115524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90" name="Straight Connector 156"/>
          <p:cNvSpPr/>
          <p:nvPr/>
        </p:nvSpPr>
        <p:spPr>
          <a:xfrm>
            <a:off x="115524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91" name="Straight Connector 156"/>
          <p:cNvSpPr/>
          <p:nvPr/>
        </p:nvSpPr>
        <p:spPr>
          <a:xfrm>
            <a:off x="115524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92" name="Straight Connector 156"/>
          <p:cNvSpPr/>
          <p:nvPr/>
        </p:nvSpPr>
        <p:spPr>
          <a:xfrm>
            <a:off x="115920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93" name="Straight Connector 156"/>
          <p:cNvSpPr/>
          <p:nvPr/>
        </p:nvSpPr>
        <p:spPr>
          <a:xfrm>
            <a:off x="115920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94" name="Straight Connector 156"/>
          <p:cNvSpPr/>
          <p:nvPr/>
        </p:nvSpPr>
        <p:spPr>
          <a:xfrm>
            <a:off x="115524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95" name="Trapezoid 112"/>
          <p:cNvSpPr/>
          <p:nvPr/>
        </p:nvSpPr>
        <p:spPr>
          <a:xfrm rot="16200000">
            <a:off x="-795960" y="4004280"/>
            <a:ext cx="3615840" cy="273960"/>
          </a:xfrm>
          <a:prstGeom prst="trapezoid">
            <a:avLst>
              <a:gd name="adj" fmla="val 25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Pad Control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296" name="Straight Connector 156"/>
          <p:cNvSpPr/>
          <p:nvPr/>
        </p:nvSpPr>
        <p:spPr>
          <a:xfrm>
            <a:off x="56520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97" name="Straight Connector 156"/>
          <p:cNvSpPr/>
          <p:nvPr/>
        </p:nvSpPr>
        <p:spPr>
          <a:xfrm>
            <a:off x="56088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98" name="Straight Connector 156"/>
          <p:cNvSpPr/>
          <p:nvPr/>
        </p:nvSpPr>
        <p:spPr>
          <a:xfrm>
            <a:off x="56088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99" name="Straight Connector 156"/>
          <p:cNvSpPr/>
          <p:nvPr/>
        </p:nvSpPr>
        <p:spPr>
          <a:xfrm>
            <a:off x="56088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00" name="Straight Connector 156"/>
          <p:cNvSpPr/>
          <p:nvPr/>
        </p:nvSpPr>
        <p:spPr>
          <a:xfrm>
            <a:off x="56088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01" name="Straight Connector 156"/>
          <p:cNvSpPr/>
          <p:nvPr/>
        </p:nvSpPr>
        <p:spPr>
          <a:xfrm>
            <a:off x="56448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02" name="Straight Connector 156"/>
          <p:cNvSpPr/>
          <p:nvPr/>
        </p:nvSpPr>
        <p:spPr>
          <a:xfrm>
            <a:off x="56448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03" name="Straight Connector 156"/>
          <p:cNvSpPr/>
          <p:nvPr/>
        </p:nvSpPr>
        <p:spPr>
          <a:xfrm>
            <a:off x="56088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04" name="Elbow Connector 122"/>
          <p:cNvSpPr/>
          <p:nvPr/>
        </p:nvSpPr>
        <p:spPr>
          <a:xfrm rot="5400000">
            <a:off x="2619360" y="4138200"/>
            <a:ext cx="168840" cy="3383280"/>
          </a:xfrm>
          <a:prstGeom prst="bentConnector3">
            <a:avLst>
              <a:gd name="adj1" fmla="val 200174"/>
            </a:avLst>
          </a:prstGeom>
          <a:noFill/>
          <a:ln cap="sq" w="22225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5" name="Straight Connector 120"/>
          <p:cNvSpPr/>
          <p:nvPr/>
        </p:nvSpPr>
        <p:spPr>
          <a:xfrm flipV="1">
            <a:off x="2593440" y="2229120"/>
            <a:ext cx="360" cy="2635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06" name="Straight Connector 120"/>
          <p:cNvSpPr/>
          <p:nvPr/>
        </p:nvSpPr>
        <p:spPr>
          <a:xfrm flipV="1">
            <a:off x="2737800" y="1981080"/>
            <a:ext cx="360" cy="5295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07" name="Straight Connector 120"/>
          <p:cNvSpPr/>
          <p:nvPr/>
        </p:nvSpPr>
        <p:spPr>
          <a:xfrm flipV="1">
            <a:off x="2877120" y="1783800"/>
            <a:ext cx="0" cy="726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08" name="Rectangle 118"/>
          <p:cNvSpPr/>
          <p:nvPr/>
        </p:nvSpPr>
        <p:spPr>
          <a:xfrm>
            <a:off x="2593440" y="152208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09" name="Rectangle 118"/>
          <p:cNvSpPr/>
          <p:nvPr/>
        </p:nvSpPr>
        <p:spPr>
          <a:xfrm>
            <a:off x="2445120" y="160452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10" name="Rectangle 118"/>
          <p:cNvSpPr/>
          <p:nvPr/>
        </p:nvSpPr>
        <p:spPr>
          <a:xfrm>
            <a:off x="2291760" y="170064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11" name="Rectangle 124"/>
          <p:cNvSpPr/>
          <p:nvPr/>
        </p:nvSpPr>
        <p:spPr>
          <a:xfrm>
            <a:off x="2163600" y="180468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12" name="TextBox 135"/>
          <p:cNvSpPr/>
          <p:nvPr/>
        </p:nvSpPr>
        <p:spPr>
          <a:xfrm rot="19092600">
            <a:off x="1611000" y="1535760"/>
            <a:ext cx="12236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Interleaved banks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13" name="Rectangle 124"/>
          <p:cNvSpPr/>
          <p:nvPr/>
        </p:nvSpPr>
        <p:spPr>
          <a:xfrm>
            <a:off x="3220920" y="178632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14" name="Rectangle 124"/>
          <p:cNvSpPr/>
          <p:nvPr/>
        </p:nvSpPr>
        <p:spPr>
          <a:xfrm>
            <a:off x="3821040" y="179100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15" name="Straight Connector 122"/>
          <p:cNvSpPr/>
          <p:nvPr/>
        </p:nvSpPr>
        <p:spPr>
          <a:xfrm flipV="1">
            <a:off x="4101480" y="231444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16" name="TextBox 139"/>
          <p:cNvSpPr/>
          <p:nvPr/>
        </p:nvSpPr>
        <p:spPr>
          <a:xfrm>
            <a:off x="3439080" y="1592280"/>
            <a:ext cx="9673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private banks</a:t>
            </a:r>
            <a:endParaRPr b="0" lang="it-IT" sz="1050" spc="-1" strike="noStrike">
              <a:latin typeface="Arial"/>
            </a:endParaRPr>
          </a:p>
        </p:txBody>
      </p:sp>
      <p:grpSp>
        <p:nvGrpSpPr>
          <p:cNvPr id="317" name="Group 140"/>
          <p:cNvGrpSpPr/>
          <p:nvPr/>
        </p:nvGrpSpPr>
        <p:grpSpPr>
          <a:xfrm>
            <a:off x="2493360" y="5733360"/>
            <a:ext cx="1482480" cy="257040"/>
            <a:chOff x="2493360" y="5733360"/>
            <a:chExt cx="1482480" cy="257040"/>
          </a:xfrm>
        </p:grpSpPr>
        <p:sp>
          <p:nvSpPr>
            <p:cNvPr id="318" name="Elbow Connector 141"/>
            <p:cNvSpPr/>
            <p:nvPr/>
          </p:nvSpPr>
          <p:spPr>
            <a:xfrm>
              <a:off x="2493360" y="5814720"/>
              <a:ext cx="1482480" cy="175680"/>
            </a:xfrm>
            <a:prstGeom prst="bentConnector3">
              <a:avLst>
                <a:gd name="adj1" fmla="val -101"/>
              </a:avLst>
            </a:prstGeom>
            <a:noFill/>
            <a:ln cap="sq" w="22225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19" name="Straight Arrow Connector 142"/>
            <p:cNvSpPr/>
            <p:nvPr/>
          </p:nvSpPr>
          <p:spPr>
            <a:xfrm flipV="1">
              <a:off x="3966120" y="5733360"/>
              <a:ext cx="2880" cy="243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cap="sq" w="22225">
              <a:solidFill>
                <a:srgbClr val="000000"/>
              </a:solidFill>
              <a:round/>
              <a:tailEnd len="med" type="triangle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320" name="CasellaDiTesto 6"/>
          <p:cNvSpPr/>
          <p:nvPr/>
        </p:nvSpPr>
        <p:spPr>
          <a:xfrm>
            <a:off x="8349480" y="3628080"/>
            <a:ext cx="41580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it-IT" sz="4000" spc="-1" strike="noStrike">
                <a:solidFill>
                  <a:srgbClr val="000000"/>
                </a:solidFill>
                <a:latin typeface="Calibri"/>
              </a:rPr>
              <a:t>?</a:t>
            </a:r>
            <a:endParaRPr b="0" lang="it-IT" sz="4000" spc="-1" strike="noStrike">
              <a:latin typeface="Arial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Rettangolo 8"/>
          <p:cNvSpPr/>
          <p:nvPr/>
        </p:nvSpPr>
        <p:spPr>
          <a:xfrm>
            <a:off x="5063760" y="1577520"/>
            <a:ext cx="6987240" cy="477864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solidFill>
              <a:srgbClr val="7c24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322" name="Gruppo 5"/>
          <p:cNvGrpSpPr/>
          <p:nvPr/>
        </p:nvGrpSpPr>
        <p:grpSpPr>
          <a:xfrm>
            <a:off x="6960240" y="1747440"/>
            <a:ext cx="4635000" cy="995400"/>
            <a:chOff x="6960240" y="1747440"/>
            <a:chExt cx="4635000" cy="995400"/>
          </a:xfrm>
        </p:grpSpPr>
        <p:sp>
          <p:nvSpPr>
            <p:cNvPr id="323" name="Rectangle 49"/>
            <p:cNvSpPr/>
            <p:nvPr/>
          </p:nvSpPr>
          <p:spPr>
            <a:xfrm>
              <a:off x="6960240" y="1817280"/>
              <a:ext cx="4635000" cy="92556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>
              <a:outerShdw blurRad="39960" dir="2700000" dist="50402" rotWithShape="0">
                <a:srgbClr val="000000">
                  <a:alpha val="5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324" name="CasellaDiTesto 7"/>
            <p:cNvSpPr/>
            <p:nvPr/>
          </p:nvSpPr>
          <p:spPr>
            <a:xfrm>
              <a:off x="8477280" y="1747440"/>
              <a:ext cx="17082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it-IT" sz="1800" spc="-1" strike="noStrike">
                  <a:solidFill>
                    <a:srgbClr val="000000"/>
                  </a:solidFill>
                  <a:latin typeface="Calibri"/>
                </a:rPr>
                <a:t>Shared Memory</a:t>
              </a:r>
              <a:endParaRPr b="0" lang="it-IT" sz="1800" spc="-1" strike="noStrike">
                <a:latin typeface="Arial"/>
              </a:endParaRPr>
            </a:p>
          </p:txBody>
        </p:sp>
      </p:grpSp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800" spc="-106" strike="noStrike">
                <a:solidFill>
                  <a:srgbClr val="c00000"/>
                </a:solidFill>
                <a:latin typeface="Calibri"/>
                <a:ea typeface="Roboto"/>
              </a:rPr>
              <a:t>PULP: A Parallel Ultra-Low-Power Computing Platform</a:t>
            </a:r>
            <a:endParaRPr b="0" lang="it-IT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33159CBE-1AB4-44BE-8702-479B18169B4A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  <p:sp>
        <p:nvSpPr>
          <p:cNvPr id="327" name="Rectangle 125"/>
          <p:cNvSpPr/>
          <p:nvPr/>
        </p:nvSpPr>
        <p:spPr>
          <a:xfrm>
            <a:off x="2906640" y="4742280"/>
            <a:ext cx="1704600" cy="329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28" name="Rectangle 126"/>
          <p:cNvSpPr/>
          <p:nvPr/>
        </p:nvSpPr>
        <p:spPr>
          <a:xfrm rot="16200000">
            <a:off x="2827440" y="528624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CLK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29" name="Rectangle 128"/>
          <p:cNvSpPr/>
          <p:nvPr/>
        </p:nvSpPr>
        <p:spPr>
          <a:xfrm rot="16200000">
            <a:off x="3267000" y="528480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TIMER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30" name="Rectangle 130"/>
          <p:cNvSpPr/>
          <p:nvPr/>
        </p:nvSpPr>
        <p:spPr>
          <a:xfrm rot="16200000">
            <a:off x="4131360" y="414828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31" name="Straight Connector 133"/>
          <p:cNvSpPr/>
          <p:nvPr/>
        </p:nvSpPr>
        <p:spPr>
          <a:xfrm flipV="1">
            <a:off x="309168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32" name="Straight Connector 134"/>
          <p:cNvSpPr/>
          <p:nvPr/>
        </p:nvSpPr>
        <p:spPr>
          <a:xfrm flipV="1">
            <a:off x="3531240" y="507096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33" name="Rectangle 68"/>
          <p:cNvSpPr/>
          <p:nvPr/>
        </p:nvSpPr>
        <p:spPr>
          <a:xfrm>
            <a:off x="1461600" y="388368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SPI 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34" name="Rectangle 69"/>
          <p:cNvSpPr/>
          <p:nvPr/>
        </p:nvSpPr>
        <p:spPr>
          <a:xfrm>
            <a:off x="1461600" y="428004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CAMIF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35" name="Straight Connector 70"/>
          <p:cNvSpPr/>
          <p:nvPr/>
        </p:nvSpPr>
        <p:spPr>
          <a:xfrm>
            <a:off x="2046960" y="404856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36" name="Straight Connector 71"/>
          <p:cNvSpPr/>
          <p:nvPr/>
        </p:nvSpPr>
        <p:spPr>
          <a:xfrm>
            <a:off x="2046960" y="44449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37" name="Rectangle 72"/>
          <p:cNvSpPr/>
          <p:nvPr/>
        </p:nvSpPr>
        <p:spPr>
          <a:xfrm>
            <a:off x="1461600" y="467640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I2C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38" name="Rectangle 73"/>
          <p:cNvSpPr/>
          <p:nvPr/>
        </p:nvSpPr>
        <p:spPr>
          <a:xfrm>
            <a:off x="1461600" y="507276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UART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39" name="Straight Connector 74"/>
          <p:cNvSpPr/>
          <p:nvPr/>
        </p:nvSpPr>
        <p:spPr>
          <a:xfrm>
            <a:off x="2046960" y="48412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40" name="Straight Connector 75"/>
          <p:cNvSpPr/>
          <p:nvPr/>
        </p:nvSpPr>
        <p:spPr>
          <a:xfrm>
            <a:off x="2046960" y="523764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41" name="Rectangle 152"/>
          <p:cNvSpPr/>
          <p:nvPr/>
        </p:nvSpPr>
        <p:spPr>
          <a:xfrm rot="16200000">
            <a:off x="1329120" y="4485600"/>
            <a:ext cx="2273760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µDMA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42" name="Rectangle 154"/>
          <p:cNvSpPr/>
          <p:nvPr/>
        </p:nvSpPr>
        <p:spPr>
          <a:xfrm>
            <a:off x="1462680" y="250092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43" name="Straight Connector 155"/>
          <p:cNvSpPr/>
          <p:nvPr/>
        </p:nvSpPr>
        <p:spPr>
          <a:xfrm>
            <a:off x="2048040" y="266580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44" name="Straight Connector 156"/>
          <p:cNvSpPr/>
          <p:nvPr/>
        </p:nvSpPr>
        <p:spPr>
          <a:xfrm>
            <a:off x="115956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45" name="Rectangle 66"/>
          <p:cNvSpPr/>
          <p:nvPr/>
        </p:nvSpPr>
        <p:spPr>
          <a:xfrm>
            <a:off x="4439880" y="1786320"/>
            <a:ext cx="54792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ROM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46" name="Rectangle 119"/>
          <p:cNvSpPr/>
          <p:nvPr/>
        </p:nvSpPr>
        <p:spPr>
          <a:xfrm>
            <a:off x="2289240" y="2504160"/>
            <a:ext cx="2591640" cy="3297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Logarithmic Interconnect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47" name="Straight Connector 120"/>
          <p:cNvSpPr/>
          <p:nvPr/>
        </p:nvSpPr>
        <p:spPr>
          <a:xfrm flipV="1">
            <a:off x="2463480" y="23418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48" name="Straight Connector 122"/>
          <p:cNvSpPr/>
          <p:nvPr/>
        </p:nvSpPr>
        <p:spPr>
          <a:xfrm flipV="1">
            <a:off x="352008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49" name="Straight Connector 123"/>
          <p:cNvSpPr/>
          <p:nvPr/>
        </p:nvSpPr>
        <p:spPr>
          <a:xfrm flipV="1">
            <a:off x="466524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50" name="Straight Connector 157"/>
          <p:cNvSpPr/>
          <p:nvPr/>
        </p:nvSpPr>
        <p:spPr>
          <a:xfrm flipV="1">
            <a:off x="246348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51" name="Rectangle 131"/>
          <p:cNvSpPr/>
          <p:nvPr/>
        </p:nvSpPr>
        <p:spPr>
          <a:xfrm>
            <a:off x="3813120" y="3002760"/>
            <a:ext cx="722160" cy="528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rIns="27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RISC-V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52" name="Straight Connector 138"/>
          <p:cNvSpPr/>
          <p:nvPr/>
        </p:nvSpPr>
        <p:spPr>
          <a:xfrm flipV="1">
            <a:off x="398736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53" name="Straight Connector 139"/>
          <p:cNvSpPr/>
          <p:nvPr/>
        </p:nvSpPr>
        <p:spPr>
          <a:xfrm flipV="1">
            <a:off x="438912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54" name="Straight Connector 159"/>
          <p:cNvSpPr/>
          <p:nvPr/>
        </p:nvSpPr>
        <p:spPr>
          <a:xfrm flipV="1">
            <a:off x="2778480" y="2828520"/>
            <a:ext cx="360" cy="12009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55" name="Straight Connector 160"/>
          <p:cNvSpPr/>
          <p:nvPr/>
        </p:nvSpPr>
        <p:spPr>
          <a:xfrm flipV="1">
            <a:off x="2639160" y="4038480"/>
            <a:ext cx="139320" cy="2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56" name="Rectangle 141"/>
          <p:cNvSpPr/>
          <p:nvPr/>
        </p:nvSpPr>
        <p:spPr>
          <a:xfrm>
            <a:off x="2285640" y="2997000"/>
            <a:ext cx="365760" cy="401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 vert="vert270" rot="16200000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57" name="Rectangle 147"/>
          <p:cNvSpPr/>
          <p:nvPr/>
        </p:nvSpPr>
        <p:spPr>
          <a:xfrm>
            <a:off x="1463400" y="299700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GPIO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58" name="Straight Connector 149"/>
          <p:cNvSpPr/>
          <p:nvPr/>
        </p:nvSpPr>
        <p:spPr>
          <a:xfrm flipV="1">
            <a:off x="2048760" y="3140640"/>
            <a:ext cx="234360" cy="7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59" name="Straight Connector 161"/>
          <p:cNvSpPr/>
          <p:nvPr/>
        </p:nvSpPr>
        <p:spPr>
          <a:xfrm flipV="1">
            <a:off x="2463480" y="340488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60" name="Rectangle 68"/>
          <p:cNvSpPr/>
          <p:nvPr/>
        </p:nvSpPr>
        <p:spPr>
          <a:xfrm>
            <a:off x="1469160" y="342900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I2S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61" name="Straight Connector 70"/>
          <p:cNvSpPr/>
          <p:nvPr/>
        </p:nvSpPr>
        <p:spPr>
          <a:xfrm>
            <a:off x="2054520" y="35938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62" name="Rectangle 73"/>
          <p:cNvSpPr/>
          <p:nvPr/>
        </p:nvSpPr>
        <p:spPr>
          <a:xfrm>
            <a:off x="1469160" y="547488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SDIO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63" name="Straight Connector 75"/>
          <p:cNvSpPr/>
          <p:nvPr/>
        </p:nvSpPr>
        <p:spPr>
          <a:xfrm>
            <a:off x="2054520" y="56401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64" name="Elbow Connector 3"/>
          <p:cNvSpPr/>
          <p:nvPr/>
        </p:nvSpPr>
        <p:spPr>
          <a:xfrm>
            <a:off x="2651760" y="3197880"/>
            <a:ext cx="254160" cy="1709280"/>
          </a:xfrm>
          <a:prstGeom prst="bentConnector3">
            <a:avLst>
              <a:gd name="adj1" fmla="val 24952"/>
            </a:avLst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65" name="Rectangle 128"/>
          <p:cNvSpPr/>
          <p:nvPr/>
        </p:nvSpPr>
        <p:spPr>
          <a:xfrm rot="16200000">
            <a:off x="3705120" y="528624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EVENT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66" name="Straight Connector 134"/>
          <p:cNvSpPr/>
          <p:nvPr/>
        </p:nvSpPr>
        <p:spPr>
          <a:xfrm flipV="1">
            <a:off x="396936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67" name="Rectangle 128"/>
          <p:cNvSpPr/>
          <p:nvPr/>
        </p:nvSpPr>
        <p:spPr>
          <a:xfrm rot="16200000">
            <a:off x="4131360" y="529848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SoC CTRL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68" name="Straight Connector 134"/>
          <p:cNvSpPr/>
          <p:nvPr/>
        </p:nvSpPr>
        <p:spPr>
          <a:xfrm flipV="1">
            <a:off x="4395240" y="5085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69" name="Straight Connector 134"/>
          <p:cNvSpPr/>
          <p:nvPr/>
        </p:nvSpPr>
        <p:spPr>
          <a:xfrm flipV="1">
            <a:off x="4419000" y="4581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70" name="Rectangle 130"/>
          <p:cNvSpPr/>
          <p:nvPr/>
        </p:nvSpPr>
        <p:spPr>
          <a:xfrm rot="16200000">
            <a:off x="3699000" y="415836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INTC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71" name="Straight Connector 134"/>
          <p:cNvSpPr/>
          <p:nvPr/>
        </p:nvSpPr>
        <p:spPr>
          <a:xfrm flipV="1">
            <a:off x="3987000" y="459108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72" name="Straight Connector 134"/>
          <p:cNvSpPr/>
          <p:nvPr/>
        </p:nvSpPr>
        <p:spPr>
          <a:xfrm flipH="1" flipV="1">
            <a:off x="3263400" y="3524040"/>
            <a:ext cx="9360" cy="1199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73" name="Straight Connector 79"/>
          <p:cNvSpPr/>
          <p:nvPr/>
        </p:nvSpPr>
        <p:spPr>
          <a:xfrm flipV="1">
            <a:off x="3963240" y="3557520"/>
            <a:ext cx="360" cy="51948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74" name="Straight Connector 81"/>
          <p:cNvSpPr/>
          <p:nvPr/>
        </p:nvSpPr>
        <p:spPr>
          <a:xfrm flipV="1">
            <a:off x="4395240" y="3543480"/>
            <a:ext cx="0" cy="53640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75" name="Rectangle 131"/>
          <p:cNvSpPr/>
          <p:nvPr/>
        </p:nvSpPr>
        <p:spPr>
          <a:xfrm>
            <a:off x="2902320" y="2995920"/>
            <a:ext cx="722160" cy="52812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rIns="27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ACCEL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76" name="Straight Connector 138"/>
          <p:cNvSpPr/>
          <p:nvPr/>
        </p:nvSpPr>
        <p:spPr>
          <a:xfrm flipV="1">
            <a:off x="307656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77" name="Straight Connector 139"/>
          <p:cNvSpPr/>
          <p:nvPr/>
        </p:nvSpPr>
        <p:spPr>
          <a:xfrm flipV="1">
            <a:off x="321012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78" name="Straight Connector 138"/>
          <p:cNvSpPr/>
          <p:nvPr/>
        </p:nvSpPr>
        <p:spPr>
          <a:xfrm flipV="1">
            <a:off x="335412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79" name="Straight Connector 139"/>
          <p:cNvSpPr/>
          <p:nvPr/>
        </p:nvSpPr>
        <p:spPr>
          <a:xfrm flipV="1">
            <a:off x="348804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80" name="Straight Connector 156"/>
          <p:cNvSpPr/>
          <p:nvPr/>
        </p:nvSpPr>
        <p:spPr>
          <a:xfrm>
            <a:off x="115524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81" name="Straight Connector 156"/>
          <p:cNvSpPr/>
          <p:nvPr/>
        </p:nvSpPr>
        <p:spPr>
          <a:xfrm>
            <a:off x="115524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82" name="Straight Connector 156"/>
          <p:cNvSpPr/>
          <p:nvPr/>
        </p:nvSpPr>
        <p:spPr>
          <a:xfrm>
            <a:off x="115524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83" name="Straight Connector 156"/>
          <p:cNvSpPr/>
          <p:nvPr/>
        </p:nvSpPr>
        <p:spPr>
          <a:xfrm>
            <a:off x="115524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84" name="Straight Connector 156"/>
          <p:cNvSpPr/>
          <p:nvPr/>
        </p:nvSpPr>
        <p:spPr>
          <a:xfrm>
            <a:off x="115920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85" name="Straight Connector 156"/>
          <p:cNvSpPr/>
          <p:nvPr/>
        </p:nvSpPr>
        <p:spPr>
          <a:xfrm>
            <a:off x="115920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86" name="Straight Connector 156"/>
          <p:cNvSpPr/>
          <p:nvPr/>
        </p:nvSpPr>
        <p:spPr>
          <a:xfrm>
            <a:off x="115524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87" name="Trapezoid 112"/>
          <p:cNvSpPr/>
          <p:nvPr/>
        </p:nvSpPr>
        <p:spPr>
          <a:xfrm rot="16200000">
            <a:off x="-795960" y="4004280"/>
            <a:ext cx="3615840" cy="273960"/>
          </a:xfrm>
          <a:prstGeom prst="trapezoid">
            <a:avLst>
              <a:gd name="adj" fmla="val 25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Pad Control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388" name="Straight Connector 156"/>
          <p:cNvSpPr/>
          <p:nvPr/>
        </p:nvSpPr>
        <p:spPr>
          <a:xfrm>
            <a:off x="56520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89" name="Straight Connector 156"/>
          <p:cNvSpPr/>
          <p:nvPr/>
        </p:nvSpPr>
        <p:spPr>
          <a:xfrm>
            <a:off x="56088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90" name="Straight Connector 156"/>
          <p:cNvSpPr/>
          <p:nvPr/>
        </p:nvSpPr>
        <p:spPr>
          <a:xfrm>
            <a:off x="56088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91" name="Straight Connector 156"/>
          <p:cNvSpPr/>
          <p:nvPr/>
        </p:nvSpPr>
        <p:spPr>
          <a:xfrm>
            <a:off x="56088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92" name="Straight Connector 156"/>
          <p:cNvSpPr/>
          <p:nvPr/>
        </p:nvSpPr>
        <p:spPr>
          <a:xfrm>
            <a:off x="56088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93" name="Straight Connector 156"/>
          <p:cNvSpPr/>
          <p:nvPr/>
        </p:nvSpPr>
        <p:spPr>
          <a:xfrm>
            <a:off x="56448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94" name="Straight Connector 156"/>
          <p:cNvSpPr/>
          <p:nvPr/>
        </p:nvSpPr>
        <p:spPr>
          <a:xfrm>
            <a:off x="56448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95" name="Straight Connector 156"/>
          <p:cNvSpPr/>
          <p:nvPr/>
        </p:nvSpPr>
        <p:spPr>
          <a:xfrm>
            <a:off x="56088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96" name="Elbow Connector 122"/>
          <p:cNvSpPr/>
          <p:nvPr/>
        </p:nvSpPr>
        <p:spPr>
          <a:xfrm rot="5400000">
            <a:off x="2619360" y="4138200"/>
            <a:ext cx="168840" cy="3383280"/>
          </a:xfrm>
          <a:prstGeom prst="bentConnector3">
            <a:avLst>
              <a:gd name="adj1" fmla="val 200174"/>
            </a:avLst>
          </a:prstGeom>
          <a:noFill/>
          <a:ln cap="sq" w="22225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7" name="Straight Connector 120"/>
          <p:cNvSpPr/>
          <p:nvPr/>
        </p:nvSpPr>
        <p:spPr>
          <a:xfrm flipV="1">
            <a:off x="2593440" y="2229120"/>
            <a:ext cx="360" cy="2635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98" name="Straight Connector 120"/>
          <p:cNvSpPr/>
          <p:nvPr/>
        </p:nvSpPr>
        <p:spPr>
          <a:xfrm flipV="1">
            <a:off x="2737800" y="1981080"/>
            <a:ext cx="360" cy="5295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99" name="Straight Connector 120"/>
          <p:cNvSpPr/>
          <p:nvPr/>
        </p:nvSpPr>
        <p:spPr>
          <a:xfrm flipV="1">
            <a:off x="2877120" y="1783800"/>
            <a:ext cx="0" cy="726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00" name="Rectangle 118"/>
          <p:cNvSpPr/>
          <p:nvPr/>
        </p:nvSpPr>
        <p:spPr>
          <a:xfrm>
            <a:off x="2593440" y="152208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01" name="Rectangle 118"/>
          <p:cNvSpPr/>
          <p:nvPr/>
        </p:nvSpPr>
        <p:spPr>
          <a:xfrm>
            <a:off x="2445120" y="160452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02" name="Rectangle 118"/>
          <p:cNvSpPr/>
          <p:nvPr/>
        </p:nvSpPr>
        <p:spPr>
          <a:xfrm>
            <a:off x="2291760" y="170064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03" name="Rectangle 124"/>
          <p:cNvSpPr/>
          <p:nvPr/>
        </p:nvSpPr>
        <p:spPr>
          <a:xfrm>
            <a:off x="2163600" y="180468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04" name="TextBox 135"/>
          <p:cNvSpPr/>
          <p:nvPr/>
        </p:nvSpPr>
        <p:spPr>
          <a:xfrm rot="19092600">
            <a:off x="1611000" y="1535760"/>
            <a:ext cx="12236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Interleaved banks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05" name="Rectangle 124"/>
          <p:cNvSpPr/>
          <p:nvPr/>
        </p:nvSpPr>
        <p:spPr>
          <a:xfrm>
            <a:off x="3220920" y="178632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06" name="Rectangle 124"/>
          <p:cNvSpPr/>
          <p:nvPr/>
        </p:nvSpPr>
        <p:spPr>
          <a:xfrm>
            <a:off x="3821040" y="179100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07" name="Straight Connector 122"/>
          <p:cNvSpPr/>
          <p:nvPr/>
        </p:nvSpPr>
        <p:spPr>
          <a:xfrm flipV="1">
            <a:off x="4101480" y="231444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08" name="TextBox 139"/>
          <p:cNvSpPr/>
          <p:nvPr/>
        </p:nvSpPr>
        <p:spPr>
          <a:xfrm>
            <a:off x="3439080" y="1592280"/>
            <a:ext cx="9673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private banks</a:t>
            </a:r>
            <a:endParaRPr b="0" lang="it-IT" sz="1050" spc="-1" strike="noStrike">
              <a:latin typeface="Arial"/>
            </a:endParaRPr>
          </a:p>
        </p:txBody>
      </p:sp>
      <p:grpSp>
        <p:nvGrpSpPr>
          <p:cNvPr id="409" name="Group 140"/>
          <p:cNvGrpSpPr/>
          <p:nvPr/>
        </p:nvGrpSpPr>
        <p:grpSpPr>
          <a:xfrm>
            <a:off x="2493360" y="5733360"/>
            <a:ext cx="1482480" cy="257040"/>
            <a:chOff x="2493360" y="5733360"/>
            <a:chExt cx="1482480" cy="257040"/>
          </a:xfrm>
        </p:grpSpPr>
        <p:sp>
          <p:nvSpPr>
            <p:cNvPr id="410" name="Elbow Connector 141"/>
            <p:cNvSpPr/>
            <p:nvPr/>
          </p:nvSpPr>
          <p:spPr>
            <a:xfrm>
              <a:off x="2493360" y="5814720"/>
              <a:ext cx="1482480" cy="175680"/>
            </a:xfrm>
            <a:prstGeom prst="bentConnector3">
              <a:avLst>
                <a:gd name="adj1" fmla="val -101"/>
              </a:avLst>
            </a:prstGeom>
            <a:noFill/>
            <a:ln cap="sq" w="22225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11" name="Straight Arrow Connector 142"/>
            <p:cNvSpPr/>
            <p:nvPr/>
          </p:nvSpPr>
          <p:spPr>
            <a:xfrm flipV="1">
              <a:off x="3966120" y="5733360"/>
              <a:ext cx="2880" cy="243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cap="sq" w="22225">
              <a:solidFill>
                <a:srgbClr val="000000"/>
              </a:solidFill>
              <a:round/>
              <a:tailEnd len="med" type="triangle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412" name="Rectangle 130"/>
          <p:cNvSpPr/>
          <p:nvPr/>
        </p:nvSpPr>
        <p:spPr>
          <a:xfrm>
            <a:off x="7085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413" name="Rectangle 146"/>
          <p:cNvSpPr/>
          <p:nvPr/>
        </p:nvSpPr>
        <p:spPr>
          <a:xfrm>
            <a:off x="8093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414" name="Rectangle 153"/>
          <p:cNvSpPr/>
          <p:nvPr/>
        </p:nvSpPr>
        <p:spPr>
          <a:xfrm>
            <a:off x="9101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415" name="Rectangle 160"/>
          <p:cNvSpPr/>
          <p:nvPr/>
        </p:nvSpPr>
        <p:spPr>
          <a:xfrm>
            <a:off x="1068624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416" name="Straight Connector 156"/>
          <p:cNvSpPr/>
          <p:nvPr/>
        </p:nvSpPr>
        <p:spPr>
          <a:xfrm flipH="1">
            <a:off x="7503840" y="2743200"/>
            <a:ext cx="1773720" cy="82980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17" name="Straight Connector 156"/>
          <p:cNvSpPr/>
          <p:nvPr/>
        </p:nvSpPr>
        <p:spPr>
          <a:xfrm flipH="1">
            <a:off x="8511840" y="2743200"/>
            <a:ext cx="765720" cy="82980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18" name="Straight Connector 156"/>
          <p:cNvSpPr/>
          <p:nvPr/>
        </p:nvSpPr>
        <p:spPr>
          <a:xfrm>
            <a:off x="9277560" y="2743200"/>
            <a:ext cx="242640" cy="82980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19" name="Straight Connector 156"/>
          <p:cNvSpPr/>
          <p:nvPr/>
        </p:nvSpPr>
        <p:spPr>
          <a:xfrm>
            <a:off x="9277560" y="2743200"/>
            <a:ext cx="1826640" cy="82980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20" name="Rectangle 97"/>
          <p:cNvSpPr/>
          <p:nvPr/>
        </p:nvSpPr>
        <p:spPr>
          <a:xfrm>
            <a:off x="5034960" y="4681440"/>
            <a:ext cx="710928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Target a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Shared-Memory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parallel programming model: 4—16  DSP cores accessing a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Shared L1 Memory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(</a:t>
            </a:r>
            <a:r>
              <a:rPr b="1" i="1" lang="en-US" sz="1800" spc="-1" strike="noStrike">
                <a:solidFill>
                  <a:srgbClr val="000000"/>
                </a:solidFill>
                <a:latin typeface="Calibri"/>
              </a:rPr>
              <a:t>Tightly Coupled Data Mem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or </a:t>
            </a:r>
            <a:r>
              <a:rPr b="1" i="1" lang="en-US" sz="1800" spc="-1" strike="noStrike">
                <a:solidFill>
                  <a:srgbClr val="000000"/>
                </a:solidFill>
                <a:latin typeface="Calibri"/>
              </a:rPr>
              <a:t>TCDM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How is memory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organized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to allow this?</a:t>
            </a:r>
            <a:endParaRPr b="0" lang="it-IT" sz="1800" spc="-1" strike="noStrike">
              <a:latin typeface="Arial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Rettangolo 9"/>
          <p:cNvSpPr/>
          <p:nvPr/>
        </p:nvSpPr>
        <p:spPr>
          <a:xfrm>
            <a:off x="5063760" y="1577520"/>
            <a:ext cx="6987240" cy="477864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solidFill>
              <a:srgbClr val="7c24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422" name="Gruppo 7"/>
          <p:cNvGrpSpPr/>
          <p:nvPr/>
        </p:nvGrpSpPr>
        <p:grpSpPr>
          <a:xfrm>
            <a:off x="6960240" y="1747440"/>
            <a:ext cx="4635000" cy="995400"/>
            <a:chOff x="6960240" y="1747440"/>
            <a:chExt cx="4635000" cy="995400"/>
          </a:xfrm>
        </p:grpSpPr>
        <p:sp>
          <p:nvSpPr>
            <p:cNvPr id="423" name="Rectangle 49"/>
            <p:cNvSpPr/>
            <p:nvPr/>
          </p:nvSpPr>
          <p:spPr>
            <a:xfrm>
              <a:off x="6960240" y="1817280"/>
              <a:ext cx="4635000" cy="92556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>
              <a:outerShdw blurRad="39960" dir="2700000" dist="50402" rotWithShape="0">
                <a:srgbClr val="000000">
                  <a:alpha val="5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424" name="CasellaDiTesto 6"/>
            <p:cNvSpPr/>
            <p:nvPr/>
          </p:nvSpPr>
          <p:spPr>
            <a:xfrm>
              <a:off x="8477280" y="1747440"/>
              <a:ext cx="17082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it-IT" sz="1800" spc="-1" strike="noStrike">
                  <a:solidFill>
                    <a:srgbClr val="000000"/>
                  </a:solidFill>
                  <a:latin typeface="Calibri"/>
                </a:rPr>
                <a:t>Shared Memory</a:t>
              </a:r>
              <a:endParaRPr b="0" lang="it-IT" sz="1800" spc="-1" strike="noStrike">
                <a:latin typeface="Arial"/>
              </a:endParaRPr>
            </a:p>
          </p:txBody>
        </p:sp>
      </p:grpSp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800" spc="-106" strike="noStrike">
                <a:solidFill>
                  <a:srgbClr val="c00000"/>
                </a:solidFill>
                <a:latin typeface="Calibri"/>
                <a:ea typeface="Roboto"/>
              </a:rPr>
              <a:t>PULP: A Parallel Ultra-Low-Power Computing Platform</a:t>
            </a:r>
            <a:endParaRPr b="0" lang="it-IT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D13C457C-7D37-4036-A28A-B8F53E4DBFEA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  <p:sp>
        <p:nvSpPr>
          <p:cNvPr id="427" name="Rectangle 125"/>
          <p:cNvSpPr/>
          <p:nvPr/>
        </p:nvSpPr>
        <p:spPr>
          <a:xfrm>
            <a:off x="2906640" y="4742280"/>
            <a:ext cx="1704600" cy="329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28" name="Rectangle 126"/>
          <p:cNvSpPr/>
          <p:nvPr/>
        </p:nvSpPr>
        <p:spPr>
          <a:xfrm rot="16200000">
            <a:off x="2827440" y="528624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CLK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29" name="Rectangle 128"/>
          <p:cNvSpPr/>
          <p:nvPr/>
        </p:nvSpPr>
        <p:spPr>
          <a:xfrm rot="16200000">
            <a:off x="3267000" y="528480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TIMER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30" name="Rectangle 130"/>
          <p:cNvSpPr/>
          <p:nvPr/>
        </p:nvSpPr>
        <p:spPr>
          <a:xfrm rot="16200000">
            <a:off x="4131360" y="414828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31" name="Straight Connector 133"/>
          <p:cNvSpPr/>
          <p:nvPr/>
        </p:nvSpPr>
        <p:spPr>
          <a:xfrm flipV="1">
            <a:off x="309168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32" name="Straight Connector 134"/>
          <p:cNvSpPr/>
          <p:nvPr/>
        </p:nvSpPr>
        <p:spPr>
          <a:xfrm flipV="1">
            <a:off x="3531240" y="507096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33" name="Rectangle 68"/>
          <p:cNvSpPr/>
          <p:nvPr/>
        </p:nvSpPr>
        <p:spPr>
          <a:xfrm>
            <a:off x="1461600" y="388368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SPI 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34" name="Rectangle 69"/>
          <p:cNvSpPr/>
          <p:nvPr/>
        </p:nvSpPr>
        <p:spPr>
          <a:xfrm>
            <a:off x="1461600" y="428004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CAMIF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35" name="Straight Connector 70"/>
          <p:cNvSpPr/>
          <p:nvPr/>
        </p:nvSpPr>
        <p:spPr>
          <a:xfrm>
            <a:off x="2046960" y="404856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36" name="Straight Connector 71"/>
          <p:cNvSpPr/>
          <p:nvPr/>
        </p:nvSpPr>
        <p:spPr>
          <a:xfrm>
            <a:off x="2046960" y="44449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37" name="Rectangle 72"/>
          <p:cNvSpPr/>
          <p:nvPr/>
        </p:nvSpPr>
        <p:spPr>
          <a:xfrm>
            <a:off x="1461600" y="467640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I2C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38" name="Rectangle 73"/>
          <p:cNvSpPr/>
          <p:nvPr/>
        </p:nvSpPr>
        <p:spPr>
          <a:xfrm>
            <a:off x="1461600" y="507276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UART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39" name="Straight Connector 74"/>
          <p:cNvSpPr/>
          <p:nvPr/>
        </p:nvSpPr>
        <p:spPr>
          <a:xfrm>
            <a:off x="2046960" y="48412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40" name="Straight Connector 75"/>
          <p:cNvSpPr/>
          <p:nvPr/>
        </p:nvSpPr>
        <p:spPr>
          <a:xfrm>
            <a:off x="2046960" y="523764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41" name="Rectangle 152"/>
          <p:cNvSpPr/>
          <p:nvPr/>
        </p:nvSpPr>
        <p:spPr>
          <a:xfrm rot="16200000">
            <a:off x="1329120" y="4485600"/>
            <a:ext cx="2273760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µDMA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42" name="Rectangle 154"/>
          <p:cNvSpPr/>
          <p:nvPr/>
        </p:nvSpPr>
        <p:spPr>
          <a:xfrm>
            <a:off x="1462680" y="250092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43" name="Straight Connector 155"/>
          <p:cNvSpPr/>
          <p:nvPr/>
        </p:nvSpPr>
        <p:spPr>
          <a:xfrm>
            <a:off x="2048040" y="266580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44" name="Straight Connector 156"/>
          <p:cNvSpPr/>
          <p:nvPr/>
        </p:nvSpPr>
        <p:spPr>
          <a:xfrm>
            <a:off x="115956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45" name="Rectangle 66"/>
          <p:cNvSpPr/>
          <p:nvPr/>
        </p:nvSpPr>
        <p:spPr>
          <a:xfrm>
            <a:off x="4439880" y="1786320"/>
            <a:ext cx="54792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ROM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46" name="Rectangle 119"/>
          <p:cNvSpPr/>
          <p:nvPr/>
        </p:nvSpPr>
        <p:spPr>
          <a:xfrm>
            <a:off x="2289240" y="2504160"/>
            <a:ext cx="2591640" cy="3297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Logarithmic Interconnect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47" name="Straight Connector 120"/>
          <p:cNvSpPr/>
          <p:nvPr/>
        </p:nvSpPr>
        <p:spPr>
          <a:xfrm flipV="1">
            <a:off x="2463480" y="23418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48" name="Straight Connector 122"/>
          <p:cNvSpPr/>
          <p:nvPr/>
        </p:nvSpPr>
        <p:spPr>
          <a:xfrm flipV="1">
            <a:off x="352008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49" name="Straight Connector 123"/>
          <p:cNvSpPr/>
          <p:nvPr/>
        </p:nvSpPr>
        <p:spPr>
          <a:xfrm flipV="1">
            <a:off x="466524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50" name="Straight Connector 157"/>
          <p:cNvSpPr/>
          <p:nvPr/>
        </p:nvSpPr>
        <p:spPr>
          <a:xfrm flipV="1">
            <a:off x="246348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51" name="Rectangle 131"/>
          <p:cNvSpPr/>
          <p:nvPr/>
        </p:nvSpPr>
        <p:spPr>
          <a:xfrm>
            <a:off x="3813120" y="3002760"/>
            <a:ext cx="722160" cy="528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rIns="27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RISC-V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52" name="Straight Connector 138"/>
          <p:cNvSpPr/>
          <p:nvPr/>
        </p:nvSpPr>
        <p:spPr>
          <a:xfrm flipV="1">
            <a:off x="398736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53" name="Straight Connector 139"/>
          <p:cNvSpPr/>
          <p:nvPr/>
        </p:nvSpPr>
        <p:spPr>
          <a:xfrm flipV="1">
            <a:off x="438912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54" name="Straight Connector 159"/>
          <p:cNvSpPr/>
          <p:nvPr/>
        </p:nvSpPr>
        <p:spPr>
          <a:xfrm flipV="1">
            <a:off x="2778480" y="2828520"/>
            <a:ext cx="360" cy="12009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55" name="Straight Connector 160"/>
          <p:cNvSpPr/>
          <p:nvPr/>
        </p:nvSpPr>
        <p:spPr>
          <a:xfrm flipV="1">
            <a:off x="2639160" y="4038480"/>
            <a:ext cx="139320" cy="2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56" name="Rectangle 141"/>
          <p:cNvSpPr/>
          <p:nvPr/>
        </p:nvSpPr>
        <p:spPr>
          <a:xfrm>
            <a:off x="2285640" y="2997000"/>
            <a:ext cx="365760" cy="401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 vert="vert270" rot="16200000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57" name="Rectangle 147"/>
          <p:cNvSpPr/>
          <p:nvPr/>
        </p:nvSpPr>
        <p:spPr>
          <a:xfrm>
            <a:off x="1463400" y="299700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GPIO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58" name="Straight Connector 149"/>
          <p:cNvSpPr/>
          <p:nvPr/>
        </p:nvSpPr>
        <p:spPr>
          <a:xfrm flipV="1">
            <a:off x="2048760" y="3140640"/>
            <a:ext cx="234360" cy="7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59" name="Straight Connector 161"/>
          <p:cNvSpPr/>
          <p:nvPr/>
        </p:nvSpPr>
        <p:spPr>
          <a:xfrm flipV="1">
            <a:off x="2463480" y="340488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60" name="Rectangle 68"/>
          <p:cNvSpPr/>
          <p:nvPr/>
        </p:nvSpPr>
        <p:spPr>
          <a:xfrm>
            <a:off x="1469160" y="342900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I2S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61" name="Straight Connector 70"/>
          <p:cNvSpPr/>
          <p:nvPr/>
        </p:nvSpPr>
        <p:spPr>
          <a:xfrm>
            <a:off x="2054520" y="35938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62" name="Rectangle 73"/>
          <p:cNvSpPr/>
          <p:nvPr/>
        </p:nvSpPr>
        <p:spPr>
          <a:xfrm>
            <a:off x="1469160" y="547488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SDIO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63" name="Straight Connector 75"/>
          <p:cNvSpPr/>
          <p:nvPr/>
        </p:nvSpPr>
        <p:spPr>
          <a:xfrm>
            <a:off x="2054520" y="56401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64" name="Elbow Connector 3"/>
          <p:cNvSpPr/>
          <p:nvPr/>
        </p:nvSpPr>
        <p:spPr>
          <a:xfrm>
            <a:off x="2651760" y="3197880"/>
            <a:ext cx="254160" cy="1709280"/>
          </a:xfrm>
          <a:prstGeom prst="bentConnector3">
            <a:avLst>
              <a:gd name="adj1" fmla="val 24952"/>
            </a:avLst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465" name="Rectangle 128"/>
          <p:cNvSpPr/>
          <p:nvPr/>
        </p:nvSpPr>
        <p:spPr>
          <a:xfrm rot="16200000">
            <a:off x="3705120" y="528624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EVENT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66" name="Straight Connector 134"/>
          <p:cNvSpPr/>
          <p:nvPr/>
        </p:nvSpPr>
        <p:spPr>
          <a:xfrm flipV="1">
            <a:off x="396936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67" name="Rectangle 128"/>
          <p:cNvSpPr/>
          <p:nvPr/>
        </p:nvSpPr>
        <p:spPr>
          <a:xfrm rot="16200000">
            <a:off x="4131360" y="529848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SoC CTRL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68" name="Straight Connector 134"/>
          <p:cNvSpPr/>
          <p:nvPr/>
        </p:nvSpPr>
        <p:spPr>
          <a:xfrm flipV="1">
            <a:off x="4395240" y="5085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69" name="Straight Connector 134"/>
          <p:cNvSpPr/>
          <p:nvPr/>
        </p:nvSpPr>
        <p:spPr>
          <a:xfrm flipV="1">
            <a:off x="4419000" y="4581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70" name="Rectangle 130"/>
          <p:cNvSpPr/>
          <p:nvPr/>
        </p:nvSpPr>
        <p:spPr>
          <a:xfrm rot="16200000">
            <a:off x="3699000" y="415836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INTC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71" name="Straight Connector 134"/>
          <p:cNvSpPr/>
          <p:nvPr/>
        </p:nvSpPr>
        <p:spPr>
          <a:xfrm flipV="1">
            <a:off x="3987000" y="459108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72" name="Straight Connector 134"/>
          <p:cNvSpPr/>
          <p:nvPr/>
        </p:nvSpPr>
        <p:spPr>
          <a:xfrm flipH="1" flipV="1">
            <a:off x="3263400" y="3524040"/>
            <a:ext cx="9360" cy="1199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73" name="Straight Connector 79"/>
          <p:cNvSpPr/>
          <p:nvPr/>
        </p:nvSpPr>
        <p:spPr>
          <a:xfrm flipV="1">
            <a:off x="3963240" y="3557520"/>
            <a:ext cx="360" cy="51948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74" name="Straight Connector 81"/>
          <p:cNvSpPr/>
          <p:nvPr/>
        </p:nvSpPr>
        <p:spPr>
          <a:xfrm flipV="1">
            <a:off x="4395240" y="3543480"/>
            <a:ext cx="0" cy="53640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75" name="Rectangle 131"/>
          <p:cNvSpPr/>
          <p:nvPr/>
        </p:nvSpPr>
        <p:spPr>
          <a:xfrm>
            <a:off x="2902320" y="2995920"/>
            <a:ext cx="722160" cy="52812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rIns="27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ACCEL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76" name="Straight Connector 138"/>
          <p:cNvSpPr/>
          <p:nvPr/>
        </p:nvSpPr>
        <p:spPr>
          <a:xfrm flipV="1">
            <a:off x="307656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77" name="Straight Connector 139"/>
          <p:cNvSpPr/>
          <p:nvPr/>
        </p:nvSpPr>
        <p:spPr>
          <a:xfrm flipV="1">
            <a:off x="321012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78" name="Straight Connector 138"/>
          <p:cNvSpPr/>
          <p:nvPr/>
        </p:nvSpPr>
        <p:spPr>
          <a:xfrm flipV="1">
            <a:off x="335412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79" name="Straight Connector 139"/>
          <p:cNvSpPr/>
          <p:nvPr/>
        </p:nvSpPr>
        <p:spPr>
          <a:xfrm flipV="1">
            <a:off x="348804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80" name="Straight Connector 156"/>
          <p:cNvSpPr/>
          <p:nvPr/>
        </p:nvSpPr>
        <p:spPr>
          <a:xfrm>
            <a:off x="115524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81" name="Straight Connector 156"/>
          <p:cNvSpPr/>
          <p:nvPr/>
        </p:nvSpPr>
        <p:spPr>
          <a:xfrm>
            <a:off x="115524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82" name="Straight Connector 156"/>
          <p:cNvSpPr/>
          <p:nvPr/>
        </p:nvSpPr>
        <p:spPr>
          <a:xfrm>
            <a:off x="115524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83" name="Straight Connector 156"/>
          <p:cNvSpPr/>
          <p:nvPr/>
        </p:nvSpPr>
        <p:spPr>
          <a:xfrm>
            <a:off x="115524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84" name="Straight Connector 156"/>
          <p:cNvSpPr/>
          <p:nvPr/>
        </p:nvSpPr>
        <p:spPr>
          <a:xfrm>
            <a:off x="115920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85" name="Straight Connector 156"/>
          <p:cNvSpPr/>
          <p:nvPr/>
        </p:nvSpPr>
        <p:spPr>
          <a:xfrm>
            <a:off x="115920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86" name="Straight Connector 156"/>
          <p:cNvSpPr/>
          <p:nvPr/>
        </p:nvSpPr>
        <p:spPr>
          <a:xfrm>
            <a:off x="115524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87" name="Trapezoid 112"/>
          <p:cNvSpPr/>
          <p:nvPr/>
        </p:nvSpPr>
        <p:spPr>
          <a:xfrm rot="16200000">
            <a:off x="-795960" y="4004280"/>
            <a:ext cx="3615840" cy="273960"/>
          </a:xfrm>
          <a:prstGeom prst="trapezoid">
            <a:avLst>
              <a:gd name="adj" fmla="val 25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Pad Control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88" name="Straight Connector 156"/>
          <p:cNvSpPr/>
          <p:nvPr/>
        </p:nvSpPr>
        <p:spPr>
          <a:xfrm>
            <a:off x="56520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89" name="Straight Connector 156"/>
          <p:cNvSpPr/>
          <p:nvPr/>
        </p:nvSpPr>
        <p:spPr>
          <a:xfrm>
            <a:off x="56088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90" name="Straight Connector 156"/>
          <p:cNvSpPr/>
          <p:nvPr/>
        </p:nvSpPr>
        <p:spPr>
          <a:xfrm>
            <a:off x="56088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91" name="Straight Connector 156"/>
          <p:cNvSpPr/>
          <p:nvPr/>
        </p:nvSpPr>
        <p:spPr>
          <a:xfrm>
            <a:off x="56088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92" name="Straight Connector 156"/>
          <p:cNvSpPr/>
          <p:nvPr/>
        </p:nvSpPr>
        <p:spPr>
          <a:xfrm>
            <a:off x="56088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93" name="Straight Connector 156"/>
          <p:cNvSpPr/>
          <p:nvPr/>
        </p:nvSpPr>
        <p:spPr>
          <a:xfrm>
            <a:off x="56448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94" name="Straight Connector 156"/>
          <p:cNvSpPr/>
          <p:nvPr/>
        </p:nvSpPr>
        <p:spPr>
          <a:xfrm>
            <a:off x="56448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95" name="Straight Connector 156"/>
          <p:cNvSpPr/>
          <p:nvPr/>
        </p:nvSpPr>
        <p:spPr>
          <a:xfrm>
            <a:off x="56088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96" name="Elbow Connector 122"/>
          <p:cNvSpPr/>
          <p:nvPr/>
        </p:nvSpPr>
        <p:spPr>
          <a:xfrm rot="5400000">
            <a:off x="2619360" y="4138200"/>
            <a:ext cx="168840" cy="3383280"/>
          </a:xfrm>
          <a:prstGeom prst="bentConnector3">
            <a:avLst>
              <a:gd name="adj1" fmla="val 200174"/>
            </a:avLst>
          </a:prstGeom>
          <a:noFill/>
          <a:ln cap="sq" w="22225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7" name="Straight Connector 120"/>
          <p:cNvSpPr/>
          <p:nvPr/>
        </p:nvSpPr>
        <p:spPr>
          <a:xfrm flipV="1">
            <a:off x="2593440" y="2229120"/>
            <a:ext cx="360" cy="2635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98" name="Straight Connector 120"/>
          <p:cNvSpPr/>
          <p:nvPr/>
        </p:nvSpPr>
        <p:spPr>
          <a:xfrm flipV="1">
            <a:off x="2737800" y="1981080"/>
            <a:ext cx="360" cy="5295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99" name="Straight Connector 120"/>
          <p:cNvSpPr/>
          <p:nvPr/>
        </p:nvSpPr>
        <p:spPr>
          <a:xfrm flipV="1">
            <a:off x="2877120" y="1783800"/>
            <a:ext cx="0" cy="726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00" name="Rectangle 118"/>
          <p:cNvSpPr/>
          <p:nvPr/>
        </p:nvSpPr>
        <p:spPr>
          <a:xfrm>
            <a:off x="2593440" y="152208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501" name="Rectangle 118"/>
          <p:cNvSpPr/>
          <p:nvPr/>
        </p:nvSpPr>
        <p:spPr>
          <a:xfrm>
            <a:off x="2445120" y="160452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502" name="Rectangle 118"/>
          <p:cNvSpPr/>
          <p:nvPr/>
        </p:nvSpPr>
        <p:spPr>
          <a:xfrm>
            <a:off x="2291760" y="170064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503" name="Rectangle 124"/>
          <p:cNvSpPr/>
          <p:nvPr/>
        </p:nvSpPr>
        <p:spPr>
          <a:xfrm>
            <a:off x="2163600" y="180468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504" name="TextBox 135"/>
          <p:cNvSpPr/>
          <p:nvPr/>
        </p:nvSpPr>
        <p:spPr>
          <a:xfrm rot="19092600">
            <a:off x="1611000" y="1535760"/>
            <a:ext cx="12236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Interleaved banks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505" name="Rectangle 124"/>
          <p:cNvSpPr/>
          <p:nvPr/>
        </p:nvSpPr>
        <p:spPr>
          <a:xfrm>
            <a:off x="3220920" y="178632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506" name="Rectangle 124"/>
          <p:cNvSpPr/>
          <p:nvPr/>
        </p:nvSpPr>
        <p:spPr>
          <a:xfrm>
            <a:off x="3821040" y="179100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507" name="Straight Connector 122"/>
          <p:cNvSpPr/>
          <p:nvPr/>
        </p:nvSpPr>
        <p:spPr>
          <a:xfrm flipV="1">
            <a:off x="4101480" y="231444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08" name="TextBox 139"/>
          <p:cNvSpPr/>
          <p:nvPr/>
        </p:nvSpPr>
        <p:spPr>
          <a:xfrm>
            <a:off x="3439080" y="1592280"/>
            <a:ext cx="9673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private banks</a:t>
            </a:r>
            <a:endParaRPr b="0" lang="it-IT" sz="1050" spc="-1" strike="noStrike">
              <a:latin typeface="Arial"/>
            </a:endParaRPr>
          </a:p>
        </p:txBody>
      </p:sp>
      <p:grpSp>
        <p:nvGrpSpPr>
          <p:cNvPr id="509" name="Group 140"/>
          <p:cNvGrpSpPr/>
          <p:nvPr/>
        </p:nvGrpSpPr>
        <p:grpSpPr>
          <a:xfrm>
            <a:off x="2493360" y="5733360"/>
            <a:ext cx="1482480" cy="257040"/>
            <a:chOff x="2493360" y="5733360"/>
            <a:chExt cx="1482480" cy="257040"/>
          </a:xfrm>
        </p:grpSpPr>
        <p:sp>
          <p:nvSpPr>
            <p:cNvPr id="510" name="Elbow Connector 141"/>
            <p:cNvSpPr/>
            <p:nvPr/>
          </p:nvSpPr>
          <p:spPr>
            <a:xfrm>
              <a:off x="2493360" y="5814720"/>
              <a:ext cx="1482480" cy="175680"/>
            </a:xfrm>
            <a:prstGeom prst="bentConnector3">
              <a:avLst>
                <a:gd name="adj1" fmla="val -101"/>
              </a:avLst>
            </a:prstGeom>
            <a:noFill/>
            <a:ln cap="sq" w="22225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11" name="Straight Arrow Connector 142"/>
            <p:cNvSpPr/>
            <p:nvPr/>
          </p:nvSpPr>
          <p:spPr>
            <a:xfrm flipV="1">
              <a:off x="3966120" y="5733360"/>
              <a:ext cx="2880" cy="243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cap="sq" w="22225">
              <a:solidFill>
                <a:srgbClr val="000000"/>
              </a:solidFill>
              <a:round/>
              <a:tailEnd len="med" type="triangle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512" name="Rectangle 130"/>
          <p:cNvSpPr/>
          <p:nvPr/>
        </p:nvSpPr>
        <p:spPr>
          <a:xfrm>
            <a:off x="7085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513" name="Rectangle 146"/>
          <p:cNvSpPr/>
          <p:nvPr/>
        </p:nvSpPr>
        <p:spPr>
          <a:xfrm>
            <a:off x="8093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514" name="Rectangle 153"/>
          <p:cNvSpPr/>
          <p:nvPr/>
        </p:nvSpPr>
        <p:spPr>
          <a:xfrm>
            <a:off x="9101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515" name="Rectangle 160"/>
          <p:cNvSpPr/>
          <p:nvPr/>
        </p:nvSpPr>
        <p:spPr>
          <a:xfrm>
            <a:off x="1068624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516" name="Rectangle 49"/>
          <p:cNvSpPr/>
          <p:nvPr/>
        </p:nvSpPr>
        <p:spPr>
          <a:xfrm>
            <a:off x="7058160" y="208872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517" name="Rectangle 50"/>
          <p:cNvSpPr/>
          <p:nvPr/>
        </p:nvSpPr>
        <p:spPr>
          <a:xfrm>
            <a:off x="7562160" y="208872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518" name="Rectangle 49"/>
          <p:cNvSpPr/>
          <p:nvPr/>
        </p:nvSpPr>
        <p:spPr>
          <a:xfrm>
            <a:off x="8061480" y="209196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519" name="Rectangle 50"/>
          <p:cNvSpPr/>
          <p:nvPr/>
        </p:nvSpPr>
        <p:spPr>
          <a:xfrm>
            <a:off x="8565480" y="209196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520" name="Rectangle 49"/>
          <p:cNvSpPr/>
          <p:nvPr/>
        </p:nvSpPr>
        <p:spPr>
          <a:xfrm>
            <a:off x="9064800" y="209196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521" name="Rectangle 50"/>
          <p:cNvSpPr/>
          <p:nvPr/>
        </p:nvSpPr>
        <p:spPr>
          <a:xfrm>
            <a:off x="9568800" y="209196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522" name="Rectangle 49"/>
          <p:cNvSpPr/>
          <p:nvPr/>
        </p:nvSpPr>
        <p:spPr>
          <a:xfrm>
            <a:off x="10587240" y="209052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523" name="Rectangle 50"/>
          <p:cNvSpPr/>
          <p:nvPr/>
        </p:nvSpPr>
        <p:spPr>
          <a:xfrm>
            <a:off x="11091240" y="209052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524" name="Straight Connector 156"/>
          <p:cNvSpPr/>
          <p:nvPr/>
        </p:nvSpPr>
        <p:spPr>
          <a:xfrm>
            <a:off x="7273800" y="2682720"/>
            <a:ext cx="230040" cy="8902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25" name="Straight Connector 156"/>
          <p:cNvSpPr/>
          <p:nvPr/>
        </p:nvSpPr>
        <p:spPr>
          <a:xfrm flipH="1">
            <a:off x="7503840" y="2682720"/>
            <a:ext cx="274320" cy="8902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26" name="Straight Connector 156"/>
          <p:cNvSpPr/>
          <p:nvPr/>
        </p:nvSpPr>
        <p:spPr>
          <a:xfrm flipH="1">
            <a:off x="7503840" y="2686320"/>
            <a:ext cx="773640" cy="886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27" name="Straight Connector 156"/>
          <p:cNvSpPr/>
          <p:nvPr/>
        </p:nvSpPr>
        <p:spPr>
          <a:xfrm flipH="1">
            <a:off x="7503840" y="2686320"/>
            <a:ext cx="1277640" cy="886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28" name="Straight Connector 156"/>
          <p:cNvSpPr/>
          <p:nvPr/>
        </p:nvSpPr>
        <p:spPr>
          <a:xfrm flipH="1">
            <a:off x="7503840" y="2686320"/>
            <a:ext cx="1776960" cy="886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29" name="Straight Connector 156"/>
          <p:cNvSpPr/>
          <p:nvPr/>
        </p:nvSpPr>
        <p:spPr>
          <a:xfrm flipH="1">
            <a:off x="7503840" y="2686320"/>
            <a:ext cx="2280960" cy="886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30" name="Straight Connector 156"/>
          <p:cNvSpPr/>
          <p:nvPr/>
        </p:nvSpPr>
        <p:spPr>
          <a:xfrm flipH="1">
            <a:off x="7503840" y="2684880"/>
            <a:ext cx="3299040" cy="88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31" name="Straight Connector 156"/>
          <p:cNvSpPr/>
          <p:nvPr/>
        </p:nvSpPr>
        <p:spPr>
          <a:xfrm flipH="1">
            <a:off x="7503840" y="2684880"/>
            <a:ext cx="3803400" cy="88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32" name="Straight Connector 156"/>
          <p:cNvSpPr/>
          <p:nvPr/>
        </p:nvSpPr>
        <p:spPr>
          <a:xfrm>
            <a:off x="7273800" y="2682720"/>
            <a:ext cx="1238040" cy="8902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33" name="Straight Connector 156"/>
          <p:cNvSpPr/>
          <p:nvPr/>
        </p:nvSpPr>
        <p:spPr>
          <a:xfrm>
            <a:off x="7778160" y="2682720"/>
            <a:ext cx="733680" cy="8902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34" name="Straight Connector 156"/>
          <p:cNvSpPr/>
          <p:nvPr/>
        </p:nvSpPr>
        <p:spPr>
          <a:xfrm>
            <a:off x="8277480" y="2686320"/>
            <a:ext cx="234360" cy="886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35" name="Straight Connector 156"/>
          <p:cNvSpPr/>
          <p:nvPr/>
        </p:nvSpPr>
        <p:spPr>
          <a:xfrm flipH="1">
            <a:off x="8511840" y="2686320"/>
            <a:ext cx="269640" cy="886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36" name="Straight Connector 156"/>
          <p:cNvSpPr/>
          <p:nvPr/>
        </p:nvSpPr>
        <p:spPr>
          <a:xfrm flipH="1">
            <a:off x="8511840" y="2686320"/>
            <a:ext cx="768960" cy="886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37" name="Straight Connector 156"/>
          <p:cNvSpPr/>
          <p:nvPr/>
        </p:nvSpPr>
        <p:spPr>
          <a:xfrm flipH="1">
            <a:off x="8511840" y="2686320"/>
            <a:ext cx="1272960" cy="886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38" name="Straight Connector 156"/>
          <p:cNvSpPr/>
          <p:nvPr/>
        </p:nvSpPr>
        <p:spPr>
          <a:xfrm flipH="1">
            <a:off x="8511840" y="2684880"/>
            <a:ext cx="2291040" cy="88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39" name="Straight Connector 156"/>
          <p:cNvSpPr/>
          <p:nvPr/>
        </p:nvSpPr>
        <p:spPr>
          <a:xfrm flipH="1">
            <a:off x="8511840" y="2684880"/>
            <a:ext cx="2795400" cy="88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40" name="Straight Connector 156"/>
          <p:cNvSpPr/>
          <p:nvPr/>
        </p:nvSpPr>
        <p:spPr>
          <a:xfrm>
            <a:off x="7273800" y="2682720"/>
            <a:ext cx="2246400" cy="8902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41" name="Straight Connector 156"/>
          <p:cNvSpPr/>
          <p:nvPr/>
        </p:nvSpPr>
        <p:spPr>
          <a:xfrm>
            <a:off x="7778160" y="2682720"/>
            <a:ext cx="1742040" cy="8902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42" name="Straight Connector 156"/>
          <p:cNvSpPr/>
          <p:nvPr/>
        </p:nvSpPr>
        <p:spPr>
          <a:xfrm>
            <a:off x="8277480" y="2686320"/>
            <a:ext cx="1242720" cy="886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43" name="Straight Connector 156"/>
          <p:cNvSpPr/>
          <p:nvPr/>
        </p:nvSpPr>
        <p:spPr>
          <a:xfrm>
            <a:off x="8781480" y="2686320"/>
            <a:ext cx="738720" cy="886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44" name="Straight Connector 156"/>
          <p:cNvSpPr/>
          <p:nvPr/>
        </p:nvSpPr>
        <p:spPr>
          <a:xfrm>
            <a:off x="9280800" y="2686320"/>
            <a:ext cx="239400" cy="886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45" name="Straight Connector 156"/>
          <p:cNvSpPr/>
          <p:nvPr/>
        </p:nvSpPr>
        <p:spPr>
          <a:xfrm flipH="1">
            <a:off x="9520200" y="2686320"/>
            <a:ext cx="264600" cy="886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46" name="Straight Connector 156"/>
          <p:cNvSpPr/>
          <p:nvPr/>
        </p:nvSpPr>
        <p:spPr>
          <a:xfrm flipH="1">
            <a:off x="9520200" y="2684880"/>
            <a:ext cx="1282680" cy="88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47" name="Straight Connector 156"/>
          <p:cNvSpPr/>
          <p:nvPr/>
        </p:nvSpPr>
        <p:spPr>
          <a:xfrm flipH="1">
            <a:off x="9520200" y="2665800"/>
            <a:ext cx="1904040" cy="90720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48" name="Straight Connector 156"/>
          <p:cNvSpPr/>
          <p:nvPr/>
        </p:nvSpPr>
        <p:spPr>
          <a:xfrm>
            <a:off x="7273800" y="2682720"/>
            <a:ext cx="3830400" cy="8902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49" name="Straight Connector 156"/>
          <p:cNvSpPr/>
          <p:nvPr/>
        </p:nvSpPr>
        <p:spPr>
          <a:xfrm>
            <a:off x="7778160" y="2682720"/>
            <a:ext cx="3326040" cy="8902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50" name="Straight Connector 156"/>
          <p:cNvSpPr/>
          <p:nvPr/>
        </p:nvSpPr>
        <p:spPr>
          <a:xfrm>
            <a:off x="8277480" y="2686320"/>
            <a:ext cx="2826720" cy="886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51" name="Straight Connector 156"/>
          <p:cNvSpPr/>
          <p:nvPr/>
        </p:nvSpPr>
        <p:spPr>
          <a:xfrm>
            <a:off x="8781480" y="2686320"/>
            <a:ext cx="2322720" cy="886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52" name="Straight Connector 156"/>
          <p:cNvSpPr/>
          <p:nvPr/>
        </p:nvSpPr>
        <p:spPr>
          <a:xfrm>
            <a:off x="9280800" y="2686320"/>
            <a:ext cx="1823400" cy="886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53" name="Straight Connector 156"/>
          <p:cNvSpPr/>
          <p:nvPr/>
        </p:nvSpPr>
        <p:spPr>
          <a:xfrm>
            <a:off x="9784800" y="2686320"/>
            <a:ext cx="1319400" cy="886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54" name="Straight Connector 156"/>
          <p:cNvSpPr/>
          <p:nvPr/>
        </p:nvSpPr>
        <p:spPr>
          <a:xfrm>
            <a:off x="10802880" y="2684880"/>
            <a:ext cx="301320" cy="88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55" name="Straight Connector 156"/>
          <p:cNvSpPr/>
          <p:nvPr/>
        </p:nvSpPr>
        <p:spPr>
          <a:xfrm flipH="1">
            <a:off x="11104200" y="2684880"/>
            <a:ext cx="203040" cy="88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56" name="Rectangle 97"/>
          <p:cNvSpPr/>
          <p:nvPr/>
        </p:nvSpPr>
        <p:spPr>
          <a:xfrm>
            <a:off x="5030280" y="4681440"/>
            <a:ext cx="71139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Target a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Shared-Memory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parallel programming model: 4—16  DSP cores accessing a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Shared L1 Memory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(</a:t>
            </a:r>
            <a:r>
              <a:rPr b="1" i="1" lang="en-US" sz="1800" spc="-1" strike="noStrike">
                <a:solidFill>
                  <a:srgbClr val="000000"/>
                </a:solidFill>
                <a:latin typeface="Calibri"/>
              </a:rPr>
              <a:t>Tightly Coupled Data Mem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or </a:t>
            </a:r>
            <a:r>
              <a:rPr b="1" i="1" lang="en-US" sz="1800" spc="-1" strike="noStrike">
                <a:solidFill>
                  <a:srgbClr val="000000"/>
                </a:solidFill>
                <a:latin typeface="Calibri"/>
              </a:rPr>
              <a:t>TCDM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How is memory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organized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to allow this?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The memory is organized in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Multiple Banks </a:t>
            </a:r>
            <a:r>
              <a:rPr b="0" lang="it-IT" sz="1800" spc="-1" strike="noStrike">
                <a:solidFill>
                  <a:srgbClr val="001d35"/>
                </a:solidFill>
                <a:latin typeface="Google Sans"/>
              </a:rPr>
              <a:t>→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 concurrent access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.</a:t>
            </a:r>
            <a:endParaRPr b="0" lang="it-IT" sz="1800" spc="-1" strike="noStrike">
              <a:latin typeface="Arial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Rettangolo 6"/>
          <p:cNvSpPr/>
          <p:nvPr/>
        </p:nvSpPr>
        <p:spPr>
          <a:xfrm>
            <a:off x="5063760" y="1577520"/>
            <a:ext cx="6987240" cy="477864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solidFill>
              <a:srgbClr val="7c24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58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800" spc="-106" strike="noStrike">
                <a:solidFill>
                  <a:srgbClr val="c00000"/>
                </a:solidFill>
                <a:latin typeface="Calibri"/>
                <a:ea typeface="Roboto"/>
              </a:rPr>
              <a:t>PULP: A Parallel Ultra-Low-Power Computing Platform</a:t>
            </a:r>
            <a:endParaRPr b="0" lang="it-IT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9" name="PlaceHolder 2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0C285CF4-1005-423A-9583-279027A27B2A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  <p:sp>
        <p:nvSpPr>
          <p:cNvPr id="560" name="Rectangle 125"/>
          <p:cNvSpPr/>
          <p:nvPr/>
        </p:nvSpPr>
        <p:spPr>
          <a:xfrm>
            <a:off x="2906640" y="4742280"/>
            <a:ext cx="1704600" cy="329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561" name="Rectangle 126"/>
          <p:cNvSpPr/>
          <p:nvPr/>
        </p:nvSpPr>
        <p:spPr>
          <a:xfrm rot="16200000">
            <a:off x="2827440" y="528624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CLK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562" name="Rectangle 128"/>
          <p:cNvSpPr/>
          <p:nvPr/>
        </p:nvSpPr>
        <p:spPr>
          <a:xfrm rot="16200000">
            <a:off x="3267000" y="528480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TIMER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563" name="Rectangle 130"/>
          <p:cNvSpPr/>
          <p:nvPr/>
        </p:nvSpPr>
        <p:spPr>
          <a:xfrm rot="16200000">
            <a:off x="4131360" y="414828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564" name="Straight Connector 133"/>
          <p:cNvSpPr/>
          <p:nvPr/>
        </p:nvSpPr>
        <p:spPr>
          <a:xfrm flipV="1">
            <a:off x="309168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65" name="Straight Connector 134"/>
          <p:cNvSpPr/>
          <p:nvPr/>
        </p:nvSpPr>
        <p:spPr>
          <a:xfrm flipV="1">
            <a:off x="3531240" y="507096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66" name="Rectangle 68"/>
          <p:cNvSpPr/>
          <p:nvPr/>
        </p:nvSpPr>
        <p:spPr>
          <a:xfrm>
            <a:off x="1461600" y="388368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SPI 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567" name="Rectangle 69"/>
          <p:cNvSpPr/>
          <p:nvPr/>
        </p:nvSpPr>
        <p:spPr>
          <a:xfrm>
            <a:off x="1461600" y="428004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CAMIF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568" name="Straight Connector 70"/>
          <p:cNvSpPr/>
          <p:nvPr/>
        </p:nvSpPr>
        <p:spPr>
          <a:xfrm>
            <a:off x="2046960" y="404856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69" name="Straight Connector 71"/>
          <p:cNvSpPr/>
          <p:nvPr/>
        </p:nvSpPr>
        <p:spPr>
          <a:xfrm>
            <a:off x="2046960" y="44449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70" name="Rectangle 72"/>
          <p:cNvSpPr/>
          <p:nvPr/>
        </p:nvSpPr>
        <p:spPr>
          <a:xfrm>
            <a:off x="1461600" y="467640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I2C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571" name="Rectangle 73"/>
          <p:cNvSpPr/>
          <p:nvPr/>
        </p:nvSpPr>
        <p:spPr>
          <a:xfrm>
            <a:off x="1461600" y="507276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UART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572" name="Straight Connector 74"/>
          <p:cNvSpPr/>
          <p:nvPr/>
        </p:nvSpPr>
        <p:spPr>
          <a:xfrm>
            <a:off x="2046960" y="48412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73" name="Straight Connector 75"/>
          <p:cNvSpPr/>
          <p:nvPr/>
        </p:nvSpPr>
        <p:spPr>
          <a:xfrm>
            <a:off x="2046960" y="523764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74" name="Rectangle 152"/>
          <p:cNvSpPr/>
          <p:nvPr/>
        </p:nvSpPr>
        <p:spPr>
          <a:xfrm rot="16200000">
            <a:off x="1329120" y="4485600"/>
            <a:ext cx="2273760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µDMA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575" name="Rectangle 154"/>
          <p:cNvSpPr/>
          <p:nvPr/>
        </p:nvSpPr>
        <p:spPr>
          <a:xfrm>
            <a:off x="1462680" y="250092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576" name="Straight Connector 155"/>
          <p:cNvSpPr/>
          <p:nvPr/>
        </p:nvSpPr>
        <p:spPr>
          <a:xfrm>
            <a:off x="2048040" y="266580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77" name="Straight Connector 156"/>
          <p:cNvSpPr/>
          <p:nvPr/>
        </p:nvSpPr>
        <p:spPr>
          <a:xfrm>
            <a:off x="115956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78" name="Rectangle 66"/>
          <p:cNvSpPr/>
          <p:nvPr/>
        </p:nvSpPr>
        <p:spPr>
          <a:xfrm>
            <a:off x="4439880" y="1786320"/>
            <a:ext cx="54792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ROM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579" name="Rectangle 119"/>
          <p:cNvSpPr/>
          <p:nvPr/>
        </p:nvSpPr>
        <p:spPr>
          <a:xfrm>
            <a:off x="2289240" y="2504160"/>
            <a:ext cx="2591640" cy="3297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Logarithmic Interconnect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580" name="Straight Connector 120"/>
          <p:cNvSpPr/>
          <p:nvPr/>
        </p:nvSpPr>
        <p:spPr>
          <a:xfrm flipV="1">
            <a:off x="2463480" y="23418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81" name="Straight Connector 122"/>
          <p:cNvSpPr/>
          <p:nvPr/>
        </p:nvSpPr>
        <p:spPr>
          <a:xfrm flipV="1">
            <a:off x="352008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82" name="Straight Connector 123"/>
          <p:cNvSpPr/>
          <p:nvPr/>
        </p:nvSpPr>
        <p:spPr>
          <a:xfrm flipV="1">
            <a:off x="466524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83" name="Straight Connector 157"/>
          <p:cNvSpPr/>
          <p:nvPr/>
        </p:nvSpPr>
        <p:spPr>
          <a:xfrm flipV="1">
            <a:off x="246348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84" name="Rectangle 131"/>
          <p:cNvSpPr/>
          <p:nvPr/>
        </p:nvSpPr>
        <p:spPr>
          <a:xfrm>
            <a:off x="3813120" y="3002760"/>
            <a:ext cx="722160" cy="528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rIns="27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RISC-V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585" name="Straight Connector 138"/>
          <p:cNvSpPr/>
          <p:nvPr/>
        </p:nvSpPr>
        <p:spPr>
          <a:xfrm flipV="1">
            <a:off x="398736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86" name="Straight Connector 139"/>
          <p:cNvSpPr/>
          <p:nvPr/>
        </p:nvSpPr>
        <p:spPr>
          <a:xfrm flipV="1">
            <a:off x="438912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87" name="Straight Connector 159"/>
          <p:cNvSpPr/>
          <p:nvPr/>
        </p:nvSpPr>
        <p:spPr>
          <a:xfrm flipV="1">
            <a:off x="2778480" y="2828520"/>
            <a:ext cx="360" cy="12009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88" name="Straight Connector 160"/>
          <p:cNvSpPr/>
          <p:nvPr/>
        </p:nvSpPr>
        <p:spPr>
          <a:xfrm flipV="1">
            <a:off x="2639160" y="4038480"/>
            <a:ext cx="139320" cy="2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89" name="Rectangle 141"/>
          <p:cNvSpPr/>
          <p:nvPr/>
        </p:nvSpPr>
        <p:spPr>
          <a:xfrm>
            <a:off x="2285640" y="2997000"/>
            <a:ext cx="365760" cy="401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 vert="vert270" rot="16200000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590" name="Rectangle 147"/>
          <p:cNvSpPr/>
          <p:nvPr/>
        </p:nvSpPr>
        <p:spPr>
          <a:xfrm>
            <a:off x="1463400" y="299700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GPIO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591" name="Straight Connector 149"/>
          <p:cNvSpPr/>
          <p:nvPr/>
        </p:nvSpPr>
        <p:spPr>
          <a:xfrm flipV="1">
            <a:off x="2048760" y="3140640"/>
            <a:ext cx="234360" cy="7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92" name="Straight Connector 161"/>
          <p:cNvSpPr/>
          <p:nvPr/>
        </p:nvSpPr>
        <p:spPr>
          <a:xfrm flipV="1">
            <a:off x="2463480" y="340488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93" name="Rectangle 68"/>
          <p:cNvSpPr/>
          <p:nvPr/>
        </p:nvSpPr>
        <p:spPr>
          <a:xfrm>
            <a:off x="1469160" y="342900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I2S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594" name="Straight Connector 70"/>
          <p:cNvSpPr/>
          <p:nvPr/>
        </p:nvSpPr>
        <p:spPr>
          <a:xfrm>
            <a:off x="2054520" y="35938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95" name="Rectangle 73"/>
          <p:cNvSpPr/>
          <p:nvPr/>
        </p:nvSpPr>
        <p:spPr>
          <a:xfrm>
            <a:off x="1469160" y="547488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SDIO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596" name="Straight Connector 75"/>
          <p:cNvSpPr/>
          <p:nvPr/>
        </p:nvSpPr>
        <p:spPr>
          <a:xfrm>
            <a:off x="2054520" y="56401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97" name="Elbow Connector 3"/>
          <p:cNvSpPr/>
          <p:nvPr/>
        </p:nvSpPr>
        <p:spPr>
          <a:xfrm>
            <a:off x="2651760" y="3197880"/>
            <a:ext cx="254160" cy="1709280"/>
          </a:xfrm>
          <a:prstGeom prst="bentConnector3">
            <a:avLst>
              <a:gd name="adj1" fmla="val 24952"/>
            </a:avLst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598" name="Rectangle 128"/>
          <p:cNvSpPr/>
          <p:nvPr/>
        </p:nvSpPr>
        <p:spPr>
          <a:xfrm rot="16200000">
            <a:off x="3705120" y="528624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EVENT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599" name="Straight Connector 134"/>
          <p:cNvSpPr/>
          <p:nvPr/>
        </p:nvSpPr>
        <p:spPr>
          <a:xfrm flipV="1">
            <a:off x="396936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00" name="Rectangle 128"/>
          <p:cNvSpPr/>
          <p:nvPr/>
        </p:nvSpPr>
        <p:spPr>
          <a:xfrm rot="16200000">
            <a:off x="4131360" y="529848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SoC CTRL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601" name="Straight Connector 134"/>
          <p:cNvSpPr/>
          <p:nvPr/>
        </p:nvSpPr>
        <p:spPr>
          <a:xfrm flipV="1">
            <a:off x="4395240" y="5085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02" name="Straight Connector 134"/>
          <p:cNvSpPr/>
          <p:nvPr/>
        </p:nvSpPr>
        <p:spPr>
          <a:xfrm flipV="1">
            <a:off x="4419000" y="4581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03" name="Rectangle 130"/>
          <p:cNvSpPr/>
          <p:nvPr/>
        </p:nvSpPr>
        <p:spPr>
          <a:xfrm rot="16200000">
            <a:off x="3699000" y="415836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INTC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604" name="Straight Connector 134"/>
          <p:cNvSpPr/>
          <p:nvPr/>
        </p:nvSpPr>
        <p:spPr>
          <a:xfrm flipV="1">
            <a:off x="3987000" y="459108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05" name="Straight Connector 134"/>
          <p:cNvSpPr/>
          <p:nvPr/>
        </p:nvSpPr>
        <p:spPr>
          <a:xfrm flipH="1" flipV="1">
            <a:off x="3263400" y="3524040"/>
            <a:ext cx="9360" cy="1199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06" name="Straight Connector 79"/>
          <p:cNvSpPr/>
          <p:nvPr/>
        </p:nvSpPr>
        <p:spPr>
          <a:xfrm flipV="1">
            <a:off x="3963240" y="3557520"/>
            <a:ext cx="360" cy="51948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07" name="Straight Connector 81"/>
          <p:cNvSpPr/>
          <p:nvPr/>
        </p:nvSpPr>
        <p:spPr>
          <a:xfrm flipV="1">
            <a:off x="4395240" y="3543480"/>
            <a:ext cx="0" cy="53640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08" name="Rectangle 131"/>
          <p:cNvSpPr/>
          <p:nvPr/>
        </p:nvSpPr>
        <p:spPr>
          <a:xfrm>
            <a:off x="2902320" y="2995920"/>
            <a:ext cx="722160" cy="52812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rIns="27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ACCEL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609" name="Straight Connector 138"/>
          <p:cNvSpPr/>
          <p:nvPr/>
        </p:nvSpPr>
        <p:spPr>
          <a:xfrm flipV="1">
            <a:off x="307656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10" name="Straight Connector 139"/>
          <p:cNvSpPr/>
          <p:nvPr/>
        </p:nvSpPr>
        <p:spPr>
          <a:xfrm flipV="1">
            <a:off x="321012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11" name="Straight Connector 138"/>
          <p:cNvSpPr/>
          <p:nvPr/>
        </p:nvSpPr>
        <p:spPr>
          <a:xfrm flipV="1">
            <a:off x="335412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12" name="Straight Connector 139"/>
          <p:cNvSpPr/>
          <p:nvPr/>
        </p:nvSpPr>
        <p:spPr>
          <a:xfrm flipV="1">
            <a:off x="348804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13" name="Straight Connector 156"/>
          <p:cNvSpPr/>
          <p:nvPr/>
        </p:nvSpPr>
        <p:spPr>
          <a:xfrm>
            <a:off x="115524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14" name="Straight Connector 156"/>
          <p:cNvSpPr/>
          <p:nvPr/>
        </p:nvSpPr>
        <p:spPr>
          <a:xfrm>
            <a:off x="115524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15" name="Straight Connector 156"/>
          <p:cNvSpPr/>
          <p:nvPr/>
        </p:nvSpPr>
        <p:spPr>
          <a:xfrm>
            <a:off x="115524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16" name="Straight Connector 156"/>
          <p:cNvSpPr/>
          <p:nvPr/>
        </p:nvSpPr>
        <p:spPr>
          <a:xfrm>
            <a:off x="115524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17" name="Straight Connector 156"/>
          <p:cNvSpPr/>
          <p:nvPr/>
        </p:nvSpPr>
        <p:spPr>
          <a:xfrm>
            <a:off x="115920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18" name="Straight Connector 156"/>
          <p:cNvSpPr/>
          <p:nvPr/>
        </p:nvSpPr>
        <p:spPr>
          <a:xfrm>
            <a:off x="115920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19" name="Straight Connector 156"/>
          <p:cNvSpPr/>
          <p:nvPr/>
        </p:nvSpPr>
        <p:spPr>
          <a:xfrm>
            <a:off x="115524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20" name="Trapezoid 112"/>
          <p:cNvSpPr/>
          <p:nvPr/>
        </p:nvSpPr>
        <p:spPr>
          <a:xfrm rot="16200000">
            <a:off x="-795960" y="4004280"/>
            <a:ext cx="3615840" cy="273960"/>
          </a:xfrm>
          <a:prstGeom prst="trapezoid">
            <a:avLst>
              <a:gd name="adj" fmla="val 25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Pad Control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621" name="Straight Connector 156"/>
          <p:cNvSpPr/>
          <p:nvPr/>
        </p:nvSpPr>
        <p:spPr>
          <a:xfrm>
            <a:off x="56520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22" name="Straight Connector 156"/>
          <p:cNvSpPr/>
          <p:nvPr/>
        </p:nvSpPr>
        <p:spPr>
          <a:xfrm>
            <a:off x="56088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23" name="Straight Connector 156"/>
          <p:cNvSpPr/>
          <p:nvPr/>
        </p:nvSpPr>
        <p:spPr>
          <a:xfrm>
            <a:off x="56088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24" name="Straight Connector 156"/>
          <p:cNvSpPr/>
          <p:nvPr/>
        </p:nvSpPr>
        <p:spPr>
          <a:xfrm>
            <a:off x="56088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25" name="Straight Connector 156"/>
          <p:cNvSpPr/>
          <p:nvPr/>
        </p:nvSpPr>
        <p:spPr>
          <a:xfrm>
            <a:off x="56088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26" name="Straight Connector 156"/>
          <p:cNvSpPr/>
          <p:nvPr/>
        </p:nvSpPr>
        <p:spPr>
          <a:xfrm>
            <a:off x="56448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27" name="Straight Connector 156"/>
          <p:cNvSpPr/>
          <p:nvPr/>
        </p:nvSpPr>
        <p:spPr>
          <a:xfrm>
            <a:off x="56448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28" name="Straight Connector 156"/>
          <p:cNvSpPr/>
          <p:nvPr/>
        </p:nvSpPr>
        <p:spPr>
          <a:xfrm>
            <a:off x="56088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29" name="Elbow Connector 122"/>
          <p:cNvSpPr/>
          <p:nvPr/>
        </p:nvSpPr>
        <p:spPr>
          <a:xfrm rot="5400000">
            <a:off x="2619360" y="4138200"/>
            <a:ext cx="168840" cy="3383280"/>
          </a:xfrm>
          <a:prstGeom prst="bentConnector3">
            <a:avLst>
              <a:gd name="adj1" fmla="val 200174"/>
            </a:avLst>
          </a:prstGeom>
          <a:noFill/>
          <a:ln cap="sq" w="22225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30" name="Straight Connector 120"/>
          <p:cNvSpPr/>
          <p:nvPr/>
        </p:nvSpPr>
        <p:spPr>
          <a:xfrm flipV="1">
            <a:off x="2593440" y="2229120"/>
            <a:ext cx="360" cy="2635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31" name="Straight Connector 120"/>
          <p:cNvSpPr/>
          <p:nvPr/>
        </p:nvSpPr>
        <p:spPr>
          <a:xfrm flipV="1">
            <a:off x="2737800" y="1981080"/>
            <a:ext cx="360" cy="5295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32" name="Straight Connector 120"/>
          <p:cNvSpPr/>
          <p:nvPr/>
        </p:nvSpPr>
        <p:spPr>
          <a:xfrm flipV="1">
            <a:off x="2877120" y="1783800"/>
            <a:ext cx="0" cy="726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33" name="Rectangle 118"/>
          <p:cNvSpPr/>
          <p:nvPr/>
        </p:nvSpPr>
        <p:spPr>
          <a:xfrm>
            <a:off x="2593440" y="152208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634" name="Rectangle 118"/>
          <p:cNvSpPr/>
          <p:nvPr/>
        </p:nvSpPr>
        <p:spPr>
          <a:xfrm>
            <a:off x="2445120" y="160452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635" name="Rectangle 118"/>
          <p:cNvSpPr/>
          <p:nvPr/>
        </p:nvSpPr>
        <p:spPr>
          <a:xfrm>
            <a:off x="2291760" y="170064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636" name="Rectangle 124"/>
          <p:cNvSpPr/>
          <p:nvPr/>
        </p:nvSpPr>
        <p:spPr>
          <a:xfrm>
            <a:off x="2163600" y="180468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637" name="TextBox 135"/>
          <p:cNvSpPr/>
          <p:nvPr/>
        </p:nvSpPr>
        <p:spPr>
          <a:xfrm rot="19092600">
            <a:off x="1611000" y="1535760"/>
            <a:ext cx="12236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Interleaved banks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638" name="Rectangle 124"/>
          <p:cNvSpPr/>
          <p:nvPr/>
        </p:nvSpPr>
        <p:spPr>
          <a:xfrm>
            <a:off x="3220920" y="178632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639" name="Rectangle 124"/>
          <p:cNvSpPr/>
          <p:nvPr/>
        </p:nvSpPr>
        <p:spPr>
          <a:xfrm>
            <a:off x="3821040" y="179100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640" name="Straight Connector 122"/>
          <p:cNvSpPr/>
          <p:nvPr/>
        </p:nvSpPr>
        <p:spPr>
          <a:xfrm flipV="1">
            <a:off x="4101480" y="231444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41" name="TextBox 139"/>
          <p:cNvSpPr/>
          <p:nvPr/>
        </p:nvSpPr>
        <p:spPr>
          <a:xfrm>
            <a:off x="3439080" y="1592280"/>
            <a:ext cx="9673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private banks</a:t>
            </a:r>
            <a:endParaRPr b="0" lang="it-IT" sz="1050" spc="-1" strike="noStrike">
              <a:latin typeface="Arial"/>
            </a:endParaRPr>
          </a:p>
        </p:txBody>
      </p:sp>
      <p:grpSp>
        <p:nvGrpSpPr>
          <p:cNvPr id="642" name="Group 140"/>
          <p:cNvGrpSpPr/>
          <p:nvPr/>
        </p:nvGrpSpPr>
        <p:grpSpPr>
          <a:xfrm>
            <a:off x="2493360" y="5733360"/>
            <a:ext cx="1482480" cy="257040"/>
            <a:chOff x="2493360" y="5733360"/>
            <a:chExt cx="1482480" cy="257040"/>
          </a:xfrm>
        </p:grpSpPr>
        <p:sp>
          <p:nvSpPr>
            <p:cNvPr id="643" name="Elbow Connector 141"/>
            <p:cNvSpPr/>
            <p:nvPr/>
          </p:nvSpPr>
          <p:spPr>
            <a:xfrm>
              <a:off x="2493360" y="5814720"/>
              <a:ext cx="1482480" cy="175680"/>
            </a:xfrm>
            <a:prstGeom prst="bentConnector3">
              <a:avLst>
                <a:gd name="adj1" fmla="val -101"/>
              </a:avLst>
            </a:prstGeom>
            <a:noFill/>
            <a:ln cap="sq" w="22225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44" name="Straight Arrow Connector 142"/>
            <p:cNvSpPr/>
            <p:nvPr/>
          </p:nvSpPr>
          <p:spPr>
            <a:xfrm flipV="1">
              <a:off x="3966120" y="5733360"/>
              <a:ext cx="2880" cy="243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cap="sq" w="22225">
              <a:solidFill>
                <a:srgbClr val="000000"/>
              </a:solidFill>
              <a:round/>
              <a:tailEnd len="med" type="triangle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645" name="Rectangle 100"/>
          <p:cNvSpPr/>
          <p:nvPr/>
        </p:nvSpPr>
        <p:spPr>
          <a:xfrm>
            <a:off x="6800400" y="2931840"/>
            <a:ext cx="4722120" cy="35280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TCDM Logarithmic Interconnect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646" name="Rectangle 130"/>
          <p:cNvSpPr/>
          <p:nvPr/>
        </p:nvSpPr>
        <p:spPr>
          <a:xfrm>
            <a:off x="7085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647" name="Rectangle 146"/>
          <p:cNvSpPr/>
          <p:nvPr/>
        </p:nvSpPr>
        <p:spPr>
          <a:xfrm>
            <a:off x="8093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648" name="Rectangle 153"/>
          <p:cNvSpPr/>
          <p:nvPr/>
        </p:nvSpPr>
        <p:spPr>
          <a:xfrm>
            <a:off x="9101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649" name="Rectangle 160"/>
          <p:cNvSpPr/>
          <p:nvPr/>
        </p:nvSpPr>
        <p:spPr>
          <a:xfrm>
            <a:off x="1068624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650" name="Rectangle 49"/>
          <p:cNvSpPr/>
          <p:nvPr/>
        </p:nvSpPr>
        <p:spPr>
          <a:xfrm>
            <a:off x="7058160" y="208872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651" name="Rectangle 50"/>
          <p:cNvSpPr/>
          <p:nvPr/>
        </p:nvSpPr>
        <p:spPr>
          <a:xfrm>
            <a:off x="7562160" y="208872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652" name="Rectangle 49"/>
          <p:cNvSpPr/>
          <p:nvPr/>
        </p:nvSpPr>
        <p:spPr>
          <a:xfrm>
            <a:off x="8061480" y="209196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653" name="Rectangle 50"/>
          <p:cNvSpPr/>
          <p:nvPr/>
        </p:nvSpPr>
        <p:spPr>
          <a:xfrm>
            <a:off x="8565480" y="209196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654" name="Rectangle 49"/>
          <p:cNvSpPr/>
          <p:nvPr/>
        </p:nvSpPr>
        <p:spPr>
          <a:xfrm>
            <a:off x="9064800" y="209196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655" name="Rectangle 50"/>
          <p:cNvSpPr/>
          <p:nvPr/>
        </p:nvSpPr>
        <p:spPr>
          <a:xfrm>
            <a:off x="9568800" y="209196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656" name="Rectangle 49"/>
          <p:cNvSpPr/>
          <p:nvPr/>
        </p:nvSpPr>
        <p:spPr>
          <a:xfrm>
            <a:off x="10587240" y="209052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657" name="Rectangle 50"/>
          <p:cNvSpPr/>
          <p:nvPr/>
        </p:nvSpPr>
        <p:spPr>
          <a:xfrm>
            <a:off x="11091240" y="209052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658" name="Straight Connector 156"/>
          <p:cNvSpPr/>
          <p:nvPr/>
        </p:nvSpPr>
        <p:spPr>
          <a:xfrm>
            <a:off x="727344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59" name="Straight Connector 156"/>
          <p:cNvSpPr/>
          <p:nvPr/>
        </p:nvSpPr>
        <p:spPr>
          <a:xfrm>
            <a:off x="777528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60" name="Straight Connector 156"/>
          <p:cNvSpPr/>
          <p:nvPr/>
        </p:nvSpPr>
        <p:spPr>
          <a:xfrm>
            <a:off x="827748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61" name="Straight Connector 156"/>
          <p:cNvSpPr/>
          <p:nvPr/>
        </p:nvSpPr>
        <p:spPr>
          <a:xfrm>
            <a:off x="877932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62" name="Straight Connector 156"/>
          <p:cNvSpPr/>
          <p:nvPr/>
        </p:nvSpPr>
        <p:spPr>
          <a:xfrm>
            <a:off x="928152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63" name="Straight Connector 156"/>
          <p:cNvSpPr/>
          <p:nvPr/>
        </p:nvSpPr>
        <p:spPr>
          <a:xfrm>
            <a:off x="978336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64" name="Straight Connector 156"/>
          <p:cNvSpPr/>
          <p:nvPr/>
        </p:nvSpPr>
        <p:spPr>
          <a:xfrm>
            <a:off x="10794600" y="267768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65" name="Straight Connector 156"/>
          <p:cNvSpPr/>
          <p:nvPr/>
        </p:nvSpPr>
        <p:spPr>
          <a:xfrm>
            <a:off x="11296440" y="267768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66" name="Straight Connector 156"/>
          <p:cNvSpPr/>
          <p:nvPr/>
        </p:nvSpPr>
        <p:spPr>
          <a:xfrm>
            <a:off x="748260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67" name="Straight Connector 156"/>
          <p:cNvSpPr/>
          <p:nvPr/>
        </p:nvSpPr>
        <p:spPr>
          <a:xfrm>
            <a:off x="848952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68" name="Straight Connector 156"/>
          <p:cNvSpPr/>
          <p:nvPr/>
        </p:nvSpPr>
        <p:spPr>
          <a:xfrm>
            <a:off x="9496800" y="329580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69" name="Straight Connector 156"/>
          <p:cNvSpPr/>
          <p:nvPr/>
        </p:nvSpPr>
        <p:spPr>
          <a:xfrm>
            <a:off x="1109016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70" name="Rectangle 97"/>
          <p:cNvSpPr/>
          <p:nvPr/>
        </p:nvSpPr>
        <p:spPr>
          <a:xfrm>
            <a:off x="5029920" y="4681440"/>
            <a:ext cx="71143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Target a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Shared-Memory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parallel programming model: 4—16  DSP cores accessing a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Shared L1 Memory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(</a:t>
            </a:r>
            <a:r>
              <a:rPr b="1" i="1" lang="en-US" sz="1800" spc="-1" strike="noStrike">
                <a:solidFill>
                  <a:srgbClr val="000000"/>
                </a:solidFill>
                <a:latin typeface="Calibri"/>
              </a:rPr>
              <a:t>Tightly Coupled Data Mem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or </a:t>
            </a:r>
            <a:r>
              <a:rPr b="1" i="1" lang="en-US" sz="1800" spc="-1" strike="noStrike">
                <a:solidFill>
                  <a:srgbClr val="000000"/>
                </a:solidFill>
                <a:latin typeface="Calibri"/>
              </a:rPr>
              <a:t>TCDM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How is memory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organized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to allow this?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The memory is organized in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Multiple Banks </a:t>
            </a:r>
            <a:r>
              <a:rPr b="0" lang="it-IT" sz="1800" spc="-1" strike="noStrike">
                <a:solidFill>
                  <a:srgbClr val="001d35"/>
                </a:solidFill>
                <a:latin typeface="Google Sans"/>
              </a:rPr>
              <a:t>→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 concurrent access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.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Solution: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full connectivity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with 1-cycle latency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crossbar</a:t>
            </a:r>
            <a:endParaRPr b="0" lang="it-IT" sz="1800" spc="-1" strike="noStrike">
              <a:latin typeface="Arial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Rettangolo 5"/>
          <p:cNvSpPr/>
          <p:nvPr/>
        </p:nvSpPr>
        <p:spPr>
          <a:xfrm>
            <a:off x="5063760" y="1577520"/>
            <a:ext cx="6987240" cy="477864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solidFill>
              <a:srgbClr val="7c24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72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800" spc="-106" strike="noStrike">
                <a:solidFill>
                  <a:srgbClr val="c00000"/>
                </a:solidFill>
                <a:latin typeface="Calibri"/>
                <a:ea typeface="Roboto"/>
              </a:rPr>
              <a:t>PULP: A Parallel Ultra-Low-Power Computing Platform</a:t>
            </a:r>
            <a:endParaRPr b="0" lang="it-IT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3" name="PlaceHolder 2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CE73B544-631B-485C-A1AC-03719049EA3A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  <p:sp>
        <p:nvSpPr>
          <p:cNvPr id="674" name="Rectangle 125"/>
          <p:cNvSpPr/>
          <p:nvPr/>
        </p:nvSpPr>
        <p:spPr>
          <a:xfrm>
            <a:off x="2906640" y="4742280"/>
            <a:ext cx="1704600" cy="329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675" name="Rectangle 126"/>
          <p:cNvSpPr/>
          <p:nvPr/>
        </p:nvSpPr>
        <p:spPr>
          <a:xfrm rot="16200000">
            <a:off x="2827440" y="528624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CLK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676" name="Rectangle 128"/>
          <p:cNvSpPr/>
          <p:nvPr/>
        </p:nvSpPr>
        <p:spPr>
          <a:xfrm rot="16200000">
            <a:off x="3267000" y="528480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TIMER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677" name="Rectangle 130"/>
          <p:cNvSpPr/>
          <p:nvPr/>
        </p:nvSpPr>
        <p:spPr>
          <a:xfrm rot="16200000">
            <a:off x="4131360" y="414828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678" name="Straight Connector 133"/>
          <p:cNvSpPr/>
          <p:nvPr/>
        </p:nvSpPr>
        <p:spPr>
          <a:xfrm flipV="1">
            <a:off x="309168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79" name="Straight Connector 134"/>
          <p:cNvSpPr/>
          <p:nvPr/>
        </p:nvSpPr>
        <p:spPr>
          <a:xfrm flipV="1">
            <a:off x="3531240" y="507096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80" name="Rectangle 68"/>
          <p:cNvSpPr/>
          <p:nvPr/>
        </p:nvSpPr>
        <p:spPr>
          <a:xfrm>
            <a:off x="1461600" y="388368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SPI 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681" name="Rectangle 69"/>
          <p:cNvSpPr/>
          <p:nvPr/>
        </p:nvSpPr>
        <p:spPr>
          <a:xfrm>
            <a:off x="1461600" y="428004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CAMIF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682" name="Straight Connector 70"/>
          <p:cNvSpPr/>
          <p:nvPr/>
        </p:nvSpPr>
        <p:spPr>
          <a:xfrm>
            <a:off x="2046960" y="404856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83" name="Straight Connector 71"/>
          <p:cNvSpPr/>
          <p:nvPr/>
        </p:nvSpPr>
        <p:spPr>
          <a:xfrm>
            <a:off x="2046960" y="44449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84" name="Rectangle 72"/>
          <p:cNvSpPr/>
          <p:nvPr/>
        </p:nvSpPr>
        <p:spPr>
          <a:xfrm>
            <a:off x="1461600" y="467640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I2C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685" name="Rectangle 73"/>
          <p:cNvSpPr/>
          <p:nvPr/>
        </p:nvSpPr>
        <p:spPr>
          <a:xfrm>
            <a:off x="1461600" y="507276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UART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686" name="Straight Connector 74"/>
          <p:cNvSpPr/>
          <p:nvPr/>
        </p:nvSpPr>
        <p:spPr>
          <a:xfrm>
            <a:off x="2046960" y="48412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87" name="Straight Connector 75"/>
          <p:cNvSpPr/>
          <p:nvPr/>
        </p:nvSpPr>
        <p:spPr>
          <a:xfrm>
            <a:off x="2046960" y="523764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88" name="Rectangle 152"/>
          <p:cNvSpPr/>
          <p:nvPr/>
        </p:nvSpPr>
        <p:spPr>
          <a:xfrm rot="16200000">
            <a:off x="1329120" y="4485600"/>
            <a:ext cx="2273760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µDMA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689" name="Rectangle 154"/>
          <p:cNvSpPr/>
          <p:nvPr/>
        </p:nvSpPr>
        <p:spPr>
          <a:xfrm>
            <a:off x="1462680" y="250092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690" name="Straight Connector 155"/>
          <p:cNvSpPr/>
          <p:nvPr/>
        </p:nvSpPr>
        <p:spPr>
          <a:xfrm>
            <a:off x="2048040" y="266580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91" name="Straight Connector 156"/>
          <p:cNvSpPr/>
          <p:nvPr/>
        </p:nvSpPr>
        <p:spPr>
          <a:xfrm>
            <a:off x="115956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92" name="Rectangle 66"/>
          <p:cNvSpPr/>
          <p:nvPr/>
        </p:nvSpPr>
        <p:spPr>
          <a:xfrm>
            <a:off x="4439880" y="1786320"/>
            <a:ext cx="54792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ROM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693" name="Rectangle 119"/>
          <p:cNvSpPr/>
          <p:nvPr/>
        </p:nvSpPr>
        <p:spPr>
          <a:xfrm>
            <a:off x="2289240" y="2504160"/>
            <a:ext cx="2591640" cy="3297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Logarithmic Interconnect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694" name="Straight Connector 120"/>
          <p:cNvSpPr/>
          <p:nvPr/>
        </p:nvSpPr>
        <p:spPr>
          <a:xfrm flipV="1">
            <a:off x="2463480" y="23418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95" name="Straight Connector 122"/>
          <p:cNvSpPr/>
          <p:nvPr/>
        </p:nvSpPr>
        <p:spPr>
          <a:xfrm flipV="1">
            <a:off x="352008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96" name="Straight Connector 123"/>
          <p:cNvSpPr/>
          <p:nvPr/>
        </p:nvSpPr>
        <p:spPr>
          <a:xfrm flipV="1">
            <a:off x="466524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97" name="Straight Connector 157"/>
          <p:cNvSpPr/>
          <p:nvPr/>
        </p:nvSpPr>
        <p:spPr>
          <a:xfrm flipV="1">
            <a:off x="246348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98" name="Rectangle 131"/>
          <p:cNvSpPr/>
          <p:nvPr/>
        </p:nvSpPr>
        <p:spPr>
          <a:xfrm>
            <a:off x="3813120" y="3002760"/>
            <a:ext cx="722160" cy="528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rIns="27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RISC-V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699" name="Straight Connector 138"/>
          <p:cNvSpPr/>
          <p:nvPr/>
        </p:nvSpPr>
        <p:spPr>
          <a:xfrm flipV="1">
            <a:off x="398736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00" name="Straight Connector 139"/>
          <p:cNvSpPr/>
          <p:nvPr/>
        </p:nvSpPr>
        <p:spPr>
          <a:xfrm flipV="1">
            <a:off x="438912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01" name="Straight Connector 159"/>
          <p:cNvSpPr/>
          <p:nvPr/>
        </p:nvSpPr>
        <p:spPr>
          <a:xfrm flipV="1">
            <a:off x="2778480" y="2828520"/>
            <a:ext cx="360" cy="12009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02" name="Straight Connector 160"/>
          <p:cNvSpPr/>
          <p:nvPr/>
        </p:nvSpPr>
        <p:spPr>
          <a:xfrm flipV="1">
            <a:off x="2639160" y="4038480"/>
            <a:ext cx="139320" cy="2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03" name="Rectangle 141"/>
          <p:cNvSpPr/>
          <p:nvPr/>
        </p:nvSpPr>
        <p:spPr>
          <a:xfrm>
            <a:off x="2285640" y="2997000"/>
            <a:ext cx="365760" cy="401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 vert="vert270" rot="16200000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704" name="Rectangle 147"/>
          <p:cNvSpPr/>
          <p:nvPr/>
        </p:nvSpPr>
        <p:spPr>
          <a:xfrm>
            <a:off x="1463400" y="299700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GPIO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705" name="Straight Connector 149"/>
          <p:cNvSpPr/>
          <p:nvPr/>
        </p:nvSpPr>
        <p:spPr>
          <a:xfrm flipV="1">
            <a:off x="2048760" y="3140640"/>
            <a:ext cx="234360" cy="7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06" name="Straight Connector 161"/>
          <p:cNvSpPr/>
          <p:nvPr/>
        </p:nvSpPr>
        <p:spPr>
          <a:xfrm flipV="1">
            <a:off x="2463480" y="340488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07" name="Rectangle 68"/>
          <p:cNvSpPr/>
          <p:nvPr/>
        </p:nvSpPr>
        <p:spPr>
          <a:xfrm>
            <a:off x="1469160" y="342900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I2S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708" name="Straight Connector 70"/>
          <p:cNvSpPr/>
          <p:nvPr/>
        </p:nvSpPr>
        <p:spPr>
          <a:xfrm>
            <a:off x="2054520" y="35938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09" name="Rectangle 73"/>
          <p:cNvSpPr/>
          <p:nvPr/>
        </p:nvSpPr>
        <p:spPr>
          <a:xfrm>
            <a:off x="1469160" y="547488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SDIO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710" name="Straight Connector 75"/>
          <p:cNvSpPr/>
          <p:nvPr/>
        </p:nvSpPr>
        <p:spPr>
          <a:xfrm>
            <a:off x="2054520" y="56401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11" name="Elbow Connector 3"/>
          <p:cNvSpPr/>
          <p:nvPr/>
        </p:nvSpPr>
        <p:spPr>
          <a:xfrm>
            <a:off x="2651760" y="3197880"/>
            <a:ext cx="254160" cy="1709280"/>
          </a:xfrm>
          <a:prstGeom prst="bentConnector3">
            <a:avLst>
              <a:gd name="adj1" fmla="val 24952"/>
            </a:avLst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712" name="Rectangle 128"/>
          <p:cNvSpPr/>
          <p:nvPr/>
        </p:nvSpPr>
        <p:spPr>
          <a:xfrm rot="16200000">
            <a:off x="3705120" y="528624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EVENT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713" name="Straight Connector 134"/>
          <p:cNvSpPr/>
          <p:nvPr/>
        </p:nvSpPr>
        <p:spPr>
          <a:xfrm flipV="1">
            <a:off x="396936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14" name="Rectangle 128"/>
          <p:cNvSpPr/>
          <p:nvPr/>
        </p:nvSpPr>
        <p:spPr>
          <a:xfrm rot="16200000">
            <a:off x="4131360" y="529848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SoC CTRL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715" name="Straight Connector 134"/>
          <p:cNvSpPr/>
          <p:nvPr/>
        </p:nvSpPr>
        <p:spPr>
          <a:xfrm flipV="1">
            <a:off x="4395240" y="5085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16" name="Straight Connector 134"/>
          <p:cNvSpPr/>
          <p:nvPr/>
        </p:nvSpPr>
        <p:spPr>
          <a:xfrm flipV="1">
            <a:off x="4419000" y="4581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17" name="Rectangle 130"/>
          <p:cNvSpPr/>
          <p:nvPr/>
        </p:nvSpPr>
        <p:spPr>
          <a:xfrm rot="16200000">
            <a:off x="3699000" y="415836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INTC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718" name="Straight Connector 134"/>
          <p:cNvSpPr/>
          <p:nvPr/>
        </p:nvSpPr>
        <p:spPr>
          <a:xfrm flipV="1">
            <a:off x="3987000" y="459108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19" name="Straight Connector 134"/>
          <p:cNvSpPr/>
          <p:nvPr/>
        </p:nvSpPr>
        <p:spPr>
          <a:xfrm flipH="1" flipV="1">
            <a:off x="3263400" y="3524040"/>
            <a:ext cx="9360" cy="1199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20" name="Straight Connector 79"/>
          <p:cNvSpPr/>
          <p:nvPr/>
        </p:nvSpPr>
        <p:spPr>
          <a:xfrm flipV="1">
            <a:off x="3963240" y="3557520"/>
            <a:ext cx="360" cy="51948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1" name="Straight Connector 81"/>
          <p:cNvSpPr/>
          <p:nvPr/>
        </p:nvSpPr>
        <p:spPr>
          <a:xfrm flipV="1">
            <a:off x="4395240" y="3543480"/>
            <a:ext cx="0" cy="53640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2" name="Rectangle 131"/>
          <p:cNvSpPr/>
          <p:nvPr/>
        </p:nvSpPr>
        <p:spPr>
          <a:xfrm>
            <a:off x="2902320" y="2995920"/>
            <a:ext cx="722160" cy="52812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rIns="27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ACCEL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723" name="Straight Connector 138"/>
          <p:cNvSpPr/>
          <p:nvPr/>
        </p:nvSpPr>
        <p:spPr>
          <a:xfrm flipV="1">
            <a:off x="307656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24" name="Straight Connector 139"/>
          <p:cNvSpPr/>
          <p:nvPr/>
        </p:nvSpPr>
        <p:spPr>
          <a:xfrm flipV="1">
            <a:off x="321012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25" name="Straight Connector 138"/>
          <p:cNvSpPr/>
          <p:nvPr/>
        </p:nvSpPr>
        <p:spPr>
          <a:xfrm flipV="1">
            <a:off x="335412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26" name="Straight Connector 139"/>
          <p:cNvSpPr/>
          <p:nvPr/>
        </p:nvSpPr>
        <p:spPr>
          <a:xfrm flipV="1">
            <a:off x="348804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27" name="Straight Connector 156"/>
          <p:cNvSpPr/>
          <p:nvPr/>
        </p:nvSpPr>
        <p:spPr>
          <a:xfrm>
            <a:off x="115524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28" name="Straight Connector 156"/>
          <p:cNvSpPr/>
          <p:nvPr/>
        </p:nvSpPr>
        <p:spPr>
          <a:xfrm>
            <a:off x="115524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29" name="Straight Connector 156"/>
          <p:cNvSpPr/>
          <p:nvPr/>
        </p:nvSpPr>
        <p:spPr>
          <a:xfrm>
            <a:off x="115524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30" name="Straight Connector 156"/>
          <p:cNvSpPr/>
          <p:nvPr/>
        </p:nvSpPr>
        <p:spPr>
          <a:xfrm>
            <a:off x="115524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31" name="Straight Connector 156"/>
          <p:cNvSpPr/>
          <p:nvPr/>
        </p:nvSpPr>
        <p:spPr>
          <a:xfrm>
            <a:off x="115920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32" name="Straight Connector 156"/>
          <p:cNvSpPr/>
          <p:nvPr/>
        </p:nvSpPr>
        <p:spPr>
          <a:xfrm>
            <a:off x="115920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33" name="Straight Connector 156"/>
          <p:cNvSpPr/>
          <p:nvPr/>
        </p:nvSpPr>
        <p:spPr>
          <a:xfrm>
            <a:off x="115524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34" name="Trapezoid 112"/>
          <p:cNvSpPr/>
          <p:nvPr/>
        </p:nvSpPr>
        <p:spPr>
          <a:xfrm rot="16200000">
            <a:off x="-795960" y="4004280"/>
            <a:ext cx="3615840" cy="273960"/>
          </a:xfrm>
          <a:prstGeom prst="trapezoid">
            <a:avLst>
              <a:gd name="adj" fmla="val 25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Pad Control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735" name="Straight Connector 156"/>
          <p:cNvSpPr/>
          <p:nvPr/>
        </p:nvSpPr>
        <p:spPr>
          <a:xfrm>
            <a:off x="56520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36" name="Straight Connector 156"/>
          <p:cNvSpPr/>
          <p:nvPr/>
        </p:nvSpPr>
        <p:spPr>
          <a:xfrm>
            <a:off x="56088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37" name="Straight Connector 156"/>
          <p:cNvSpPr/>
          <p:nvPr/>
        </p:nvSpPr>
        <p:spPr>
          <a:xfrm>
            <a:off x="56088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38" name="Straight Connector 156"/>
          <p:cNvSpPr/>
          <p:nvPr/>
        </p:nvSpPr>
        <p:spPr>
          <a:xfrm>
            <a:off x="56088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39" name="Straight Connector 156"/>
          <p:cNvSpPr/>
          <p:nvPr/>
        </p:nvSpPr>
        <p:spPr>
          <a:xfrm>
            <a:off x="56088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40" name="Straight Connector 156"/>
          <p:cNvSpPr/>
          <p:nvPr/>
        </p:nvSpPr>
        <p:spPr>
          <a:xfrm>
            <a:off x="56448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41" name="Straight Connector 156"/>
          <p:cNvSpPr/>
          <p:nvPr/>
        </p:nvSpPr>
        <p:spPr>
          <a:xfrm>
            <a:off x="56448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42" name="Straight Connector 156"/>
          <p:cNvSpPr/>
          <p:nvPr/>
        </p:nvSpPr>
        <p:spPr>
          <a:xfrm>
            <a:off x="56088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43" name="Elbow Connector 122"/>
          <p:cNvSpPr/>
          <p:nvPr/>
        </p:nvSpPr>
        <p:spPr>
          <a:xfrm rot="5400000">
            <a:off x="2619360" y="4138200"/>
            <a:ext cx="168840" cy="3383280"/>
          </a:xfrm>
          <a:prstGeom prst="bentConnector3">
            <a:avLst>
              <a:gd name="adj1" fmla="val 200174"/>
            </a:avLst>
          </a:prstGeom>
          <a:noFill/>
          <a:ln cap="sq" w="22225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44" name="Straight Connector 120"/>
          <p:cNvSpPr/>
          <p:nvPr/>
        </p:nvSpPr>
        <p:spPr>
          <a:xfrm flipV="1">
            <a:off x="2593440" y="2229120"/>
            <a:ext cx="360" cy="2635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45" name="Straight Connector 120"/>
          <p:cNvSpPr/>
          <p:nvPr/>
        </p:nvSpPr>
        <p:spPr>
          <a:xfrm flipV="1">
            <a:off x="2737800" y="1981080"/>
            <a:ext cx="360" cy="5295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46" name="Straight Connector 120"/>
          <p:cNvSpPr/>
          <p:nvPr/>
        </p:nvSpPr>
        <p:spPr>
          <a:xfrm flipV="1">
            <a:off x="2877120" y="1783800"/>
            <a:ext cx="0" cy="726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47" name="Rectangle 118"/>
          <p:cNvSpPr/>
          <p:nvPr/>
        </p:nvSpPr>
        <p:spPr>
          <a:xfrm>
            <a:off x="2593440" y="152208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748" name="Rectangle 118"/>
          <p:cNvSpPr/>
          <p:nvPr/>
        </p:nvSpPr>
        <p:spPr>
          <a:xfrm>
            <a:off x="2445120" y="160452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749" name="Rectangle 118"/>
          <p:cNvSpPr/>
          <p:nvPr/>
        </p:nvSpPr>
        <p:spPr>
          <a:xfrm>
            <a:off x="2291760" y="170064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750" name="Rectangle 124"/>
          <p:cNvSpPr/>
          <p:nvPr/>
        </p:nvSpPr>
        <p:spPr>
          <a:xfrm>
            <a:off x="2163600" y="180468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751" name="TextBox 135"/>
          <p:cNvSpPr/>
          <p:nvPr/>
        </p:nvSpPr>
        <p:spPr>
          <a:xfrm rot="19092600">
            <a:off x="1611000" y="1535760"/>
            <a:ext cx="12236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Interleaved banks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752" name="Rectangle 124"/>
          <p:cNvSpPr/>
          <p:nvPr/>
        </p:nvSpPr>
        <p:spPr>
          <a:xfrm>
            <a:off x="3220920" y="178632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753" name="Rectangle 124"/>
          <p:cNvSpPr/>
          <p:nvPr/>
        </p:nvSpPr>
        <p:spPr>
          <a:xfrm>
            <a:off x="3821040" y="179100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754" name="Straight Connector 122"/>
          <p:cNvSpPr/>
          <p:nvPr/>
        </p:nvSpPr>
        <p:spPr>
          <a:xfrm flipV="1">
            <a:off x="4101480" y="231444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55" name="TextBox 139"/>
          <p:cNvSpPr/>
          <p:nvPr/>
        </p:nvSpPr>
        <p:spPr>
          <a:xfrm>
            <a:off x="3439080" y="1592280"/>
            <a:ext cx="9673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private banks</a:t>
            </a:r>
            <a:endParaRPr b="0" lang="it-IT" sz="1050" spc="-1" strike="noStrike">
              <a:latin typeface="Arial"/>
            </a:endParaRPr>
          </a:p>
        </p:txBody>
      </p:sp>
      <p:grpSp>
        <p:nvGrpSpPr>
          <p:cNvPr id="756" name="Group 140"/>
          <p:cNvGrpSpPr/>
          <p:nvPr/>
        </p:nvGrpSpPr>
        <p:grpSpPr>
          <a:xfrm>
            <a:off x="2493360" y="5733360"/>
            <a:ext cx="1482480" cy="257040"/>
            <a:chOff x="2493360" y="5733360"/>
            <a:chExt cx="1482480" cy="257040"/>
          </a:xfrm>
        </p:grpSpPr>
        <p:sp>
          <p:nvSpPr>
            <p:cNvPr id="757" name="Elbow Connector 141"/>
            <p:cNvSpPr/>
            <p:nvPr/>
          </p:nvSpPr>
          <p:spPr>
            <a:xfrm>
              <a:off x="2493360" y="5814720"/>
              <a:ext cx="1482480" cy="175680"/>
            </a:xfrm>
            <a:prstGeom prst="bentConnector3">
              <a:avLst>
                <a:gd name="adj1" fmla="val -101"/>
              </a:avLst>
            </a:prstGeom>
            <a:noFill/>
            <a:ln cap="sq" w="22225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58" name="Straight Arrow Connector 142"/>
            <p:cNvSpPr/>
            <p:nvPr/>
          </p:nvSpPr>
          <p:spPr>
            <a:xfrm flipV="1">
              <a:off x="3966120" y="5733360"/>
              <a:ext cx="2880" cy="243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cap="sq" w="22225">
              <a:solidFill>
                <a:srgbClr val="000000"/>
              </a:solidFill>
              <a:round/>
              <a:tailEnd len="med" type="triangle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759" name="Rectangle 100"/>
          <p:cNvSpPr/>
          <p:nvPr/>
        </p:nvSpPr>
        <p:spPr>
          <a:xfrm>
            <a:off x="6800400" y="2931840"/>
            <a:ext cx="4722120" cy="35280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TCDM Logarithmic Interconnect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760" name="Rectangle 130"/>
          <p:cNvSpPr/>
          <p:nvPr/>
        </p:nvSpPr>
        <p:spPr>
          <a:xfrm>
            <a:off x="7085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761" name="Rectangle 146"/>
          <p:cNvSpPr/>
          <p:nvPr/>
        </p:nvSpPr>
        <p:spPr>
          <a:xfrm>
            <a:off x="8093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762" name="Rectangle 153"/>
          <p:cNvSpPr/>
          <p:nvPr/>
        </p:nvSpPr>
        <p:spPr>
          <a:xfrm>
            <a:off x="9101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763" name="Rectangle 160"/>
          <p:cNvSpPr/>
          <p:nvPr/>
        </p:nvSpPr>
        <p:spPr>
          <a:xfrm>
            <a:off x="1068624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764" name="Rectangle 49"/>
          <p:cNvSpPr/>
          <p:nvPr/>
        </p:nvSpPr>
        <p:spPr>
          <a:xfrm>
            <a:off x="7058160" y="208872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765" name="Rectangle 50"/>
          <p:cNvSpPr/>
          <p:nvPr/>
        </p:nvSpPr>
        <p:spPr>
          <a:xfrm>
            <a:off x="7562160" y="208872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766" name="Rectangle 49"/>
          <p:cNvSpPr/>
          <p:nvPr/>
        </p:nvSpPr>
        <p:spPr>
          <a:xfrm>
            <a:off x="8061480" y="209196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767" name="Rectangle 50"/>
          <p:cNvSpPr/>
          <p:nvPr/>
        </p:nvSpPr>
        <p:spPr>
          <a:xfrm>
            <a:off x="8565480" y="209196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768" name="Rectangle 49"/>
          <p:cNvSpPr/>
          <p:nvPr/>
        </p:nvSpPr>
        <p:spPr>
          <a:xfrm>
            <a:off x="9064800" y="209196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769" name="Rectangle 50"/>
          <p:cNvSpPr/>
          <p:nvPr/>
        </p:nvSpPr>
        <p:spPr>
          <a:xfrm>
            <a:off x="9568800" y="209196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770" name="Rectangle 49"/>
          <p:cNvSpPr/>
          <p:nvPr/>
        </p:nvSpPr>
        <p:spPr>
          <a:xfrm>
            <a:off x="10587240" y="209052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771" name="Rectangle 50"/>
          <p:cNvSpPr/>
          <p:nvPr/>
        </p:nvSpPr>
        <p:spPr>
          <a:xfrm>
            <a:off x="11091240" y="209052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772" name="Straight Connector 156"/>
          <p:cNvSpPr/>
          <p:nvPr/>
        </p:nvSpPr>
        <p:spPr>
          <a:xfrm>
            <a:off x="727344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73" name="Straight Connector 156"/>
          <p:cNvSpPr/>
          <p:nvPr/>
        </p:nvSpPr>
        <p:spPr>
          <a:xfrm>
            <a:off x="777528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74" name="Straight Connector 156"/>
          <p:cNvSpPr/>
          <p:nvPr/>
        </p:nvSpPr>
        <p:spPr>
          <a:xfrm>
            <a:off x="827748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75" name="Straight Connector 156"/>
          <p:cNvSpPr/>
          <p:nvPr/>
        </p:nvSpPr>
        <p:spPr>
          <a:xfrm>
            <a:off x="877932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76" name="Straight Connector 156"/>
          <p:cNvSpPr/>
          <p:nvPr/>
        </p:nvSpPr>
        <p:spPr>
          <a:xfrm>
            <a:off x="928152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77" name="Straight Connector 156"/>
          <p:cNvSpPr/>
          <p:nvPr/>
        </p:nvSpPr>
        <p:spPr>
          <a:xfrm>
            <a:off x="978336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78" name="Straight Connector 156"/>
          <p:cNvSpPr/>
          <p:nvPr/>
        </p:nvSpPr>
        <p:spPr>
          <a:xfrm>
            <a:off x="10794600" y="267768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79" name="Straight Connector 156"/>
          <p:cNvSpPr/>
          <p:nvPr/>
        </p:nvSpPr>
        <p:spPr>
          <a:xfrm>
            <a:off x="11296440" y="267768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80" name="Straight Connector 156"/>
          <p:cNvSpPr/>
          <p:nvPr/>
        </p:nvSpPr>
        <p:spPr>
          <a:xfrm>
            <a:off x="7500600" y="443592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81" name="Straight Connector 156"/>
          <p:cNvSpPr/>
          <p:nvPr/>
        </p:nvSpPr>
        <p:spPr>
          <a:xfrm>
            <a:off x="8507880" y="443592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82" name="Straight Connector 156"/>
          <p:cNvSpPr/>
          <p:nvPr/>
        </p:nvSpPr>
        <p:spPr>
          <a:xfrm>
            <a:off x="9514800" y="4429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83" name="Straight Connector 156"/>
          <p:cNvSpPr/>
          <p:nvPr/>
        </p:nvSpPr>
        <p:spPr>
          <a:xfrm>
            <a:off x="11108520" y="443592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84" name="Straight Connector 156"/>
          <p:cNvSpPr/>
          <p:nvPr/>
        </p:nvSpPr>
        <p:spPr>
          <a:xfrm>
            <a:off x="748260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85" name="Straight Connector 156"/>
          <p:cNvSpPr/>
          <p:nvPr/>
        </p:nvSpPr>
        <p:spPr>
          <a:xfrm>
            <a:off x="848952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86" name="Straight Connector 156"/>
          <p:cNvSpPr/>
          <p:nvPr/>
        </p:nvSpPr>
        <p:spPr>
          <a:xfrm>
            <a:off x="9496800" y="329580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87" name="Straight Connector 156"/>
          <p:cNvSpPr/>
          <p:nvPr/>
        </p:nvSpPr>
        <p:spPr>
          <a:xfrm>
            <a:off x="1109016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88" name="Rectangle 49"/>
          <p:cNvSpPr/>
          <p:nvPr/>
        </p:nvSpPr>
        <p:spPr>
          <a:xfrm>
            <a:off x="7296120" y="469548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I$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789" name="Rectangle 49"/>
          <p:cNvSpPr/>
          <p:nvPr/>
        </p:nvSpPr>
        <p:spPr>
          <a:xfrm>
            <a:off x="8299440" y="469908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I$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790" name="Rectangle 49"/>
          <p:cNvSpPr/>
          <p:nvPr/>
        </p:nvSpPr>
        <p:spPr>
          <a:xfrm>
            <a:off x="9302760" y="469908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I$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791" name="Rectangle 49"/>
          <p:cNvSpPr/>
          <p:nvPr/>
        </p:nvSpPr>
        <p:spPr>
          <a:xfrm>
            <a:off x="10874880" y="470952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I$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792" name="Rectangle 144"/>
          <p:cNvSpPr/>
          <p:nvPr/>
        </p:nvSpPr>
        <p:spPr>
          <a:xfrm>
            <a:off x="5030640" y="5296320"/>
            <a:ext cx="61812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Multiple separate instruction streams (hardware threads):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MIMD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(Multiple Instruction Multiple Data) execution scheme...</a:t>
            </a:r>
            <a:endParaRPr b="0" lang="it-IT" sz="1800" spc="-1" strike="noStrike">
              <a:latin typeface="Arial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Rettangolo 5"/>
          <p:cNvSpPr/>
          <p:nvPr/>
        </p:nvSpPr>
        <p:spPr>
          <a:xfrm>
            <a:off x="5063760" y="1577520"/>
            <a:ext cx="6987240" cy="477864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solidFill>
              <a:srgbClr val="7c24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94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800" spc="-106" strike="noStrike">
                <a:solidFill>
                  <a:srgbClr val="c00000"/>
                </a:solidFill>
                <a:latin typeface="Calibri"/>
                <a:ea typeface="Roboto"/>
              </a:rPr>
              <a:t>PULP: A Parallel Ultra-Low-Power Computing Platform</a:t>
            </a:r>
            <a:endParaRPr b="0" lang="it-IT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5" name="PlaceHolder 2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2BE8F500-5DDB-4AA1-A7D8-C2E704D57CBB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  <p:sp>
        <p:nvSpPr>
          <p:cNvPr id="796" name="Rectangle 125"/>
          <p:cNvSpPr/>
          <p:nvPr/>
        </p:nvSpPr>
        <p:spPr>
          <a:xfrm>
            <a:off x="2906640" y="4742280"/>
            <a:ext cx="1704600" cy="329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797" name="Rectangle 126"/>
          <p:cNvSpPr/>
          <p:nvPr/>
        </p:nvSpPr>
        <p:spPr>
          <a:xfrm rot="16200000">
            <a:off x="2827440" y="528624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CLK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798" name="Rectangle 128"/>
          <p:cNvSpPr/>
          <p:nvPr/>
        </p:nvSpPr>
        <p:spPr>
          <a:xfrm rot="16200000">
            <a:off x="3267000" y="528480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TIMER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799" name="Rectangle 130"/>
          <p:cNvSpPr/>
          <p:nvPr/>
        </p:nvSpPr>
        <p:spPr>
          <a:xfrm rot="16200000">
            <a:off x="4131360" y="414828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800" name="Straight Connector 133"/>
          <p:cNvSpPr/>
          <p:nvPr/>
        </p:nvSpPr>
        <p:spPr>
          <a:xfrm flipV="1">
            <a:off x="309168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01" name="Straight Connector 134"/>
          <p:cNvSpPr/>
          <p:nvPr/>
        </p:nvSpPr>
        <p:spPr>
          <a:xfrm flipV="1">
            <a:off x="3531240" y="507096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02" name="Rectangle 68"/>
          <p:cNvSpPr/>
          <p:nvPr/>
        </p:nvSpPr>
        <p:spPr>
          <a:xfrm>
            <a:off x="1461600" y="388368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SPI 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803" name="Rectangle 69"/>
          <p:cNvSpPr/>
          <p:nvPr/>
        </p:nvSpPr>
        <p:spPr>
          <a:xfrm>
            <a:off x="1461600" y="428004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CAMIF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804" name="Straight Connector 70"/>
          <p:cNvSpPr/>
          <p:nvPr/>
        </p:nvSpPr>
        <p:spPr>
          <a:xfrm>
            <a:off x="2046960" y="404856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05" name="Straight Connector 71"/>
          <p:cNvSpPr/>
          <p:nvPr/>
        </p:nvSpPr>
        <p:spPr>
          <a:xfrm>
            <a:off x="2046960" y="44449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06" name="Rectangle 72"/>
          <p:cNvSpPr/>
          <p:nvPr/>
        </p:nvSpPr>
        <p:spPr>
          <a:xfrm>
            <a:off x="1461600" y="467640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I2C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807" name="Rectangle 73"/>
          <p:cNvSpPr/>
          <p:nvPr/>
        </p:nvSpPr>
        <p:spPr>
          <a:xfrm>
            <a:off x="1461600" y="507276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UART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808" name="Straight Connector 74"/>
          <p:cNvSpPr/>
          <p:nvPr/>
        </p:nvSpPr>
        <p:spPr>
          <a:xfrm>
            <a:off x="2046960" y="48412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09" name="Straight Connector 75"/>
          <p:cNvSpPr/>
          <p:nvPr/>
        </p:nvSpPr>
        <p:spPr>
          <a:xfrm>
            <a:off x="2046960" y="523764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10" name="Rectangle 152"/>
          <p:cNvSpPr/>
          <p:nvPr/>
        </p:nvSpPr>
        <p:spPr>
          <a:xfrm rot="16200000">
            <a:off x="1329120" y="4485600"/>
            <a:ext cx="2273760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µDMA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811" name="Rectangle 154"/>
          <p:cNvSpPr/>
          <p:nvPr/>
        </p:nvSpPr>
        <p:spPr>
          <a:xfrm>
            <a:off x="1462680" y="250092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812" name="Straight Connector 155"/>
          <p:cNvSpPr/>
          <p:nvPr/>
        </p:nvSpPr>
        <p:spPr>
          <a:xfrm>
            <a:off x="2048040" y="266580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13" name="Straight Connector 156"/>
          <p:cNvSpPr/>
          <p:nvPr/>
        </p:nvSpPr>
        <p:spPr>
          <a:xfrm>
            <a:off x="115956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14" name="Rectangle 66"/>
          <p:cNvSpPr/>
          <p:nvPr/>
        </p:nvSpPr>
        <p:spPr>
          <a:xfrm>
            <a:off x="4439880" y="1786320"/>
            <a:ext cx="54792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ROM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815" name="Rectangle 119"/>
          <p:cNvSpPr/>
          <p:nvPr/>
        </p:nvSpPr>
        <p:spPr>
          <a:xfrm>
            <a:off x="2289240" y="2504160"/>
            <a:ext cx="2591640" cy="3297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Logarithmic Interconnect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816" name="Straight Connector 120"/>
          <p:cNvSpPr/>
          <p:nvPr/>
        </p:nvSpPr>
        <p:spPr>
          <a:xfrm flipV="1">
            <a:off x="2463480" y="23418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17" name="Straight Connector 122"/>
          <p:cNvSpPr/>
          <p:nvPr/>
        </p:nvSpPr>
        <p:spPr>
          <a:xfrm flipV="1">
            <a:off x="352008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18" name="Straight Connector 123"/>
          <p:cNvSpPr/>
          <p:nvPr/>
        </p:nvSpPr>
        <p:spPr>
          <a:xfrm flipV="1">
            <a:off x="466524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19" name="Straight Connector 157"/>
          <p:cNvSpPr/>
          <p:nvPr/>
        </p:nvSpPr>
        <p:spPr>
          <a:xfrm flipV="1">
            <a:off x="246348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20" name="Rectangle 131"/>
          <p:cNvSpPr/>
          <p:nvPr/>
        </p:nvSpPr>
        <p:spPr>
          <a:xfrm>
            <a:off x="3813120" y="3002760"/>
            <a:ext cx="722160" cy="528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rIns="27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RISC-V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821" name="Straight Connector 138"/>
          <p:cNvSpPr/>
          <p:nvPr/>
        </p:nvSpPr>
        <p:spPr>
          <a:xfrm flipV="1">
            <a:off x="398736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22" name="Straight Connector 139"/>
          <p:cNvSpPr/>
          <p:nvPr/>
        </p:nvSpPr>
        <p:spPr>
          <a:xfrm flipV="1">
            <a:off x="438912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23" name="Straight Connector 159"/>
          <p:cNvSpPr/>
          <p:nvPr/>
        </p:nvSpPr>
        <p:spPr>
          <a:xfrm flipV="1">
            <a:off x="2778480" y="2828520"/>
            <a:ext cx="360" cy="12009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24" name="Straight Connector 160"/>
          <p:cNvSpPr/>
          <p:nvPr/>
        </p:nvSpPr>
        <p:spPr>
          <a:xfrm flipV="1">
            <a:off x="2639160" y="4038480"/>
            <a:ext cx="139320" cy="2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25" name="Rectangle 141"/>
          <p:cNvSpPr/>
          <p:nvPr/>
        </p:nvSpPr>
        <p:spPr>
          <a:xfrm>
            <a:off x="2285640" y="2997000"/>
            <a:ext cx="365760" cy="401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 vert="vert270" rot="16200000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826" name="Rectangle 147"/>
          <p:cNvSpPr/>
          <p:nvPr/>
        </p:nvSpPr>
        <p:spPr>
          <a:xfrm>
            <a:off x="1463400" y="299700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GPIO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827" name="Straight Connector 149"/>
          <p:cNvSpPr/>
          <p:nvPr/>
        </p:nvSpPr>
        <p:spPr>
          <a:xfrm flipV="1">
            <a:off x="2048760" y="3140640"/>
            <a:ext cx="234360" cy="7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28" name="Straight Connector 161"/>
          <p:cNvSpPr/>
          <p:nvPr/>
        </p:nvSpPr>
        <p:spPr>
          <a:xfrm flipV="1">
            <a:off x="2463480" y="340488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29" name="Rectangle 68"/>
          <p:cNvSpPr/>
          <p:nvPr/>
        </p:nvSpPr>
        <p:spPr>
          <a:xfrm>
            <a:off x="1469160" y="342900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I2S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830" name="Straight Connector 70"/>
          <p:cNvSpPr/>
          <p:nvPr/>
        </p:nvSpPr>
        <p:spPr>
          <a:xfrm>
            <a:off x="2054520" y="35938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31" name="Rectangle 73"/>
          <p:cNvSpPr/>
          <p:nvPr/>
        </p:nvSpPr>
        <p:spPr>
          <a:xfrm>
            <a:off x="1469160" y="547488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SDIO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832" name="Straight Connector 75"/>
          <p:cNvSpPr/>
          <p:nvPr/>
        </p:nvSpPr>
        <p:spPr>
          <a:xfrm>
            <a:off x="2054520" y="56401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33" name="Elbow Connector 3"/>
          <p:cNvSpPr/>
          <p:nvPr/>
        </p:nvSpPr>
        <p:spPr>
          <a:xfrm>
            <a:off x="2651760" y="3197880"/>
            <a:ext cx="254160" cy="1709280"/>
          </a:xfrm>
          <a:prstGeom prst="bentConnector3">
            <a:avLst>
              <a:gd name="adj1" fmla="val 24952"/>
            </a:avLst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834" name="Rectangle 128"/>
          <p:cNvSpPr/>
          <p:nvPr/>
        </p:nvSpPr>
        <p:spPr>
          <a:xfrm rot="16200000">
            <a:off x="3705120" y="528624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EVENT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835" name="Straight Connector 134"/>
          <p:cNvSpPr/>
          <p:nvPr/>
        </p:nvSpPr>
        <p:spPr>
          <a:xfrm flipV="1">
            <a:off x="396936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36" name="Rectangle 128"/>
          <p:cNvSpPr/>
          <p:nvPr/>
        </p:nvSpPr>
        <p:spPr>
          <a:xfrm rot="16200000">
            <a:off x="4131360" y="529848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SoC CTRL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837" name="Straight Connector 134"/>
          <p:cNvSpPr/>
          <p:nvPr/>
        </p:nvSpPr>
        <p:spPr>
          <a:xfrm flipV="1">
            <a:off x="4395240" y="5085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38" name="Straight Connector 134"/>
          <p:cNvSpPr/>
          <p:nvPr/>
        </p:nvSpPr>
        <p:spPr>
          <a:xfrm flipV="1">
            <a:off x="4419000" y="4581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39" name="Rectangle 130"/>
          <p:cNvSpPr/>
          <p:nvPr/>
        </p:nvSpPr>
        <p:spPr>
          <a:xfrm rot="16200000">
            <a:off x="3699000" y="415836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INTC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840" name="Straight Connector 134"/>
          <p:cNvSpPr/>
          <p:nvPr/>
        </p:nvSpPr>
        <p:spPr>
          <a:xfrm flipV="1">
            <a:off x="3987000" y="459108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41" name="Straight Connector 134"/>
          <p:cNvSpPr/>
          <p:nvPr/>
        </p:nvSpPr>
        <p:spPr>
          <a:xfrm flipH="1" flipV="1">
            <a:off x="3263400" y="3524040"/>
            <a:ext cx="9360" cy="1199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42" name="Straight Connector 79"/>
          <p:cNvSpPr/>
          <p:nvPr/>
        </p:nvSpPr>
        <p:spPr>
          <a:xfrm flipV="1">
            <a:off x="3963240" y="3557520"/>
            <a:ext cx="360" cy="51948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43" name="Straight Connector 81"/>
          <p:cNvSpPr/>
          <p:nvPr/>
        </p:nvSpPr>
        <p:spPr>
          <a:xfrm flipV="1">
            <a:off x="4395240" y="3543480"/>
            <a:ext cx="0" cy="53640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44" name="Rectangle 131"/>
          <p:cNvSpPr/>
          <p:nvPr/>
        </p:nvSpPr>
        <p:spPr>
          <a:xfrm>
            <a:off x="2902320" y="2995920"/>
            <a:ext cx="722160" cy="52812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rIns="27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ACCEL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845" name="Straight Connector 138"/>
          <p:cNvSpPr/>
          <p:nvPr/>
        </p:nvSpPr>
        <p:spPr>
          <a:xfrm flipV="1">
            <a:off x="307656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46" name="Straight Connector 139"/>
          <p:cNvSpPr/>
          <p:nvPr/>
        </p:nvSpPr>
        <p:spPr>
          <a:xfrm flipV="1">
            <a:off x="321012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47" name="Straight Connector 138"/>
          <p:cNvSpPr/>
          <p:nvPr/>
        </p:nvSpPr>
        <p:spPr>
          <a:xfrm flipV="1">
            <a:off x="335412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48" name="Straight Connector 139"/>
          <p:cNvSpPr/>
          <p:nvPr/>
        </p:nvSpPr>
        <p:spPr>
          <a:xfrm flipV="1">
            <a:off x="348804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49" name="Straight Connector 156"/>
          <p:cNvSpPr/>
          <p:nvPr/>
        </p:nvSpPr>
        <p:spPr>
          <a:xfrm>
            <a:off x="115524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50" name="Straight Connector 156"/>
          <p:cNvSpPr/>
          <p:nvPr/>
        </p:nvSpPr>
        <p:spPr>
          <a:xfrm>
            <a:off x="115524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51" name="Straight Connector 156"/>
          <p:cNvSpPr/>
          <p:nvPr/>
        </p:nvSpPr>
        <p:spPr>
          <a:xfrm>
            <a:off x="115524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52" name="Straight Connector 156"/>
          <p:cNvSpPr/>
          <p:nvPr/>
        </p:nvSpPr>
        <p:spPr>
          <a:xfrm>
            <a:off x="115524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53" name="Straight Connector 156"/>
          <p:cNvSpPr/>
          <p:nvPr/>
        </p:nvSpPr>
        <p:spPr>
          <a:xfrm>
            <a:off x="115920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54" name="Straight Connector 156"/>
          <p:cNvSpPr/>
          <p:nvPr/>
        </p:nvSpPr>
        <p:spPr>
          <a:xfrm>
            <a:off x="115920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55" name="Straight Connector 156"/>
          <p:cNvSpPr/>
          <p:nvPr/>
        </p:nvSpPr>
        <p:spPr>
          <a:xfrm>
            <a:off x="115524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56" name="Trapezoid 112"/>
          <p:cNvSpPr/>
          <p:nvPr/>
        </p:nvSpPr>
        <p:spPr>
          <a:xfrm rot="16200000">
            <a:off x="-795960" y="4004280"/>
            <a:ext cx="3615840" cy="273960"/>
          </a:xfrm>
          <a:prstGeom prst="trapezoid">
            <a:avLst>
              <a:gd name="adj" fmla="val 25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Pad Control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857" name="Straight Connector 156"/>
          <p:cNvSpPr/>
          <p:nvPr/>
        </p:nvSpPr>
        <p:spPr>
          <a:xfrm>
            <a:off x="56520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58" name="Straight Connector 156"/>
          <p:cNvSpPr/>
          <p:nvPr/>
        </p:nvSpPr>
        <p:spPr>
          <a:xfrm>
            <a:off x="56088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59" name="Straight Connector 156"/>
          <p:cNvSpPr/>
          <p:nvPr/>
        </p:nvSpPr>
        <p:spPr>
          <a:xfrm>
            <a:off x="56088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60" name="Straight Connector 156"/>
          <p:cNvSpPr/>
          <p:nvPr/>
        </p:nvSpPr>
        <p:spPr>
          <a:xfrm>
            <a:off x="56088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61" name="Straight Connector 156"/>
          <p:cNvSpPr/>
          <p:nvPr/>
        </p:nvSpPr>
        <p:spPr>
          <a:xfrm>
            <a:off x="56088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62" name="Straight Connector 156"/>
          <p:cNvSpPr/>
          <p:nvPr/>
        </p:nvSpPr>
        <p:spPr>
          <a:xfrm>
            <a:off x="56448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63" name="Straight Connector 156"/>
          <p:cNvSpPr/>
          <p:nvPr/>
        </p:nvSpPr>
        <p:spPr>
          <a:xfrm>
            <a:off x="56448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64" name="Straight Connector 156"/>
          <p:cNvSpPr/>
          <p:nvPr/>
        </p:nvSpPr>
        <p:spPr>
          <a:xfrm>
            <a:off x="56088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65" name="Elbow Connector 122"/>
          <p:cNvSpPr/>
          <p:nvPr/>
        </p:nvSpPr>
        <p:spPr>
          <a:xfrm rot="5400000">
            <a:off x="2619360" y="4138200"/>
            <a:ext cx="168840" cy="3383280"/>
          </a:xfrm>
          <a:prstGeom prst="bentConnector3">
            <a:avLst>
              <a:gd name="adj1" fmla="val 200174"/>
            </a:avLst>
          </a:prstGeom>
          <a:noFill/>
          <a:ln cap="sq" w="22225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66" name="Straight Connector 120"/>
          <p:cNvSpPr/>
          <p:nvPr/>
        </p:nvSpPr>
        <p:spPr>
          <a:xfrm flipV="1">
            <a:off x="2593440" y="2229120"/>
            <a:ext cx="360" cy="2635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67" name="Straight Connector 120"/>
          <p:cNvSpPr/>
          <p:nvPr/>
        </p:nvSpPr>
        <p:spPr>
          <a:xfrm flipV="1">
            <a:off x="2737800" y="1981080"/>
            <a:ext cx="360" cy="5295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68" name="Straight Connector 120"/>
          <p:cNvSpPr/>
          <p:nvPr/>
        </p:nvSpPr>
        <p:spPr>
          <a:xfrm flipV="1">
            <a:off x="2877120" y="1783800"/>
            <a:ext cx="0" cy="726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69" name="Rectangle 118"/>
          <p:cNvSpPr/>
          <p:nvPr/>
        </p:nvSpPr>
        <p:spPr>
          <a:xfrm>
            <a:off x="2593440" y="152208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870" name="Rectangle 118"/>
          <p:cNvSpPr/>
          <p:nvPr/>
        </p:nvSpPr>
        <p:spPr>
          <a:xfrm>
            <a:off x="2445120" y="160452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871" name="Rectangle 118"/>
          <p:cNvSpPr/>
          <p:nvPr/>
        </p:nvSpPr>
        <p:spPr>
          <a:xfrm>
            <a:off x="2291760" y="170064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872" name="Rectangle 124"/>
          <p:cNvSpPr/>
          <p:nvPr/>
        </p:nvSpPr>
        <p:spPr>
          <a:xfrm>
            <a:off x="2163600" y="180468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873" name="TextBox 135"/>
          <p:cNvSpPr/>
          <p:nvPr/>
        </p:nvSpPr>
        <p:spPr>
          <a:xfrm rot="19092600">
            <a:off x="1611000" y="1535760"/>
            <a:ext cx="12236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Interleaved banks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874" name="Rectangle 124"/>
          <p:cNvSpPr/>
          <p:nvPr/>
        </p:nvSpPr>
        <p:spPr>
          <a:xfrm>
            <a:off x="3220920" y="178632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875" name="Rectangle 124"/>
          <p:cNvSpPr/>
          <p:nvPr/>
        </p:nvSpPr>
        <p:spPr>
          <a:xfrm>
            <a:off x="3821040" y="179100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876" name="Straight Connector 122"/>
          <p:cNvSpPr/>
          <p:nvPr/>
        </p:nvSpPr>
        <p:spPr>
          <a:xfrm flipV="1">
            <a:off x="4101480" y="231444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77" name="TextBox 139"/>
          <p:cNvSpPr/>
          <p:nvPr/>
        </p:nvSpPr>
        <p:spPr>
          <a:xfrm>
            <a:off x="3439080" y="1592280"/>
            <a:ext cx="9673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private banks</a:t>
            </a:r>
            <a:endParaRPr b="0" lang="it-IT" sz="1050" spc="-1" strike="noStrike">
              <a:latin typeface="Arial"/>
            </a:endParaRPr>
          </a:p>
        </p:txBody>
      </p:sp>
      <p:grpSp>
        <p:nvGrpSpPr>
          <p:cNvPr id="878" name="Group 140"/>
          <p:cNvGrpSpPr/>
          <p:nvPr/>
        </p:nvGrpSpPr>
        <p:grpSpPr>
          <a:xfrm>
            <a:off x="2493360" y="5733360"/>
            <a:ext cx="1482480" cy="257040"/>
            <a:chOff x="2493360" y="5733360"/>
            <a:chExt cx="1482480" cy="257040"/>
          </a:xfrm>
        </p:grpSpPr>
        <p:sp>
          <p:nvSpPr>
            <p:cNvPr id="879" name="Elbow Connector 141"/>
            <p:cNvSpPr/>
            <p:nvPr/>
          </p:nvSpPr>
          <p:spPr>
            <a:xfrm>
              <a:off x="2493360" y="5814720"/>
              <a:ext cx="1482480" cy="175680"/>
            </a:xfrm>
            <a:prstGeom prst="bentConnector3">
              <a:avLst>
                <a:gd name="adj1" fmla="val -101"/>
              </a:avLst>
            </a:prstGeom>
            <a:noFill/>
            <a:ln cap="sq" w="22225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80" name="Straight Arrow Connector 142"/>
            <p:cNvSpPr/>
            <p:nvPr/>
          </p:nvSpPr>
          <p:spPr>
            <a:xfrm flipV="1">
              <a:off x="3966120" y="5733360"/>
              <a:ext cx="2880" cy="243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cap="sq" w="22225">
              <a:solidFill>
                <a:srgbClr val="000000"/>
              </a:solidFill>
              <a:round/>
              <a:tailEnd len="med" type="triangle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881" name="Rectangle 100"/>
          <p:cNvSpPr/>
          <p:nvPr/>
        </p:nvSpPr>
        <p:spPr>
          <a:xfrm>
            <a:off x="6800400" y="2931840"/>
            <a:ext cx="4722120" cy="35280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TCDM Logarithmic Interconnect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882" name="Rectangle 130"/>
          <p:cNvSpPr/>
          <p:nvPr/>
        </p:nvSpPr>
        <p:spPr>
          <a:xfrm>
            <a:off x="7085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883" name="Rectangle 146"/>
          <p:cNvSpPr/>
          <p:nvPr/>
        </p:nvSpPr>
        <p:spPr>
          <a:xfrm>
            <a:off x="8093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884" name="Rectangle 153"/>
          <p:cNvSpPr/>
          <p:nvPr/>
        </p:nvSpPr>
        <p:spPr>
          <a:xfrm>
            <a:off x="9101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885" name="Rectangle 160"/>
          <p:cNvSpPr/>
          <p:nvPr/>
        </p:nvSpPr>
        <p:spPr>
          <a:xfrm>
            <a:off x="1068624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886" name="Rectangle 18"/>
          <p:cNvSpPr/>
          <p:nvPr/>
        </p:nvSpPr>
        <p:spPr>
          <a:xfrm>
            <a:off x="7085880" y="4682160"/>
            <a:ext cx="4436280" cy="54684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Shared </a:t>
            </a:r>
            <a:endParaRPr b="0" lang="it-IT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Instruction Cache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887" name="Rectangle 18"/>
          <p:cNvSpPr/>
          <p:nvPr/>
        </p:nvSpPr>
        <p:spPr>
          <a:xfrm>
            <a:off x="7346160" y="4235400"/>
            <a:ext cx="360000" cy="204120"/>
          </a:xfrm>
          <a:prstGeom prst="rect">
            <a:avLst/>
          </a:prstGeom>
          <a:solidFill>
            <a:srgbClr val="1f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L0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888" name="Rectangle 18"/>
          <p:cNvSpPr/>
          <p:nvPr/>
        </p:nvSpPr>
        <p:spPr>
          <a:xfrm>
            <a:off x="8349840" y="4237200"/>
            <a:ext cx="360000" cy="204120"/>
          </a:xfrm>
          <a:prstGeom prst="rect">
            <a:avLst/>
          </a:prstGeom>
          <a:solidFill>
            <a:srgbClr val="1f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L0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889" name="Rectangle 18"/>
          <p:cNvSpPr/>
          <p:nvPr/>
        </p:nvSpPr>
        <p:spPr>
          <a:xfrm>
            <a:off x="9359280" y="4236480"/>
            <a:ext cx="360000" cy="204120"/>
          </a:xfrm>
          <a:prstGeom prst="rect">
            <a:avLst/>
          </a:prstGeom>
          <a:solidFill>
            <a:srgbClr val="1f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L0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890" name="Rectangle 18"/>
          <p:cNvSpPr/>
          <p:nvPr/>
        </p:nvSpPr>
        <p:spPr>
          <a:xfrm>
            <a:off x="10946520" y="4236480"/>
            <a:ext cx="360000" cy="204120"/>
          </a:xfrm>
          <a:prstGeom prst="rect">
            <a:avLst/>
          </a:prstGeom>
          <a:solidFill>
            <a:srgbClr val="1f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L0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891" name="Rectangle 49"/>
          <p:cNvSpPr/>
          <p:nvPr/>
        </p:nvSpPr>
        <p:spPr>
          <a:xfrm>
            <a:off x="7058160" y="208872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892" name="Rectangle 50"/>
          <p:cNvSpPr/>
          <p:nvPr/>
        </p:nvSpPr>
        <p:spPr>
          <a:xfrm>
            <a:off x="7562160" y="208872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893" name="Rectangle 49"/>
          <p:cNvSpPr/>
          <p:nvPr/>
        </p:nvSpPr>
        <p:spPr>
          <a:xfrm>
            <a:off x="8061480" y="209196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894" name="Rectangle 50"/>
          <p:cNvSpPr/>
          <p:nvPr/>
        </p:nvSpPr>
        <p:spPr>
          <a:xfrm>
            <a:off x="8565480" y="209196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895" name="Rectangle 49"/>
          <p:cNvSpPr/>
          <p:nvPr/>
        </p:nvSpPr>
        <p:spPr>
          <a:xfrm>
            <a:off x="9064800" y="209196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896" name="Rectangle 50"/>
          <p:cNvSpPr/>
          <p:nvPr/>
        </p:nvSpPr>
        <p:spPr>
          <a:xfrm>
            <a:off x="9568800" y="209196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897" name="Rectangle 49"/>
          <p:cNvSpPr/>
          <p:nvPr/>
        </p:nvSpPr>
        <p:spPr>
          <a:xfrm>
            <a:off x="10587240" y="209052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898" name="Rectangle 50"/>
          <p:cNvSpPr/>
          <p:nvPr/>
        </p:nvSpPr>
        <p:spPr>
          <a:xfrm>
            <a:off x="11091240" y="209052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899" name="Straight Connector 156"/>
          <p:cNvSpPr/>
          <p:nvPr/>
        </p:nvSpPr>
        <p:spPr>
          <a:xfrm>
            <a:off x="727344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00" name="Straight Connector 156"/>
          <p:cNvSpPr/>
          <p:nvPr/>
        </p:nvSpPr>
        <p:spPr>
          <a:xfrm>
            <a:off x="777528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01" name="Straight Connector 156"/>
          <p:cNvSpPr/>
          <p:nvPr/>
        </p:nvSpPr>
        <p:spPr>
          <a:xfrm>
            <a:off x="827748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02" name="Straight Connector 156"/>
          <p:cNvSpPr/>
          <p:nvPr/>
        </p:nvSpPr>
        <p:spPr>
          <a:xfrm>
            <a:off x="877932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03" name="Straight Connector 156"/>
          <p:cNvSpPr/>
          <p:nvPr/>
        </p:nvSpPr>
        <p:spPr>
          <a:xfrm>
            <a:off x="928152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04" name="Straight Connector 156"/>
          <p:cNvSpPr/>
          <p:nvPr/>
        </p:nvSpPr>
        <p:spPr>
          <a:xfrm>
            <a:off x="978336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05" name="Straight Connector 156"/>
          <p:cNvSpPr/>
          <p:nvPr/>
        </p:nvSpPr>
        <p:spPr>
          <a:xfrm>
            <a:off x="10794600" y="267768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06" name="Straight Connector 156"/>
          <p:cNvSpPr/>
          <p:nvPr/>
        </p:nvSpPr>
        <p:spPr>
          <a:xfrm>
            <a:off x="11296440" y="267768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07" name="Straight Connector 156"/>
          <p:cNvSpPr/>
          <p:nvPr/>
        </p:nvSpPr>
        <p:spPr>
          <a:xfrm>
            <a:off x="7500600" y="443592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08" name="Straight Connector 156"/>
          <p:cNvSpPr/>
          <p:nvPr/>
        </p:nvSpPr>
        <p:spPr>
          <a:xfrm>
            <a:off x="8507880" y="443592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09" name="Straight Connector 156"/>
          <p:cNvSpPr/>
          <p:nvPr/>
        </p:nvSpPr>
        <p:spPr>
          <a:xfrm>
            <a:off x="9514800" y="4429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10" name="Straight Connector 156"/>
          <p:cNvSpPr/>
          <p:nvPr/>
        </p:nvSpPr>
        <p:spPr>
          <a:xfrm>
            <a:off x="11108520" y="443592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11" name="Straight Connector 156"/>
          <p:cNvSpPr/>
          <p:nvPr/>
        </p:nvSpPr>
        <p:spPr>
          <a:xfrm>
            <a:off x="748260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12" name="Straight Connector 156"/>
          <p:cNvSpPr/>
          <p:nvPr/>
        </p:nvSpPr>
        <p:spPr>
          <a:xfrm>
            <a:off x="848952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13" name="Straight Connector 156"/>
          <p:cNvSpPr/>
          <p:nvPr/>
        </p:nvSpPr>
        <p:spPr>
          <a:xfrm>
            <a:off x="9496800" y="329580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14" name="Straight Connector 156"/>
          <p:cNvSpPr/>
          <p:nvPr/>
        </p:nvSpPr>
        <p:spPr>
          <a:xfrm>
            <a:off x="1109016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15" name="Rectangle 144"/>
          <p:cNvSpPr/>
          <p:nvPr/>
        </p:nvSpPr>
        <p:spPr>
          <a:xfrm>
            <a:off x="5030640" y="5296320"/>
            <a:ext cx="60249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Multiple separate instruction streams (hardware threads):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MIMD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(Multiple Instruction Multiple Data) execution scheme... but optimized for a single parallel program (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SPMD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it-IT" sz="1800" spc="-1" strike="noStrike">
              <a:latin typeface="Arial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Rettangolo 5"/>
          <p:cNvSpPr/>
          <p:nvPr/>
        </p:nvSpPr>
        <p:spPr>
          <a:xfrm>
            <a:off x="5063760" y="1577520"/>
            <a:ext cx="6987240" cy="477864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solidFill>
              <a:srgbClr val="7c24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17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800" spc="-106" strike="noStrike">
                <a:solidFill>
                  <a:srgbClr val="c00000"/>
                </a:solidFill>
                <a:latin typeface="Calibri"/>
                <a:ea typeface="Roboto"/>
              </a:rPr>
              <a:t>PULP: A Parallel Ultra-Low-Power Computing Platform</a:t>
            </a:r>
            <a:endParaRPr b="0" lang="it-IT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8" name="PlaceHolder 2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B9A9B8CD-195E-444F-8900-CFFC5EE75B84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  <p:sp>
        <p:nvSpPr>
          <p:cNvPr id="919" name="Rectangle 125"/>
          <p:cNvSpPr/>
          <p:nvPr/>
        </p:nvSpPr>
        <p:spPr>
          <a:xfrm>
            <a:off x="2906640" y="4742280"/>
            <a:ext cx="1704600" cy="329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20" name="Rectangle 126"/>
          <p:cNvSpPr/>
          <p:nvPr/>
        </p:nvSpPr>
        <p:spPr>
          <a:xfrm rot="16200000">
            <a:off x="2827440" y="528624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CLK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21" name="Rectangle 128"/>
          <p:cNvSpPr/>
          <p:nvPr/>
        </p:nvSpPr>
        <p:spPr>
          <a:xfrm rot="16200000">
            <a:off x="3267000" y="528480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TIMER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22" name="Rectangle 130"/>
          <p:cNvSpPr/>
          <p:nvPr/>
        </p:nvSpPr>
        <p:spPr>
          <a:xfrm rot="16200000">
            <a:off x="4131360" y="414828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23" name="Straight Connector 133"/>
          <p:cNvSpPr/>
          <p:nvPr/>
        </p:nvSpPr>
        <p:spPr>
          <a:xfrm flipV="1">
            <a:off x="309168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24" name="Straight Connector 134"/>
          <p:cNvSpPr/>
          <p:nvPr/>
        </p:nvSpPr>
        <p:spPr>
          <a:xfrm flipV="1">
            <a:off x="3531240" y="507096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25" name="Rectangle 68"/>
          <p:cNvSpPr/>
          <p:nvPr/>
        </p:nvSpPr>
        <p:spPr>
          <a:xfrm>
            <a:off x="1461600" y="388368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SPI 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26" name="Rectangle 69"/>
          <p:cNvSpPr/>
          <p:nvPr/>
        </p:nvSpPr>
        <p:spPr>
          <a:xfrm>
            <a:off x="1461600" y="428004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CAMIF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27" name="Straight Connector 70"/>
          <p:cNvSpPr/>
          <p:nvPr/>
        </p:nvSpPr>
        <p:spPr>
          <a:xfrm>
            <a:off x="2046960" y="404856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28" name="Straight Connector 71"/>
          <p:cNvSpPr/>
          <p:nvPr/>
        </p:nvSpPr>
        <p:spPr>
          <a:xfrm>
            <a:off x="2046960" y="44449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29" name="Rectangle 72"/>
          <p:cNvSpPr/>
          <p:nvPr/>
        </p:nvSpPr>
        <p:spPr>
          <a:xfrm>
            <a:off x="1461600" y="467640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I2C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30" name="Rectangle 73"/>
          <p:cNvSpPr/>
          <p:nvPr/>
        </p:nvSpPr>
        <p:spPr>
          <a:xfrm>
            <a:off x="1461600" y="507276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UART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31" name="Straight Connector 74"/>
          <p:cNvSpPr/>
          <p:nvPr/>
        </p:nvSpPr>
        <p:spPr>
          <a:xfrm>
            <a:off x="2046960" y="48412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32" name="Straight Connector 75"/>
          <p:cNvSpPr/>
          <p:nvPr/>
        </p:nvSpPr>
        <p:spPr>
          <a:xfrm>
            <a:off x="2046960" y="523764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33" name="Rectangle 152"/>
          <p:cNvSpPr/>
          <p:nvPr/>
        </p:nvSpPr>
        <p:spPr>
          <a:xfrm rot="16200000">
            <a:off x="1329120" y="4485600"/>
            <a:ext cx="2273760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µDMA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34" name="Rectangle 154"/>
          <p:cNvSpPr/>
          <p:nvPr/>
        </p:nvSpPr>
        <p:spPr>
          <a:xfrm>
            <a:off x="1462680" y="250092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35" name="Straight Connector 155"/>
          <p:cNvSpPr/>
          <p:nvPr/>
        </p:nvSpPr>
        <p:spPr>
          <a:xfrm>
            <a:off x="2048040" y="266580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36" name="Straight Connector 156"/>
          <p:cNvSpPr/>
          <p:nvPr/>
        </p:nvSpPr>
        <p:spPr>
          <a:xfrm>
            <a:off x="115956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37" name="Rectangle 66"/>
          <p:cNvSpPr/>
          <p:nvPr/>
        </p:nvSpPr>
        <p:spPr>
          <a:xfrm>
            <a:off x="4439880" y="1786320"/>
            <a:ext cx="54792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ROM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38" name="Rectangle 119"/>
          <p:cNvSpPr/>
          <p:nvPr/>
        </p:nvSpPr>
        <p:spPr>
          <a:xfrm>
            <a:off x="2289240" y="2504160"/>
            <a:ext cx="2591640" cy="3297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Logarithmic Interconnect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39" name="Straight Connector 120"/>
          <p:cNvSpPr/>
          <p:nvPr/>
        </p:nvSpPr>
        <p:spPr>
          <a:xfrm flipV="1">
            <a:off x="2463480" y="23418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40" name="Straight Connector 122"/>
          <p:cNvSpPr/>
          <p:nvPr/>
        </p:nvSpPr>
        <p:spPr>
          <a:xfrm flipV="1">
            <a:off x="352008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41" name="Straight Connector 123"/>
          <p:cNvSpPr/>
          <p:nvPr/>
        </p:nvSpPr>
        <p:spPr>
          <a:xfrm flipV="1">
            <a:off x="466524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42" name="Straight Connector 157"/>
          <p:cNvSpPr/>
          <p:nvPr/>
        </p:nvSpPr>
        <p:spPr>
          <a:xfrm flipV="1">
            <a:off x="246348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43" name="Rectangle 131"/>
          <p:cNvSpPr/>
          <p:nvPr/>
        </p:nvSpPr>
        <p:spPr>
          <a:xfrm>
            <a:off x="3813120" y="3002760"/>
            <a:ext cx="722160" cy="528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rIns="27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RISC-V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44" name="Straight Connector 138"/>
          <p:cNvSpPr/>
          <p:nvPr/>
        </p:nvSpPr>
        <p:spPr>
          <a:xfrm flipV="1">
            <a:off x="398736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45" name="Straight Connector 139"/>
          <p:cNvSpPr/>
          <p:nvPr/>
        </p:nvSpPr>
        <p:spPr>
          <a:xfrm flipV="1">
            <a:off x="438912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46" name="Straight Connector 159"/>
          <p:cNvSpPr/>
          <p:nvPr/>
        </p:nvSpPr>
        <p:spPr>
          <a:xfrm flipV="1">
            <a:off x="2778480" y="2828520"/>
            <a:ext cx="360" cy="12009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47" name="Straight Connector 160"/>
          <p:cNvSpPr/>
          <p:nvPr/>
        </p:nvSpPr>
        <p:spPr>
          <a:xfrm flipV="1">
            <a:off x="2639160" y="4038480"/>
            <a:ext cx="139320" cy="2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48" name="Rectangle 141"/>
          <p:cNvSpPr/>
          <p:nvPr/>
        </p:nvSpPr>
        <p:spPr>
          <a:xfrm>
            <a:off x="2285640" y="2997000"/>
            <a:ext cx="365760" cy="401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 vert="vert270" rot="16200000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49" name="Rectangle 147"/>
          <p:cNvSpPr/>
          <p:nvPr/>
        </p:nvSpPr>
        <p:spPr>
          <a:xfrm>
            <a:off x="1463400" y="299700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GPIO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50" name="Straight Connector 149"/>
          <p:cNvSpPr/>
          <p:nvPr/>
        </p:nvSpPr>
        <p:spPr>
          <a:xfrm flipV="1">
            <a:off x="2048760" y="3140640"/>
            <a:ext cx="234360" cy="7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51" name="Straight Connector 161"/>
          <p:cNvSpPr/>
          <p:nvPr/>
        </p:nvSpPr>
        <p:spPr>
          <a:xfrm flipV="1">
            <a:off x="2463480" y="340488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52" name="Rectangle 68"/>
          <p:cNvSpPr/>
          <p:nvPr/>
        </p:nvSpPr>
        <p:spPr>
          <a:xfrm>
            <a:off x="1469160" y="342900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I2S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53" name="Straight Connector 70"/>
          <p:cNvSpPr/>
          <p:nvPr/>
        </p:nvSpPr>
        <p:spPr>
          <a:xfrm>
            <a:off x="2054520" y="35938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54" name="Rectangle 73"/>
          <p:cNvSpPr/>
          <p:nvPr/>
        </p:nvSpPr>
        <p:spPr>
          <a:xfrm>
            <a:off x="1469160" y="547488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SDIO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55" name="Straight Connector 75"/>
          <p:cNvSpPr/>
          <p:nvPr/>
        </p:nvSpPr>
        <p:spPr>
          <a:xfrm>
            <a:off x="2054520" y="56401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56" name="Elbow Connector 3"/>
          <p:cNvSpPr/>
          <p:nvPr/>
        </p:nvSpPr>
        <p:spPr>
          <a:xfrm>
            <a:off x="2651760" y="3197880"/>
            <a:ext cx="254160" cy="1709280"/>
          </a:xfrm>
          <a:prstGeom prst="bentConnector3">
            <a:avLst>
              <a:gd name="adj1" fmla="val 24952"/>
            </a:avLst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957" name="Rectangle 128"/>
          <p:cNvSpPr/>
          <p:nvPr/>
        </p:nvSpPr>
        <p:spPr>
          <a:xfrm rot="16200000">
            <a:off x="3705120" y="528624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EVENT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58" name="Straight Connector 134"/>
          <p:cNvSpPr/>
          <p:nvPr/>
        </p:nvSpPr>
        <p:spPr>
          <a:xfrm flipV="1">
            <a:off x="396936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59" name="Rectangle 128"/>
          <p:cNvSpPr/>
          <p:nvPr/>
        </p:nvSpPr>
        <p:spPr>
          <a:xfrm rot="16200000">
            <a:off x="4131360" y="529848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SoC CTRL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60" name="Straight Connector 134"/>
          <p:cNvSpPr/>
          <p:nvPr/>
        </p:nvSpPr>
        <p:spPr>
          <a:xfrm flipV="1">
            <a:off x="4395240" y="5085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61" name="Straight Connector 134"/>
          <p:cNvSpPr/>
          <p:nvPr/>
        </p:nvSpPr>
        <p:spPr>
          <a:xfrm flipV="1">
            <a:off x="4419000" y="4581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62" name="Rectangle 130"/>
          <p:cNvSpPr/>
          <p:nvPr/>
        </p:nvSpPr>
        <p:spPr>
          <a:xfrm rot="16200000">
            <a:off x="3699000" y="415836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INTC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63" name="Straight Connector 134"/>
          <p:cNvSpPr/>
          <p:nvPr/>
        </p:nvSpPr>
        <p:spPr>
          <a:xfrm flipV="1">
            <a:off x="3987000" y="459108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64" name="Straight Connector 134"/>
          <p:cNvSpPr/>
          <p:nvPr/>
        </p:nvSpPr>
        <p:spPr>
          <a:xfrm flipH="1" flipV="1">
            <a:off x="3263400" y="3524040"/>
            <a:ext cx="9360" cy="1199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65" name="Straight Connector 79"/>
          <p:cNvSpPr/>
          <p:nvPr/>
        </p:nvSpPr>
        <p:spPr>
          <a:xfrm flipV="1">
            <a:off x="3963240" y="3557520"/>
            <a:ext cx="360" cy="51948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66" name="Straight Connector 81"/>
          <p:cNvSpPr/>
          <p:nvPr/>
        </p:nvSpPr>
        <p:spPr>
          <a:xfrm flipV="1">
            <a:off x="4395240" y="3543480"/>
            <a:ext cx="0" cy="53640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67" name="Rectangle 131"/>
          <p:cNvSpPr/>
          <p:nvPr/>
        </p:nvSpPr>
        <p:spPr>
          <a:xfrm>
            <a:off x="2902320" y="2995920"/>
            <a:ext cx="722160" cy="52812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rIns="27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ACCEL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68" name="Straight Connector 138"/>
          <p:cNvSpPr/>
          <p:nvPr/>
        </p:nvSpPr>
        <p:spPr>
          <a:xfrm flipV="1">
            <a:off x="307656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69" name="Straight Connector 139"/>
          <p:cNvSpPr/>
          <p:nvPr/>
        </p:nvSpPr>
        <p:spPr>
          <a:xfrm flipV="1">
            <a:off x="321012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70" name="Straight Connector 138"/>
          <p:cNvSpPr/>
          <p:nvPr/>
        </p:nvSpPr>
        <p:spPr>
          <a:xfrm flipV="1">
            <a:off x="335412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71" name="Straight Connector 139"/>
          <p:cNvSpPr/>
          <p:nvPr/>
        </p:nvSpPr>
        <p:spPr>
          <a:xfrm flipV="1">
            <a:off x="348804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72" name="Straight Connector 156"/>
          <p:cNvSpPr/>
          <p:nvPr/>
        </p:nvSpPr>
        <p:spPr>
          <a:xfrm>
            <a:off x="115524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73" name="Straight Connector 156"/>
          <p:cNvSpPr/>
          <p:nvPr/>
        </p:nvSpPr>
        <p:spPr>
          <a:xfrm>
            <a:off x="115524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74" name="Straight Connector 156"/>
          <p:cNvSpPr/>
          <p:nvPr/>
        </p:nvSpPr>
        <p:spPr>
          <a:xfrm>
            <a:off x="115524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75" name="Straight Connector 156"/>
          <p:cNvSpPr/>
          <p:nvPr/>
        </p:nvSpPr>
        <p:spPr>
          <a:xfrm>
            <a:off x="115524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76" name="Straight Connector 156"/>
          <p:cNvSpPr/>
          <p:nvPr/>
        </p:nvSpPr>
        <p:spPr>
          <a:xfrm>
            <a:off x="115920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77" name="Straight Connector 156"/>
          <p:cNvSpPr/>
          <p:nvPr/>
        </p:nvSpPr>
        <p:spPr>
          <a:xfrm>
            <a:off x="115920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78" name="Straight Connector 156"/>
          <p:cNvSpPr/>
          <p:nvPr/>
        </p:nvSpPr>
        <p:spPr>
          <a:xfrm>
            <a:off x="115524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79" name="Trapezoid 112"/>
          <p:cNvSpPr/>
          <p:nvPr/>
        </p:nvSpPr>
        <p:spPr>
          <a:xfrm rot="16200000">
            <a:off x="-795960" y="4004280"/>
            <a:ext cx="3615840" cy="273960"/>
          </a:xfrm>
          <a:prstGeom prst="trapezoid">
            <a:avLst>
              <a:gd name="adj" fmla="val 25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Pad Control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80" name="Straight Connector 156"/>
          <p:cNvSpPr/>
          <p:nvPr/>
        </p:nvSpPr>
        <p:spPr>
          <a:xfrm>
            <a:off x="56520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81" name="Straight Connector 156"/>
          <p:cNvSpPr/>
          <p:nvPr/>
        </p:nvSpPr>
        <p:spPr>
          <a:xfrm>
            <a:off x="56088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82" name="Straight Connector 156"/>
          <p:cNvSpPr/>
          <p:nvPr/>
        </p:nvSpPr>
        <p:spPr>
          <a:xfrm>
            <a:off x="56088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83" name="Straight Connector 156"/>
          <p:cNvSpPr/>
          <p:nvPr/>
        </p:nvSpPr>
        <p:spPr>
          <a:xfrm>
            <a:off x="56088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84" name="Straight Connector 156"/>
          <p:cNvSpPr/>
          <p:nvPr/>
        </p:nvSpPr>
        <p:spPr>
          <a:xfrm>
            <a:off x="56088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85" name="Straight Connector 156"/>
          <p:cNvSpPr/>
          <p:nvPr/>
        </p:nvSpPr>
        <p:spPr>
          <a:xfrm>
            <a:off x="56448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86" name="Straight Connector 156"/>
          <p:cNvSpPr/>
          <p:nvPr/>
        </p:nvSpPr>
        <p:spPr>
          <a:xfrm>
            <a:off x="56448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87" name="Straight Connector 156"/>
          <p:cNvSpPr/>
          <p:nvPr/>
        </p:nvSpPr>
        <p:spPr>
          <a:xfrm>
            <a:off x="56088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88" name="Elbow Connector 122"/>
          <p:cNvSpPr/>
          <p:nvPr/>
        </p:nvSpPr>
        <p:spPr>
          <a:xfrm rot="5400000">
            <a:off x="2619360" y="4138200"/>
            <a:ext cx="168840" cy="3383280"/>
          </a:xfrm>
          <a:prstGeom prst="bentConnector3">
            <a:avLst>
              <a:gd name="adj1" fmla="val 200174"/>
            </a:avLst>
          </a:prstGeom>
          <a:noFill/>
          <a:ln cap="sq" w="22225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9" name="Straight Connector 120"/>
          <p:cNvSpPr/>
          <p:nvPr/>
        </p:nvSpPr>
        <p:spPr>
          <a:xfrm flipV="1">
            <a:off x="2593440" y="2229120"/>
            <a:ext cx="360" cy="2635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90" name="Straight Connector 120"/>
          <p:cNvSpPr/>
          <p:nvPr/>
        </p:nvSpPr>
        <p:spPr>
          <a:xfrm flipV="1">
            <a:off x="2737800" y="1981080"/>
            <a:ext cx="360" cy="5295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91" name="Straight Connector 120"/>
          <p:cNvSpPr/>
          <p:nvPr/>
        </p:nvSpPr>
        <p:spPr>
          <a:xfrm flipV="1">
            <a:off x="2877120" y="1783800"/>
            <a:ext cx="0" cy="726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92" name="Rectangle 118"/>
          <p:cNvSpPr/>
          <p:nvPr/>
        </p:nvSpPr>
        <p:spPr>
          <a:xfrm>
            <a:off x="2593440" y="152208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93" name="Rectangle 118"/>
          <p:cNvSpPr/>
          <p:nvPr/>
        </p:nvSpPr>
        <p:spPr>
          <a:xfrm>
            <a:off x="2445120" y="160452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94" name="Rectangle 118"/>
          <p:cNvSpPr/>
          <p:nvPr/>
        </p:nvSpPr>
        <p:spPr>
          <a:xfrm>
            <a:off x="2291760" y="170064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95" name="Rectangle 124"/>
          <p:cNvSpPr/>
          <p:nvPr/>
        </p:nvSpPr>
        <p:spPr>
          <a:xfrm>
            <a:off x="2163600" y="180468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96" name="TextBox 135"/>
          <p:cNvSpPr/>
          <p:nvPr/>
        </p:nvSpPr>
        <p:spPr>
          <a:xfrm rot="19092600">
            <a:off x="1611000" y="1535760"/>
            <a:ext cx="12236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Interleaved banks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97" name="Rectangle 124"/>
          <p:cNvSpPr/>
          <p:nvPr/>
        </p:nvSpPr>
        <p:spPr>
          <a:xfrm>
            <a:off x="3220920" y="178632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98" name="Rectangle 124"/>
          <p:cNvSpPr/>
          <p:nvPr/>
        </p:nvSpPr>
        <p:spPr>
          <a:xfrm>
            <a:off x="3821040" y="179100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999" name="Straight Connector 122"/>
          <p:cNvSpPr/>
          <p:nvPr/>
        </p:nvSpPr>
        <p:spPr>
          <a:xfrm flipV="1">
            <a:off x="4101480" y="231444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00" name="TextBox 139"/>
          <p:cNvSpPr/>
          <p:nvPr/>
        </p:nvSpPr>
        <p:spPr>
          <a:xfrm>
            <a:off x="3439080" y="1592280"/>
            <a:ext cx="9673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private banks</a:t>
            </a:r>
            <a:endParaRPr b="0" lang="it-IT" sz="1050" spc="-1" strike="noStrike">
              <a:latin typeface="Arial"/>
            </a:endParaRPr>
          </a:p>
        </p:txBody>
      </p:sp>
      <p:grpSp>
        <p:nvGrpSpPr>
          <p:cNvPr id="1001" name="Group 140"/>
          <p:cNvGrpSpPr/>
          <p:nvPr/>
        </p:nvGrpSpPr>
        <p:grpSpPr>
          <a:xfrm>
            <a:off x="2493360" y="5733360"/>
            <a:ext cx="1482480" cy="257040"/>
            <a:chOff x="2493360" y="5733360"/>
            <a:chExt cx="1482480" cy="257040"/>
          </a:xfrm>
        </p:grpSpPr>
        <p:sp>
          <p:nvSpPr>
            <p:cNvPr id="1002" name="Elbow Connector 141"/>
            <p:cNvSpPr/>
            <p:nvPr/>
          </p:nvSpPr>
          <p:spPr>
            <a:xfrm>
              <a:off x="2493360" y="5814720"/>
              <a:ext cx="1482480" cy="175680"/>
            </a:xfrm>
            <a:prstGeom prst="bentConnector3">
              <a:avLst>
                <a:gd name="adj1" fmla="val -101"/>
              </a:avLst>
            </a:prstGeom>
            <a:noFill/>
            <a:ln cap="sq" w="22225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03" name="Straight Arrow Connector 142"/>
            <p:cNvSpPr/>
            <p:nvPr/>
          </p:nvSpPr>
          <p:spPr>
            <a:xfrm flipV="1">
              <a:off x="3966120" y="5733360"/>
              <a:ext cx="2880" cy="243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cap="sq" w="22225">
              <a:solidFill>
                <a:srgbClr val="000000"/>
              </a:solidFill>
              <a:round/>
              <a:tailEnd len="med" type="triangle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004" name="Rectangle 100"/>
          <p:cNvSpPr/>
          <p:nvPr/>
        </p:nvSpPr>
        <p:spPr>
          <a:xfrm>
            <a:off x="6800400" y="2931840"/>
            <a:ext cx="4722120" cy="35280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TCDM Logarithmic Interconnect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005" name="Rectangle 130"/>
          <p:cNvSpPr/>
          <p:nvPr/>
        </p:nvSpPr>
        <p:spPr>
          <a:xfrm>
            <a:off x="7085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006" name="Rectangle 146"/>
          <p:cNvSpPr/>
          <p:nvPr/>
        </p:nvSpPr>
        <p:spPr>
          <a:xfrm>
            <a:off x="8093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007" name="Rectangle 153"/>
          <p:cNvSpPr/>
          <p:nvPr/>
        </p:nvSpPr>
        <p:spPr>
          <a:xfrm>
            <a:off x="9101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008" name="Rectangle 160"/>
          <p:cNvSpPr/>
          <p:nvPr/>
        </p:nvSpPr>
        <p:spPr>
          <a:xfrm>
            <a:off x="1068624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009" name="Rectangle 18"/>
          <p:cNvSpPr/>
          <p:nvPr/>
        </p:nvSpPr>
        <p:spPr>
          <a:xfrm>
            <a:off x="7085880" y="4682160"/>
            <a:ext cx="4436280" cy="54684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Shared </a:t>
            </a:r>
            <a:endParaRPr b="0" lang="it-IT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Instruction Cache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010" name="Rectangle 18"/>
          <p:cNvSpPr/>
          <p:nvPr/>
        </p:nvSpPr>
        <p:spPr>
          <a:xfrm>
            <a:off x="7346160" y="4235400"/>
            <a:ext cx="360000" cy="204120"/>
          </a:xfrm>
          <a:prstGeom prst="rect">
            <a:avLst/>
          </a:prstGeom>
          <a:solidFill>
            <a:srgbClr val="1f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L0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011" name="Rectangle 18"/>
          <p:cNvSpPr/>
          <p:nvPr/>
        </p:nvSpPr>
        <p:spPr>
          <a:xfrm>
            <a:off x="8349840" y="4237200"/>
            <a:ext cx="360000" cy="204120"/>
          </a:xfrm>
          <a:prstGeom prst="rect">
            <a:avLst/>
          </a:prstGeom>
          <a:solidFill>
            <a:srgbClr val="1f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L0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012" name="Rectangle 18"/>
          <p:cNvSpPr/>
          <p:nvPr/>
        </p:nvSpPr>
        <p:spPr>
          <a:xfrm>
            <a:off x="9359280" y="4236480"/>
            <a:ext cx="360000" cy="204120"/>
          </a:xfrm>
          <a:prstGeom prst="rect">
            <a:avLst/>
          </a:prstGeom>
          <a:solidFill>
            <a:srgbClr val="1f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L0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013" name="Rectangle 18"/>
          <p:cNvSpPr/>
          <p:nvPr/>
        </p:nvSpPr>
        <p:spPr>
          <a:xfrm>
            <a:off x="10946520" y="4236480"/>
            <a:ext cx="360000" cy="204120"/>
          </a:xfrm>
          <a:prstGeom prst="rect">
            <a:avLst/>
          </a:prstGeom>
          <a:solidFill>
            <a:srgbClr val="1f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L0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014" name="Rectangle 49"/>
          <p:cNvSpPr/>
          <p:nvPr/>
        </p:nvSpPr>
        <p:spPr>
          <a:xfrm>
            <a:off x="7058160" y="208872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015" name="Rectangle 50"/>
          <p:cNvSpPr/>
          <p:nvPr/>
        </p:nvSpPr>
        <p:spPr>
          <a:xfrm>
            <a:off x="7562160" y="208872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016" name="Rectangle 49"/>
          <p:cNvSpPr/>
          <p:nvPr/>
        </p:nvSpPr>
        <p:spPr>
          <a:xfrm>
            <a:off x="8061480" y="209196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017" name="Rectangle 50"/>
          <p:cNvSpPr/>
          <p:nvPr/>
        </p:nvSpPr>
        <p:spPr>
          <a:xfrm>
            <a:off x="8565480" y="209196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018" name="Rectangle 49"/>
          <p:cNvSpPr/>
          <p:nvPr/>
        </p:nvSpPr>
        <p:spPr>
          <a:xfrm>
            <a:off x="9064800" y="209196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019" name="Rectangle 50"/>
          <p:cNvSpPr/>
          <p:nvPr/>
        </p:nvSpPr>
        <p:spPr>
          <a:xfrm>
            <a:off x="9568800" y="209196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020" name="Rectangle 49"/>
          <p:cNvSpPr/>
          <p:nvPr/>
        </p:nvSpPr>
        <p:spPr>
          <a:xfrm>
            <a:off x="10587240" y="209052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021" name="Rectangle 50"/>
          <p:cNvSpPr/>
          <p:nvPr/>
        </p:nvSpPr>
        <p:spPr>
          <a:xfrm>
            <a:off x="11091240" y="209052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grpSp>
        <p:nvGrpSpPr>
          <p:cNvPr id="1022" name="Gruppo 131"/>
          <p:cNvGrpSpPr/>
          <p:nvPr/>
        </p:nvGrpSpPr>
        <p:grpSpPr>
          <a:xfrm>
            <a:off x="7922160" y="3764880"/>
            <a:ext cx="2764080" cy="479880"/>
            <a:chOff x="7922160" y="3764880"/>
            <a:chExt cx="2764080" cy="479880"/>
          </a:xfrm>
        </p:grpSpPr>
        <p:sp>
          <p:nvSpPr>
            <p:cNvPr id="1023" name="Rectangle 5"/>
            <p:cNvSpPr/>
            <p:nvPr/>
          </p:nvSpPr>
          <p:spPr>
            <a:xfrm>
              <a:off x="10099800" y="3764880"/>
              <a:ext cx="465840" cy="479880"/>
            </a:xfrm>
            <a:prstGeom prst="rect">
              <a:avLst/>
            </a:prstGeom>
            <a:solidFill>
              <a:srgbClr val="d25c2f"/>
            </a:solidFill>
            <a:ln>
              <a:noFill/>
            </a:ln>
            <a:effectLst>
              <a:outerShdw blurRad="39960" dir="2700000" dist="50402" rotWithShape="0">
                <a:srgbClr val="000000">
                  <a:alpha val="5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en-US" sz="1100" spc="-1" strike="noStrike">
                  <a:solidFill>
                    <a:srgbClr val="ababab"/>
                  </a:solidFill>
                  <a:latin typeface="Calibri"/>
                </a:rPr>
                <a:t>HW Synch</a:t>
              </a:r>
              <a:endParaRPr b="0" lang="it-IT" sz="1100" spc="-1" strike="noStrike">
                <a:latin typeface="Arial"/>
              </a:endParaRPr>
            </a:p>
          </p:txBody>
        </p:sp>
        <p:sp>
          <p:nvSpPr>
            <p:cNvPr id="1024" name="Connettore 4 133"/>
            <p:cNvSpPr/>
            <p:nvPr/>
          </p:nvSpPr>
          <p:spPr>
            <a:xfrm flipV="1">
              <a:off x="7922160" y="3764520"/>
              <a:ext cx="2410560" cy="240480"/>
            </a:xfrm>
            <a:prstGeom prst="bentConnector4">
              <a:avLst>
                <a:gd name="adj1" fmla="val 4015"/>
                <a:gd name="adj2" fmla="val 228071"/>
              </a:avLst>
            </a:prstGeom>
            <a:noFill/>
            <a:ln w="15875">
              <a:solidFill>
                <a:srgbClr val="d25c2f"/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5" name="Connettore 4 134"/>
            <p:cNvSpPr/>
            <p:nvPr/>
          </p:nvSpPr>
          <p:spPr>
            <a:xfrm flipV="1">
              <a:off x="8930160" y="3764520"/>
              <a:ext cx="1402200" cy="240480"/>
            </a:xfrm>
            <a:prstGeom prst="bentConnector4">
              <a:avLst>
                <a:gd name="adj1" fmla="val 6634"/>
                <a:gd name="adj2" fmla="val 228070"/>
              </a:avLst>
            </a:prstGeom>
            <a:noFill/>
            <a:ln w="15875">
              <a:solidFill>
                <a:srgbClr val="d25c2f"/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6" name="Connettore 4 135"/>
            <p:cNvSpPr/>
            <p:nvPr/>
          </p:nvSpPr>
          <p:spPr>
            <a:xfrm flipV="1">
              <a:off x="9938520" y="3764880"/>
              <a:ext cx="394200" cy="240480"/>
            </a:xfrm>
            <a:prstGeom prst="bentConnector4">
              <a:avLst>
                <a:gd name="adj1" fmla="val 20454"/>
                <a:gd name="adj2" fmla="val 228070"/>
              </a:avLst>
            </a:prstGeom>
            <a:noFill/>
            <a:ln w="15875">
              <a:solidFill>
                <a:srgbClr val="d25c2f"/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7" name="Connettore 4 136"/>
            <p:cNvSpPr/>
            <p:nvPr/>
          </p:nvSpPr>
          <p:spPr>
            <a:xfrm flipH="1" rot="16200000">
              <a:off x="10389600" y="3708720"/>
              <a:ext cx="240480" cy="352800"/>
            </a:xfrm>
            <a:prstGeom prst="bentConnector4">
              <a:avLst>
                <a:gd name="adj1" fmla="val -127144"/>
                <a:gd name="adj2" fmla="val 80569"/>
              </a:avLst>
            </a:prstGeom>
            <a:noFill/>
            <a:ln w="15875">
              <a:solidFill>
                <a:srgbClr val="d25c2f"/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28" name="Straight Connector 156"/>
          <p:cNvSpPr/>
          <p:nvPr/>
        </p:nvSpPr>
        <p:spPr>
          <a:xfrm>
            <a:off x="727344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29" name="Straight Connector 156"/>
          <p:cNvSpPr/>
          <p:nvPr/>
        </p:nvSpPr>
        <p:spPr>
          <a:xfrm>
            <a:off x="777528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30" name="Straight Connector 156"/>
          <p:cNvSpPr/>
          <p:nvPr/>
        </p:nvSpPr>
        <p:spPr>
          <a:xfrm>
            <a:off x="827748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31" name="Straight Connector 156"/>
          <p:cNvSpPr/>
          <p:nvPr/>
        </p:nvSpPr>
        <p:spPr>
          <a:xfrm>
            <a:off x="877932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32" name="Straight Connector 156"/>
          <p:cNvSpPr/>
          <p:nvPr/>
        </p:nvSpPr>
        <p:spPr>
          <a:xfrm>
            <a:off x="928152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33" name="Straight Connector 156"/>
          <p:cNvSpPr/>
          <p:nvPr/>
        </p:nvSpPr>
        <p:spPr>
          <a:xfrm>
            <a:off x="978336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34" name="Straight Connector 156"/>
          <p:cNvSpPr/>
          <p:nvPr/>
        </p:nvSpPr>
        <p:spPr>
          <a:xfrm>
            <a:off x="10794600" y="267768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35" name="Straight Connector 156"/>
          <p:cNvSpPr/>
          <p:nvPr/>
        </p:nvSpPr>
        <p:spPr>
          <a:xfrm>
            <a:off x="11296440" y="267768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36" name="Straight Connector 156"/>
          <p:cNvSpPr/>
          <p:nvPr/>
        </p:nvSpPr>
        <p:spPr>
          <a:xfrm>
            <a:off x="7500600" y="443592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37" name="Straight Connector 156"/>
          <p:cNvSpPr/>
          <p:nvPr/>
        </p:nvSpPr>
        <p:spPr>
          <a:xfrm>
            <a:off x="8507880" y="443592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38" name="Straight Connector 156"/>
          <p:cNvSpPr/>
          <p:nvPr/>
        </p:nvSpPr>
        <p:spPr>
          <a:xfrm>
            <a:off x="9514800" y="4429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39" name="Straight Connector 156"/>
          <p:cNvSpPr/>
          <p:nvPr/>
        </p:nvSpPr>
        <p:spPr>
          <a:xfrm>
            <a:off x="11108520" y="443592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40" name="Straight Connector 156"/>
          <p:cNvSpPr/>
          <p:nvPr/>
        </p:nvSpPr>
        <p:spPr>
          <a:xfrm>
            <a:off x="748260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41" name="Straight Connector 156"/>
          <p:cNvSpPr/>
          <p:nvPr/>
        </p:nvSpPr>
        <p:spPr>
          <a:xfrm>
            <a:off x="848952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42" name="Straight Connector 156"/>
          <p:cNvSpPr/>
          <p:nvPr/>
        </p:nvSpPr>
        <p:spPr>
          <a:xfrm>
            <a:off x="9496800" y="329580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43" name="Straight Connector 156"/>
          <p:cNvSpPr/>
          <p:nvPr/>
        </p:nvSpPr>
        <p:spPr>
          <a:xfrm>
            <a:off x="1109016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44" name="Rectangle 144"/>
          <p:cNvSpPr/>
          <p:nvPr/>
        </p:nvSpPr>
        <p:spPr>
          <a:xfrm>
            <a:off x="5005440" y="5335920"/>
            <a:ext cx="56804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High-speed synchronization to minimize overhead in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synchronization primitives</a:t>
            </a:r>
            <a:endParaRPr b="0" lang="it-IT" sz="1800" spc="-1" strike="noStrike">
              <a:latin typeface="Arial"/>
            </a:endParaRP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Rettangolo 5"/>
          <p:cNvSpPr/>
          <p:nvPr/>
        </p:nvSpPr>
        <p:spPr>
          <a:xfrm>
            <a:off x="5063760" y="1577520"/>
            <a:ext cx="6987240" cy="477864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solidFill>
              <a:srgbClr val="7c24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46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800" spc="-106" strike="noStrike">
                <a:solidFill>
                  <a:srgbClr val="c00000"/>
                </a:solidFill>
                <a:latin typeface="Calibri"/>
                <a:ea typeface="Roboto"/>
              </a:rPr>
              <a:t>PULP: A Parallel Ultra-Low-Power Computing Platform</a:t>
            </a:r>
            <a:endParaRPr b="0" lang="it-IT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7" name="PlaceHolder 2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714247F4-48C7-4885-9EE8-299A964787FA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  <p:sp>
        <p:nvSpPr>
          <p:cNvPr id="1048" name="Rectangle 125"/>
          <p:cNvSpPr/>
          <p:nvPr/>
        </p:nvSpPr>
        <p:spPr>
          <a:xfrm>
            <a:off x="2906640" y="4742280"/>
            <a:ext cx="1704600" cy="329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049" name="Rectangle 126"/>
          <p:cNvSpPr/>
          <p:nvPr/>
        </p:nvSpPr>
        <p:spPr>
          <a:xfrm rot="16200000">
            <a:off x="2827440" y="528624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CLK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050" name="Rectangle 128"/>
          <p:cNvSpPr/>
          <p:nvPr/>
        </p:nvSpPr>
        <p:spPr>
          <a:xfrm rot="16200000">
            <a:off x="3267000" y="528480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TIMER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051" name="Rectangle 130"/>
          <p:cNvSpPr/>
          <p:nvPr/>
        </p:nvSpPr>
        <p:spPr>
          <a:xfrm rot="16200000">
            <a:off x="4131360" y="414828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052" name="Straight Connector 133"/>
          <p:cNvSpPr/>
          <p:nvPr/>
        </p:nvSpPr>
        <p:spPr>
          <a:xfrm flipV="1">
            <a:off x="309168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53" name="Straight Connector 134"/>
          <p:cNvSpPr/>
          <p:nvPr/>
        </p:nvSpPr>
        <p:spPr>
          <a:xfrm flipV="1">
            <a:off x="3531240" y="507096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54" name="Rectangle 68"/>
          <p:cNvSpPr/>
          <p:nvPr/>
        </p:nvSpPr>
        <p:spPr>
          <a:xfrm>
            <a:off x="1461600" y="388368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SPI 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055" name="Rectangle 69"/>
          <p:cNvSpPr/>
          <p:nvPr/>
        </p:nvSpPr>
        <p:spPr>
          <a:xfrm>
            <a:off x="1461600" y="428004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CAMIF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056" name="Straight Connector 70"/>
          <p:cNvSpPr/>
          <p:nvPr/>
        </p:nvSpPr>
        <p:spPr>
          <a:xfrm>
            <a:off x="2046960" y="404856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57" name="Straight Connector 71"/>
          <p:cNvSpPr/>
          <p:nvPr/>
        </p:nvSpPr>
        <p:spPr>
          <a:xfrm>
            <a:off x="2046960" y="44449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58" name="Rectangle 72"/>
          <p:cNvSpPr/>
          <p:nvPr/>
        </p:nvSpPr>
        <p:spPr>
          <a:xfrm>
            <a:off x="1461600" y="467640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I2C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059" name="Rectangle 73"/>
          <p:cNvSpPr/>
          <p:nvPr/>
        </p:nvSpPr>
        <p:spPr>
          <a:xfrm>
            <a:off x="1461600" y="507276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UART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060" name="Straight Connector 74"/>
          <p:cNvSpPr/>
          <p:nvPr/>
        </p:nvSpPr>
        <p:spPr>
          <a:xfrm>
            <a:off x="2046960" y="48412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61" name="Straight Connector 75"/>
          <p:cNvSpPr/>
          <p:nvPr/>
        </p:nvSpPr>
        <p:spPr>
          <a:xfrm>
            <a:off x="2046960" y="523764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62" name="Rectangle 152"/>
          <p:cNvSpPr/>
          <p:nvPr/>
        </p:nvSpPr>
        <p:spPr>
          <a:xfrm rot="16200000">
            <a:off x="1329120" y="4485600"/>
            <a:ext cx="2273760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µDMA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063" name="Rectangle 154"/>
          <p:cNvSpPr/>
          <p:nvPr/>
        </p:nvSpPr>
        <p:spPr>
          <a:xfrm>
            <a:off x="1462680" y="250092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064" name="Straight Connector 155"/>
          <p:cNvSpPr/>
          <p:nvPr/>
        </p:nvSpPr>
        <p:spPr>
          <a:xfrm>
            <a:off x="2048040" y="266580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65" name="Straight Connector 156"/>
          <p:cNvSpPr/>
          <p:nvPr/>
        </p:nvSpPr>
        <p:spPr>
          <a:xfrm>
            <a:off x="115956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66" name="Rectangle 66"/>
          <p:cNvSpPr/>
          <p:nvPr/>
        </p:nvSpPr>
        <p:spPr>
          <a:xfrm>
            <a:off x="4439880" y="1786320"/>
            <a:ext cx="54792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ROM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067" name="Rectangle 119"/>
          <p:cNvSpPr/>
          <p:nvPr/>
        </p:nvSpPr>
        <p:spPr>
          <a:xfrm>
            <a:off x="2289240" y="2504160"/>
            <a:ext cx="2591640" cy="3297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Logarithmic Interconnect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068" name="Straight Connector 120"/>
          <p:cNvSpPr/>
          <p:nvPr/>
        </p:nvSpPr>
        <p:spPr>
          <a:xfrm flipV="1">
            <a:off x="2463480" y="23418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69" name="Straight Connector 122"/>
          <p:cNvSpPr/>
          <p:nvPr/>
        </p:nvSpPr>
        <p:spPr>
          <a:xfrm flipV="1">
            <a:off x="352008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70" name="Straight Connector 123"/>
          <p:cNvSpPr/>
          <p:nvPr/>
        </p:nvSpPr>
        <p:spPr>
          <a:xfrm flipV="1">
            <a:off x="466524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71" name="Straight Connector 157"/>
          <p:cNvSpPr/>
          <p:nvPr/>
        </p:nvSpPr>
        <p:spPr>
          <a:xfrm flipV="1">
            <a:off x="246348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72" name="Rectangle 131"/>
          <p:cNvSpPr/>
          <p:nvPr/>
        </p:nvSpPr>
        <p:spPr>
          <a:xfrm>
            <a:off x="3813120" y="3002760"/>
            <a:ext cx="722160" cy="528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rIns="27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RISC-V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073" name="Straight Connector 138"/>
          <p:cNvSpPr/>
          <p:nvPr/>
        </p:nvSpPr>
        <p:spPr>
          <a:xfrm flipV="1">
            <a:off x="398736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74" name="Straight Connector 139"/>
          <p:cNvSpPr/>
          <p:nvPr/>
        </p:nvSpPr>
        <p:spPr>
          <a:xfrm flipV="1">
            <a:off x="438912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75" name="Straight Connector 159"/>
          <p:cNvSpPr/>
          <p:nvPr/>
        </p:nvSpPr>
        <p:spPr>
          <a:xfrm flipV="1">
            <a:off x="2778480" y="2828520"/>
            <a:ext cx="360" cy="12009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76" name="Straight Connector 160"/>
          <p:cNvSpPr/>
          <p:nvPr/>
        </p:nvSpPr>
        <p:spPr>
          <a:xfrm flipV="1">
            <a:off x="2639160" y="4038480"/>
            <a:ext cx="139320" cy="2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77" name="Rectangle 141"/>
          <p:cNvSpPr/>
          <p:nvPr/>
        </p:nvSpPr>
        <p:spPr>
          <a:xfrm>
            <a:off x="2285640" y="2997000"/>
            <a:ext cx="365760" cy="401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 vert="vert270" rot="16200000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078" name="Rectangle 147"/>
          <p:cNvSpPr/>
          <p:nvPr/>
        </p:nvSpPr>
        <p:spPr>
          <a:xfrm>
            <a:off x="1463400" y="299700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GPIO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079" name="Straight Connector 149"/>
          <p:cNvSpPr/>
          <p:nvPr/>
        </p:nvSpPr>
        <p:spPr>
          <a:xfrm flipV="1">
            <a:off x="2048760" y="3140640"/>
            <a:ext cx="234360" cy="7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80" name="Straight Connector 161"/>
          <p:cNvSpPr/>
          <p:nvPr/>
        </p:nvSpPr>
        <p:spPr>
          <a:xfrm flipV="1">
            <a:off x="2463480" y="340488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81" name="Rectangle 68"/>
          <p:cNvSpPr/>
          <p:nvPr/>
        </p:nvSpPr>
        <p:spPr>
          <a:xfrm>
            <a:off x="1469160" y="342900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I2S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082" name="Straight Connector 70"/>
          <p:cNvSpPr/>
          <p:nvPr/>
        </p:nvSpPr>
        <p:spPr>
          <a:xfrm>
            <a:off x="2054520" y="35938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83" name="Rectangle 73"/>
          <p:cNvSpPr/>
          <p:nvPr/>
        </p:nvSpPr>
        <p:spPr>
          <a:xfrm>
            <a:off x="1469160" y="5474880"/>
            <a:ext cx="585360" cy="329760"/>
          </a:xfrm>
          <a:prstGeom prst="rect">
            <a:avLst/>
          </a:prstGeom>
          <a:solidFill>
            <a:srgbClr val="ce3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SDIO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084" name="Straight Connector 75"/>
          <p:cNvSpPr/>
          <p:nvPr/>
        </p:nvSpPr>
        <p:spPr>
          <a:xfrm>
            <a:off x="2054520" y="56401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85" name="Elbow Connector 3"/>
          <p:cNvSpPr/>
          <p:nvPr/>
        </p:nvSpPr>
        <p:spPr>
          <a:xfrm>
            <a:off x="2651760" y="3197880"/>
            <a:ext cx="254160" cy="1709280"/>
          </a:xfrm>
          <a:prstGeom prst="bentConnector3">
            <a:avLst>
              <a:gd name="adj1" fmla="val 24952"/>
            </a:avLst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086" name="Rectangle 128"/>
          <p:cNvSpPr/>
          <p:nvPr/>
        </p:nvSpPr>
        <p:spPr>
          <a:xfrm rot="16200000">
            <a:off x="3705120" y="528624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EVENT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087" name="Straight Connector 134"/>
          <p:cNvSpPr/>
          <p:nvPr/>
        </p:nvSpPr>
        <p:spPr>
          <a:xfrm flipV="1">
            <a:off x="396936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88" name="Rectangle 128"/>
          <p:cNvSpPr/>
          <p:nvPr/>
        </p:nvSpPr>
        <p:spPr>
          <a:xfrm rot="16200000">
            <a:off x="4131360" y="529848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SoC CTRL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089" name="Straight Connector 134"/>
          <p:cNvSpPr/>
          <p:nvPr/>
        </p:nvSpPr>
        <p:spPr>
          <a:xfrm flipV="1">
            <a:off x="4395240" y="5085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90" name="Straight Connector 134"/>
          <p:cNvSpPr/>
          <p:nvPr/>
        </p:nvSpPr>
        <p:spPr>
          <a:xfrm flipV="1">
            <a:off x="4419000" y="4581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91" name="Rectangle 130"/>
          <p:cNvSpPr/>
          <p:nvPr/>
        </p:nvSpPr>
        <p:spPr>
          <a:xfrm rot="16200000">
            <a:off x="3699000" y="4158360"/>
            <a:ext cx="52812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INTC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092" name="Straight Connector 134"/>
          <p:cNvSpPr/>
          <p:nvPr/>
        </p:nvSpPr>
        <p:spPr>
          <a:xfrm flipV="1">
            <a:off x="3987000" y="459108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93" name="Straight Connector 134"/>
          <p:cNvSpPr/>
          <p:nvPr/>
        </p:nvSpPr>
        <p:spPr>
          <a:xfrm flipH="1" flipV="1">
            <a:off x="3263400" y="3524040"/>
            <a:ext cx="9360" cy="1199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94" name="Straight Connector 79"/>
          <p:cNvSpPr/>
          <p:nvPr/>
        </p:nvSpPr>
        <p:spPr>
          <a:xfrm flipV="1">
            <a:off x="3963240" y="3557520"/>
            <a:ext cx="360" cy="51948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5" name="Straight Connector 81"/>
          <p:cNvSpPr/>
          <p:nvPr/>
        </p:nvSpPr>
        <p:spPr>
          <a:xfrm flipV="1">
            <a:off x="4395240" y="3543480"/>
            <a:ext cx="0" cy="53640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6" name="Rectangle 131"/>
          <p:cNvSpPr/>
          <p:nvPr/>
        </p:nvSpPr>
        <p:spPr>
          <a:xfrm>
            <a:off x="2902320" y="2995920"/>
            <a:ext cx="722160" cy="52812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rIns="27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ACCEL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097" name="Straight Connector 138"/>
          <p:cNvSpPr/>
          <p:nvPr/>
        </p:nvSpPr>
        <p:spPr>
          <a:xfrm flipV="1">
            <a:off x="307656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98" name="Straight Connector 139"/>
          <p:cNvSpPr/>
          <p:nvPr/>
        </p:nvSpPr>
        <p:spPr>
          <a:xfrm flipV="1">
            <a:off x="321012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99" name="Straight Connector 138"/>
          <p:cNvSpPr/>
          <p:nvPr/>
        </p:nvSpPr>
        <p:spPr>
          <a:xfrm flipV="1">
            <a:off x="335412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00" name="Straight Connector 139"/>
          <p:cNvSpPr/>
          <p:nvPr/>
        </p:nvSpPr>
        <p:spPr>
          <a:xfrm flipV="1">
            <a:off x="348804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01" name="Straight Connector 156"/>
          <p:cNvSpPr/>
          <p:nvPr/>
        </p:nvSpPr>
        <p:spPr>
          <a:xfrm>
            <a:off x="115524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02" name="Straight Connector 156"/>
          <p:cNvSpPr/>
          <p:nvPr/>
        </p:nvSpPr>
        <p:spPr>
          <a:xfrm>
            <a:off x="115524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03" name="Straight Connector 156"/>
          <p:cNvSpPr/>
          <p:nvPr/>
        </p:nvSpPr>
        <p:spPr>
          <a:xfrm>
            <a:off x="115524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04" name="Straight Connector 156"/>
          <p:cNvSpPr/>
          <p:nvPr/>
        </p:nvSpPr>
        <p:spPr>
          <a:xfrm>
            <a:off x="115524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05" name="Straight Connector 156"/>
          <p:cNvSpPr/>
          <p:nvPr/>
        </p:nvSpPr>
        <p:spPr>
          <a:xfrm>
            <a:off x="115920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06" name="Straight Connector 156"/>
          <p:cNvSpPr/>
          <p:nvPr/>
        </p:nvSpPr>
        <p:spPr>
          <a:xfrm>
            <a:off x="115920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07" name="Straight Connector 156"/>
          <p:cNvSpPr/>
          <p:nvPr/>
        </p:nvSpPr>
        <p:spPr>
          <a:xfrm>
            <a:off x="115524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08" name="Trapezoid 112"/>
          <p:cNvSpPr/>
          <p:nvPr/>
        </p:nvSpPr>
        <p:spPr>
          <a:xfrm rot="16200000">
            <a:off x="-795960" y="4004280"/>
            <a:ext cx="3615840" cy="273960"/>
          </a:xfrm>
          <a:prstGeom prst="trapezoid">
            <a:avLst>
              <a:gd name="adj" fmla="val 25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Pad Control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109" name="Straight Connector 156"/>
          <p:cNvSpPr/>
          <p:nvPr/>
        </p:nvSpPr>
        <p:spPr>
          <a:xfrm>
            <a:off x="56520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10" name="Straight Connector 156"/>
          <p:cNvSpPr/>
          <p:nvPr/>
        </p:nvSpPr>
        <p:spPr>
          <a:xfrm>
            <a:off x="56088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11" name="Straight Connector 156"/>
          <p:cNvSpPr/>
          <p:nvPr/>
        </p:nvSpPr>
        <p:spPr>
          <a:xfrm>
            <a:off x="56088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12" name="Straight Connector 156"/>
          <p:cNvSpPr/>
          <p:nvPr/>
        </p:nvSpPr>
        <p:spPr>
          <a:xfrm>
            <a:off x="56088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13" name="Straight Connector 156"/>
          <p:cNvSpPr/>
          <p:nvPr/>
        </p:nvSpPr>
        <p:spPr>
          <a:xfrm>
            <a:off x="56088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14" name="Straight Connector 156"/>
          <p:cNvSpPr/>
          <p:nvPr/>
        </p:nvSpPr>
        <p:spPr>
          <a:xfrm>
            <a:off x="56448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15" name="Straight Connector 156"/>
          <p:cNvSpPr/>
          <p:nvPr/>
        </p:nvSpPr>
        <p:spPr>
          <a:xfrm>
            <a:off x="56448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16" name="Straight Connector 156"/>
          <p:cNvSpPr/>
          <p:nvPr/>
        </p:nvSpPr>
        <p:spPr>
          <a:xfrm>
            <a:off x="56088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17" name="Elbow Connector 122"/>
          <p:cNvSpPr/>
          <p:nvPr/>
        </p:nvSpPr>
        <p:spPr>
          <a:xfrm rot="5400000">
            <a:off x="2619360" y="4138200"/>
            <a:ext cx="168840" cy="3383280"/>
          </a:xfrm>
          <a:prstGeom prst="bentConnector3">
            <a:avLst>
              <a:gd name="adj1" fmla="val 200174"/>
            </a:avLst>
          </a:prstGeom>
          <a:noFill/>
          <a:ln cap="sq" w="22225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18" name="Straight Connector 120"/>
          <p:cNvSpPr/>
          <p:nvPr/>
        </p:nvSpPr>
        <p:spPr>
          <a:xfrm flipV="1">
            <a:off x="2593440" y="2229120"/>
            <a:ext cx="360" cy="2635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19" name="Straight Connector 120"/>
          <p:cNvSpPr/>
          <p:nvPr/>
        </p:nvSpPr>
        <p:spPr>
          <a:xfrm flipV="1">
            <a:off x="2737800" y="1981080"/>
            <a:ext cx="360" cy="5295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20" name="Straight Connector 120"/>
          <p:cNvSpPr/>
          <p:nvPr/>
        </p:nvSpPr>
        <p:spPr>
          <a:xfrm flipV="1">
            <a:off x="2877120" y="1783800"/>
            <a:ext cx="0" cy="726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21" name="Rectangle 118"/>
          <p:cNvSpPr/>
          <p:nvPr/>
        </p:nvSpPr>
        <p:spPr>
          <a:xfrm>
            <a:off x="2593440" y="152208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122" name="Rectangle 118"/>
          <p:cNvSpPr/>
          <p:nvPr/>
        </p:nvSpPr>
        <p:spPr>
          <a:xfrm>
            <a:off x="2445120" y="160452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123" name="Rectangle 118"/>
          <p:cNvSpPr/>
          <p:nvPr/>
        </p:nvSpPr>
        <p:spPr>
          <a:xfrm>
            <a:off x="2291760" y="170064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124" name="Rectangle 124"/>
          <p:cNvSpPr/>
          <p:nvPr/>
        </p:nvSpPr>
        <p:spPr>
          <a:xfrm>
            <a:off x="2163600" y="180468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125" name="TextBox 135"/>
          <p:cNvSpPr/>
          <p:nvPr/>
        </p:nvSpPr>
        <p:spPr>
          <a:xfrm rot="19092600">
            <a:off x="1611000" y="1535760"/>
            <a:ext cx="12236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Interleaved banks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126" name="Rectangle 124"/>
          <p:cNvSpPr/>
          <p:nvPr/>
        </p:nvSpPr>
        <p:spPr>
          <a:xfrm>
            <a:off x="3220920" y="178632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127" name="Rectangle 124"/>
          <p:cNvSpPr/>
          <p:nvPr/>
        </p:nvSpPr>
        <p:spPr>
          <a:xfrm>
            <a:off x="3821040" y="1791000"/>
            <a:ext cx="585360" cy="528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128" name="Straight Connector 122"/>
          <p:cNvSpPr/>
          <p:nvPr/>
        </p:nvSpPr>
        <p:spPr>
          <a:xfrm flipV="1">
            <a:off x="4101480" y="231444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29" name="TextBox 139"/>
          <p:cNvSpPr/>
          <p:nvPr/>
        </p:nvSpPr>
        <p:spPr>
          <a:xfrm>
            <a:off x="3439080" y="1592280"/>
            <a:ext cx="9673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private banks</a:t>
            </a:r>
            <a:endParaRPr b="0" lang="it-IT" sz="1050" spc="-1" strike="noStrike">
              <a:latin typeface="Arial"/>
            </a:endParaRPr>
          </a:p>
        </p:txBody>
      </p:sp>
      <p:grpSp>
        <p:nvGrpSpPr>
          <p:cNvPr id="1130" name="Group 140"/>
          <p:cNvGrpSpPr/>
          <p:nvPr/>
        </p:nvGrpSpPr>
        <p:grpSpPr>
          <a:xfrm>
            <a:off x="2493360" y="5733360"/>
            <a:ext cx="1482480" cy="257040"/>
            <a:chOff x="2493360" y="5733360"/>
            <a:chExt cx="1482480" cy="257040"/>
          </a:xfrm>
        </p:grpSpPr>
        <p:sp>
          <p:nvSpPr>
            <p:cNvPr id="1131" name="Elbow Connector 141"/>
            <p:cNvSpPr/>
            <p:nvPr/>
          </p:nvSpPr>
          <p:spPr>
            <a:xfrm>
              <a:off x="2493360" y="5814720"/>
              <a:ext cx="1482480" cy="175680"/>
            </a:xfrm>
            <a:prstGeom prst="bentConnector3">
              <a:avLst>
                <a:gd name="adj1" fmla="val -101"/>
              </a:avLst>
            </a:prstGeom>
            <a:noFill/>
            <a:ln cap="sq" w="22225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32" name="Straight Arrow Connector 142"/>
            <p:cNvSpPr/>
            <p:nvPr/>
          </p:nvSpPr>
          <p:spPr>
            <a:xfrm flipV="1">
              <a:off x="3966120" y="5733360"/>
              <a:ext cx="2880" cy="243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cap="sq" w="22225">
              <a:solidFill>
                <a:srgbClr val="000000"/>
              </a:solidFill>
              <a:round/>
              <a:tailEnd len="med" type="triangle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133" name="Left-Right Arrow 8"/>
          <p:cNvSpPr/>
          <p:nvPr/>
        </p:nvSpPr>
        <p:spPr>
          <a:xfrm rot="16200000">
            <a:off x="2984040" y="3732120"/>
            <a:ext cx="4683600" cy="42444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algn="tl"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i="1" lang="en-US" sz="1200" spc="-1" strike="noStrike">
                <a:solidFill>
                  <a:srgbClr val="404040"/>
                </a:solidFill>
                <a:latin typeface="Calibri"/>
              </a:rPr>
              <a:t>Data AXI Bus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134" name="Rectangle 100"/>
          <p:cNvSpPr/>
          <p:nvPr/>
        </p:nvSpPr>
        <p:spPr>
          <a:xfrm>
            <a:off x="6800400" y="2931840"/>
            <a:ext cx="4722120" cy="35280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TCDM Logarithmic Interconnect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135" name="Rectangle 101"/>
          <p:cNvSpPr/>
          <p:nvPr/>
        </p:nvSpPr>
        <p:spPr>
          <a:xfrm>
            <a:off x="5702040" y="2475720"/>
            <a:ext cx="851760" cy="835920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DMA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136" name="Left-Right Arrow 12"/>
          <p:cNvSpPr/>
          <p:nvPr/>
        </p:nvSpPr>
        <p:spPr>
          <a:xfrm>
            <a:off x="5437440" y="5433840"/>
            <a:ext cx="6372720" cy="37116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algn="tl"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i="1" lang="en-US" sz="1100" spc="-1" strike="noStrike">
                <a:solidFill>
                  <a:srgbClr val="404040"/>
                </a:solidFill>
                <a:latin typeface="Calibri"/>
              </a:rPr>
              <a:t>Instruction AXI Bus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137" name="Rectangle 130"/>
          <p:cNvSpPr/>
          <p:nvPr/>
        </p:nvSpPr>
        <p:spPr>
          <a:xfrm>
            <a:off x="7085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138" name="Rectangle 146"/>
          <p:cNvSpPr/>
          <p:nvPr/>
        </p:nvSpPr>
        <p:spPr>
          <a:xfrm>
            <a:off x="8093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139" name="Rectangle 153"/>
          <p:cNvSpPr/>
          <p:nvPr/>
        </p:nvSpPr>
        <p:spPr>
          <a:xfrm>
            <a:off x="9101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140" name="Rectangle 160"/>
          <p:cNvSpPr/>
          <p:nvPr/>
        </p:nvSpPr>
        <p:spPr>
          <a:xfrm>
            <a:off x="1068624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ababab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141" name="Rectangle 18"/>
          <p:cNvSpPr/>
          <p:nvPr/>
        </p:nvSpPr>
        <p:spPr>
          <a:xfrm>
            <a:off x="7085880" y="4682160"/>
            <a:ext cx="4436280" cy="54684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Shared </a:t>
            </a:r>
            <a:endParaRPr b="0" lang="it-IT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Instruction Cache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142" name="Rectangle 18"/>
          <p:cNvSpPr/>
          <p:nvPr/>
        </p:nvSpPr>
        <p:spPr>
          <a:xfrm>
            <a:off x="7346160" y="4235400"/>
            <a:ext cx="360000" cy="204120"/>
          </a:xfrm>
          <a:prstGeom prst="rect">
            <a:avLst/>
          </a:prstGeom>
          <a:solidFill>
            <a:srgbClr val="1f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L0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143" name="Rectangle 18"/>
          <p:cNvSpPr/>
          <p:nvPr/>
        </p:nvSpPr>
        <p:spPr>
          <a:xfrm>
            <a:off x="8349840" y="4237200"/>
            <a:ext cx="360000" cy="204120"/>
          </a:xfrm>
          <a:prstGeom prst="rect">
            <a:avLst/>
          </a:prstGeom>
          <a:solidFill>
            <a:srgbClr val="1f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L0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144" name="Rectangle 18"/>
          <p:cNvSpPr/>
          <p:nvPr/>
        </p:nvSpPr>
        <p:spPr>
          <a:xfrm>
            <a:off x="9359280" y="4236480"/>
            <a:ext cx="360000" cy="204120"/>
          </a:xfrm>
          <a:prstGeom prst="rect">
            <a:avLst/>
          </a:prstGeom>
          <a:solidFill>
            <a:srgbClr val="1f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L0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145" name="Rectangle 18"/>
          <p:cNvSpPr/>
          <p:nvPr/>
        </p:nvSpPr>
        <p:spPr>
          <a:xfrm>
            <a:off x="10946520" y="4236480"/>
            <a:ext cx="360000" cy="204120"/>
          </a:xfrm>
          <a:prstGeom prst="rect">
            <a:avLst/>
          </a:prstGeom>
          <a:solidFill>
            <a:srgbClr val="1f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L0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146" name="Rectangle 49"/>
          <p:cNvSpPr/>
          <p:nvPr/>
        </p:nvSpPr>
        <p:spPr>
          <a:xfrm>
            <a:off x="7058160" y="208872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147" name="Rectangle 50"/>
          <p:cNvSpPr/>
          <p:nvPr/>
        </p:nvSpPr>
        <p:spPr>
          <a:xfrm>
            <a:off x="7562160" y="208872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148" name="Rectangle 49"/>
          <p:cNvSpPr/>
          <p:nvPr/>
        </p:nvSpPr>
        <p:spPr>
          <a:xfrm>
            <a:off x="8061480" y="209196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149" name="Rectangle 50"/>
          <p:cNvSpPr/>
          <p:nvPr/>
        </p:nvSpPr>
        <p:spPr>
          <a:xfrm>
            <a:off x="8565480" y="209196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150" name="Rectangle 49"/>
          <p:cNvSpPr/>
          <p:nvPr/>
        </p:nvSpPr>
        <p:spPr>
          <a:xfrm>
            <a:off x="9064800" y="209196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151" name="Rectangle 50"/>
          <p:cNvSpPr/>
          <p:nvPr/>
        </p:nvSpPr>
        <p:spPr>
          <a:xfrm>
            <a:off x="9568800" y="209196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152" name="Rectangle 49"/>
          <p:cNvSpPr/>
          <p:nvPr/>
        </p:nvSpPr>
        <p:spPr>
          <a:xfrm>
            <a:off x="10587240" y="209052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153" name="Rectangle 50"/>
          <p:cNvSpPr/>
          <p:nvPr/>
        </p:nvSpPr>
        <p:spPr>
          <a:xfrm>
            <a:off x="11091240" y="2090520"/>
            <a:ext cx="431640" cy="594000"/>
          </a:xfrm>
          <a:prstGeom prst="rect">
            <a:avLst/>
          </a:prstGeom>
          <a:solidFill>
            <a:srgbClr val="1f407a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grpSp>
        <p:nvGrpSpPr>
          <p:cNvPr id="1154" name="Gruppo 131"/>
          <p:cNvGrpSpPr/>
          <p:nvPr/>
        </p:nvGrpSpPr>
        <p:grpSpPr>
          <a:xfrm>
            <a:off x="7922160" y="3764880"/>
            <a:ext cx="2764080" cy="479880"/>
            <a:chOff x="7922160" y="3764880"/>
            <a:chExt cx="2764080" cy="479880"/>
          </a:xfrm>
        </p:grpSpPr>
        <p:sp>
          <p:nvSpPr>
            <p:cNvPr id="1155" name="Rectangle 5"/>
            <p:cNvSpPr/>
            <p:nvPr/>
          </p:nvSpPr>
          <p:spPr>
            <a:xfrm>
              <a:off x="10099800" y="3764880"/>
              <a:ext cx="465840" cy="479880"/>
            </a:xfrm>
            <a:prstGeom prst="rect">
              <a:avLst/>
            </a:prstGeom>
            <a:solidFill>
              <a:srgbClr val="d25c2f"/>
            </a:solidFill>
            <a:ln>
              <a:noFill/>
            </a:ln>
            <a:effectLst>
              <a:outerShdw blurRad="39960" dir="2700000" dist="50402" rotWithShape="0">
                <a:srgbClr val="000000">
                  <a:alpha val="5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en-US" sz="1100" spc="-1" strike="noStrike">
                  <a:solidFill>
                    <a:srgbClr val="ababab"/>
                  </a:solidFill>
                  <a:latin typeface="Calibri"/>
                </a:rPr>
                <a:t>HW Synch</a:t>
              </a:r>
              <a:endParaRPr b="0" lang="it-IT" sz="1100" spc="-1" strike="noStrike">
                <a:latin typeface="Arial"/>
              </a:endParaRPr>
            </a:p>
          </p:txBody>
        </p:sp>
        <p:sp>
          <p:nvSpPr>
            <p:cNvPr id="1156" name="Connettore 4 133"/>
            <p:cNvSpPr/>
            <p:nvPr/>
          </p:nvSpPr>
          <p:spPr>
            <a:xfrm flipV="1">
              <a:off x="7922160" y="3764520"/>
              <a:ext cx="2410560" cy="240480"/>
            </a:xfrm>
            <a:prstGeom prst="bentConnector4">
              <a:avLst>
                <a:gd name="adj1" fmla="val 4015"/>
                <a:gd name="adj2" fmla="val 228071"/>
              </a:avLst>
            </a:prstGeom>
            <a:noFill/>
            <a:ln w="15875">
              <a:solidFill>
                <a:srgbClr val="d25c2f"/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57" name="Connettore 4 134"/>
            <p:cNvSpPr/>
            <p:nvPr/>
          </p:nvSpPr>
          <p:spPr>
            <a:xfrm flipV="1">
              <a:off x="8930160" y="3764520"/>
              <a:ext cx="1402200" cy="240480"/>
            </a:xfrm>
            <a:prstGeom prst="bentConnector4">
              <a:avLst>
                <a:gd name="adj1" fmla="val 6634"/>
                <a:gd name="adj2" fmla="val 228070"/>
              </a:avLst>
            </a:prstGeom>
            <a:noFill/>
            <a:ln w="15875">
              <a:solidFill>
                <a:srgbClr val="d25c2f"/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58" name="Connettore 4 135"/>
            <p:cNvSpPr/>
            <p:nvPr/>
          </p:nvSpPr>
          <p:spPr>
            <a:xfrm flipV="1">
              <a:off x="9938520" y="3764880"/>
              <a:ext cx="394200" cy="240480"/>
            </a:xfrm>
            <a:prstGeom prst="bentConnector4">
              <a:avLst>
                <a:gd name="adj1" fmla="val 20454"/>
                <a:gd name="adj2" fmla="val 228070"/>
              </a:avLst>
            </a:prstGeom>
            <a:noFill/>
            <a:ln w="15875">
              <a:solidFill>
                <a:srgbClr val="d25c2f"/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59" name="Connettore 4 136"/>
            <p:cNvSpPr/>
            <p:nvPr/>
          </p:nvSpPr>
          <p:spPr>
            <a:xfrm flipH="1" rot="16200000">
              <a:off x="10389600" y="3708720"/>
              <a:ext cx="240480" cy="352800"/>
            </a:xfrm>
            <a:prstGeom prst="bentConnector4">
              <a:avLst>
                <a:gd name="adj1" fmla="val -127144"/>
                <a:gd name="adj2" fmla="val 80569"/>
              </a:avLst>
            </a:prstGeom>
            <a:noFill/>
            <a:ln w="15875">
              <a:solidFill>
                <a:srgbClr val="d25c2f"/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60" name="Straight Connector 156"/>
          <p:cNvSpPr/>
          <p:nvPr/>
        </p:nvSpPr>
        <p:spPr>
          <a:xfrm>
            <a:off x="488124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61" name="Straight Connector 156"/>
          <p:cNvSpPr/>
          <p:nvPr/>
        </p:nvSpPr>
        <p:spPr>
          <a:xfrm>
            <a:off x="5437440" y="2893680"/>
            <a:ext cx="26424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62" name="Straight Connector 156"/>
          <p:cNvSpPr/>
          <p:nvPr/>
        </p:nvSpPr>
        <p:spPr>
          <a:xfrm>
            <a:off x="727344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63" name="Straight Connector 156"/>
          <p:cNvSpPr/>
          <p:nvPr/>
        </p:nvSpPr>
        <p:spPr>
          <a:xfrm>
            <a:off x="777528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64" name="Straight Connector 156"/>
          <p:cNvSpPr/>
          <p:nvPr/>
        </p:nvSpPr>
        <p:spPr>
          <a:xfrm>
            <a:off x="827748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65" name="Straight Connector 156"/>
          <p:cNvSpPr/>
          <p:nvPr/>
        </p:nvSpPr>
        <p:spPr>
          <a:xfrm>
            <a:off x="877932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66" name="Straight Connector 156"/>
          <p:cNvSpPr/>
          <p:nvPr/>
        </p:nvSpPr>
        <p:spPr>
          <a:xfrm>
            <a:off x="928152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67" name="Straight Connector 156"/>
          <p:cNvSpPr/>
          <p:nvPr/>
        </p:nvSpPr>
        <p:spPr>
          <a:xfrm>
            <a:off x="978336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68" name="Straight Connector 156"/>
          <p:cNvSpPr/>
          <p:nvPr/>
        </p:nvSpPr>
        <p:spPr>
          <a:xfrm>
            <a:off x="10794600" y="267768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69" name="Straight Connector 156"/>
          <p:cNvSpPr/>
          <p:nvPr/>
        </p:nvSpPr>
        <p:spPr>
          <a:xfrm>
            <a:off x="11296440" y="267768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70" name="Straight Connector 156"/>
          <p:cNvSpPr/>
          <p:nvPr/>
        </p:nvSpPr>
        <p:spPr>
          <a:xfrm flipH="1" flipV="1">
            <a:off x="6568200" y="2716560"/>
            <a:ext cx="220680" cy="19620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71" name="Straight Connector 156"/>
          <p:cNvSpPr/>
          <p:nvPr/>
        </p:nvSpPr>
        <p:spPr>
          <a:xfrm>
            <a:off x="9313200" y="523764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72" name="Straight Connector 156"/>
          <p:cNvSpPr/>
          <p:nvPr/>
        </p:nvSpPr>
        <p:spPr>
          <a:xfrm>
            <a:off x="7500600" y="443592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73" name="Straight Connector 156"/>
          <p:cNvSpPr/>
          <p:nvPr/>
        </p:nvSpPr>
        <p:spPr>
          <a:xfrm>
            <a:off x="8507880" y="443592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74" name="Straight Connector 156"/>
          <p:cNvSpPr/>
          <p:nvPr/>
        </p:nvSpPr>
        <p:spPr>
          <a:xfrm>
            <a:off x="9514800" y="4429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75" name="Straight Connector 156"/>
          <p:cNvSpPr/>
          <p:nvPr/>
        </p:nvSpPr>
        <p:spPr>
          <a:xfrm>
            <a:off x="11108520" y="443592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76" name="Straight Connector 156"/>
          <p:cNvSpPr/>
          <p:nvPr/>
        </p:nvSpPr>
        <p:spPr>
          <a:xfrm>
            <a:off x="748260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77" name="Straight Connector 156"/>
          <p:cNvSpPr/>
          <p:nvPr/>
        </p:nvSpPr>
        <p:spPr>
          <a:xfrm>
            <a:off x="848952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78" name="Straight Connector 156"/>
          <p:cNvSpPr/>
          <p:nvPr/>
        </p:nvSpPr>
        <p:spPr>
          <a:xfrm>
            <a:off x="9496800" y="329580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79" name="Straight Connector 156"/>
          <p:cNvSpPr/>
          <p:nvPr/>
        </p:nvSpPr>
        <p:spPr>
          <a:xfrm>
            <a:off x="1109016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80" name="Rectangle 143"/>
          <p:cNvSpPr/>
          <p:nvPr/>
        </p:nvSpPr>
        <p:spPr>
          <a:xfrm>
            <a:off x="5672880" y="5916960"/>
            <a:ext cx="5130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Data movement is fully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software-managed</a:t>
            </a:r>
            <a:endParaRPr b="0" lang="it-IT" sz="1800" spc="-1" strike="noStrike">
              <a:latin typeface="Arial"/>
            </a:endParaRP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800" spc="-106" strike="noStrike">
                <a:solidFill>
                  <a:srgbClr val="c00000"/>
                </a:solidFill>
                <a:latin typeface="Calibri"/>
                <a:ea typeface="Roboto"/>
              </a:rPr>
              <a:t>PULP Execution Model</a:t>
            </a:r>
            <a:endParaRPr b="0" lang="it-IT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2" name="PlaceHolder 2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9F31F88A-9DC4-4E77-8A38-01294DEE6F33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  <p:sp>
        <p:nvSpPr>
          <p:cNvPr id="1183" name="Rectangle 125"/>
          <p:cNvSpPr/>
          <p:nvPr/>
        </p:nvSpPr>
        <p:spPr>
          <a:xfrm>
            <a:off x="2906640" y="4742280"/>
            <a:ext cx="170460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184" name="Rectangle 126"/>
          <p:cNvSpPr/>
          <p:nvPr/>
        </p:nvSpPr>
        <p:spPr>
          <a:xfrm rot="16200000">
            <a:off x="2827440" y="528624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CLK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185" name="Rectangle 128"/>
          <p:cNvSpPr/>
          <p:nvPr/>
        </p:nvSpPr>
        <p:spPr>
          <a:xfrm rot="16200000">
            <a:off x="3267000" y="528480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TIMER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186" name="Rectangle 130"/>
          <p:cNvSpPr/>
          <p:nvPr/>
        </p:nvSpPr>
        <p:spPr>
          <a:xfrm rot="16200000">
            <a:off x="4131360" y="414828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187" name="Straight Connector 133"/>
          <p:cNvSpPr/>
          <p:nvPr/>
        </p:nvSpPr>
        <p:spPr>
          <a:xfrm flipV="1">
            <a:off x="309168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88" name="Straight Connector 134"/>
          <p:cNvSpPr/>
          <p:nvPr/>
        </p:nvSpPr>
        <p:spPr>
          <a:xfrm flipV="1">
            <a:off x="3531240" y="507096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89" name="Rectangle 68"/>
          <p:cNvSpPr/>
          <p:nvPr/>
        </p:nvSpPr>
        <p:spPr>
          <a:xfrm>
            <a:off x="1461600" y="388368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SPI 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190" name="Rectangle 69"/>
          <p:cNvSpPr/>
          <p:nvPr/>
        </p:nvSpPr>
        <p:spPr>
          <a:xfrm>
            <a:off x="1461600" y="428004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CAMIF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191" name="Straight Connector 70"/>
          <p:cNvSpPr/>
          <p:nvPr/>
        </p:nvSpPr>
        <p:spPr>
          <a:xfrm>
            <a:off x="2046960" y="404856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92" name="Straight Connector 71"/>
          <p:cNvSpPr/>
          <p:nvPr/>
        </p:nvSpPr>
        <p:spPr>
          <a:xfrm>
            <a:off x="2046960" y="44449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93" name="Rectangle 72"/>
          <p:cNvSpPr/>
          <p:nvPr/>
        </p:nvSpPr>
        <p:spPr>
          <a:xfrm>
            <a:off x="1461600" y="467640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I2C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194" name="Rectangle 73"/>
          <p:cNvSpPr/>
          <p:nvPr/>
        </p:nvSpPr>
        <p:spPr>
          <a:xfrm>
            <a:off x="1461600" y="507276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UART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195" name="Straight Connector 74"/>
          <p:cNvSpPr/>
          <p:nvPr/>
        </p:nvSpPr>
        <p:spPr>
          <a:xfrm>
            <a:off x="2046960" y="48412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96" name="Straight Connector 75"/>
          <p:cNvSpPr/>
          <p:nvPr/>
        </p:nvSpPr>
        <p:spPr>
          <a:xfrm>
            <a:off x="2046960" y="523764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97" name="Rectangle 152"/>
          <p:cNvSpPr/>
          <p:nvPr/>
        </p:nvSpPr>
        <p:spPr>
          <a:xfrm rot="16200000">
            <a:off x="1329120" y="4485600"/>
            <a:ext cx="227376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µDMA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198" name="Rectangle 154"/>
          <p:cNvSpPr/>
          <p:nvPr/>
        </p:nvSpPr>
        <p:spPr>
          <a:xfrm>
            <a:off x="1462680" y="250092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199" name="Straight Connector 155"/>
          <p:cNvSpPr/>
          <p:nvPr/>
        </p:nvSpPr>
        <p:spPr>
          <a:xfrm>
            <a:off x="2048040" y="266580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00" name="Straight Connector 156"/>
          <p:cNvSpPr/>
          <p:nvPr/>
        </p:nvSpPr>
        <p:spPr>
          <a:xfrm>
            <a:off x="115956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01" name="Rectangle 66"/>
          <p:cNvSpPr/>
          <p:nvPr/>
        </p:nvSpPr>
        <p:spPr>
          <a:xfrm>
            <a:off x="4439880" y="1786320"/>
            <a:ext cx="54792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ROM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202" name="Rectangle 119"/>
          <p:cNvSpPr/>
          <p:nvPr/>
        </p:nvSpPr>
        <p:spPr>
          <a:xfrm>
            <a:off x="2289240" y="2504160"/>
            <a:ext cx="259164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Logarithmic Interconnect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203" name="Straight Connector 120"/>
          <p:cNvSpPr/>
          <p:nvPr/>
        </p:nvSpPr>
        <p:spPr>
          <a:xfrm flipV="1">
            <a:off x="2463480" y="23418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04" name="Straight Connector 122"/>
          <p:cNvSpPr/>
          <p:nvPr/>
        </p:nvSpPr>
        <p:spPr>
          <a:xfrm flipV="1">
            <a:off x="352008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05" name="Straight Connector 123"/>
          <p:cNvSpPr/>
          <p:nvPr/>
        </p:nvSpPr>
        <p:spPr>
          <a:xfrm flipV="1">
            <a:off x="466524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06" name="Straight Connector 157"/>
          <p:cNvSpPr/>
          <p:nvPr/>
        </p:nvSpPr>
        <p:spPr>
          <a:xfrm flipV="1">
            <a:off x="246348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07" name="Rectangle 131"/>
          <p:cNvSpPr/>
          <p:nvPr/>
        </p:nvSpPr>
        <p:spPr>
          <a:xfrm>
            <a:off x="3813120" y="3002760"/>
            <a:ext cx="722160" cy="528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08" name="Straight Connector 138"/>
          <p:cNvSpPr/>
          <p:nvPr/>
        </p:nvSpPr>
        <p:spPr>
          <a:xfrm flipV="1">
            <a:off x="398736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09" name="Straight Connector 139"/>
          <p:cNvSpPr/>
          <p:nvPr/>
        </p:nvSpPr>
        <p:spPr>
          <a:xfrm flipV="1">
            <a:off x="438912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10" name="Straight Connector 159"/>
          <p:cNvSpPr/>
          <p:nvPr/>
        </p:nvSpPr>
        <p:spPr>
          <a:xfrm flipV="1">
            <a:off x="2778480" y="2828520"/>
            <a:ext cx="360" cy="12009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11" name="Straight Connector 160"/>
          <p:cNvSpPr/>
          <p:nvPr/>
        </p:nvSpPr>
        <p:spPr>
          <a:xfrm flipV="1">
            <a:off x="2639160" y="4038480"/>
            <a:ext cx="139320" cy="2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12" name="Rectangle 141"/>
          <p:cNvSpPr/>
          <p:nvPr/>
        </p:nvSpPr>
        <p:spPr>
          <a:xfrm>
            <a:off x="2285640" y="2997000"/>
            <a:ext cx="365760" cy="401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 vert="vert270" rot="16200000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213" name="Rectangle 147"/>
          <p:cNvSpPr/>
          <p:nvPr/>
        </p:nvSpPr>
        <p:spPr>
          <a:xfrm>
            <a:off x="1463400" y="299700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GPIO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214" name="Straight Connector 149"/>
          <p:cNvSpPr/>
          <p:nvPr/>
        </p:nvSpPr>
        <p:spPr>
          <a:xfrm flipV="1">
            <a:off x="2048760" y="3140640"/>
            <a:ext cx="234360" cy="7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15" name="Straight Connector 161"/>
          <p:cNvSpPr/>
          <p:nvPr/>
        </p:nvSpPr>
        <p:spPr>
          <a:xfrm flipV="1">
            <a:off x="2463480" y="340488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16" name="Rectangle 68"/>
          <p:cNvSpPr/>
          <p:nvPr/>
        </p:nvSpPr>
        <p:spPr>
          <a:xfrm>
            <a:off x="1469160" y="342900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I2S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217" name="Straight Connector 70"/>
          <p:cNvSpPr/>
          <p:nvPr/>
        </p:nvSpPr>
        <p:spPr>
          <a:xfrm>
            <a:off x="2054520" y="35938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18" name="Rectangle 73"/>
          <p:cNvSpPr/>
          <p:nvPr/>
        </p:nvSpPr>
        <p:spPr>
          <a:xfrm>
            <a:off x="1469160" y="547488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SDIO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219" name="Straight Connector 75"/>
          <p:cNvSpPr/>
          <p:nvPr/>
        </p:nvSpPr>
        <p:spPr>
          <a:xfrm>
            <a:off x="2054520" y="56401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20" name="Elbow Connector 3"/>
          <p:cNvSpPr/>
          <p:nvPr/>
        </p:nvSpPr>
        <p:spPr>
          <a:xfrm>
            <a:off x="2651760" y="3197880"/>
            <a:ext cx="254160" cy="1709280"/>
          </a:xfrm>
          <a:prstGeom prst="bentConnector3">
            <a:avLst>
              <a:gd name="adj1" fmla="val 24952"/>
            </a:avLst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221" name="Rectangle 128"/>
          <p:cNvSpPr/>
          <p:nvPr/>
        </p:nvSpPr>
        <p:spPr>
          <a:xfrm rot="16200000">
            <a:off x="3705120" y="528624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EVENT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222" name="Straight Connector 134"/>
          <p:cNvSpPr/>
          <p:nvPr/>
        </p:nvSpPr>
        <p:spPr>
          <a:xfrm flipV="1">
            <a:off x="396936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23" name="Rectangle 128"/>
          <p:cNvSpPr/>
          <p:nvPr/>
        </p:nvSpPr>
        <p:spPr>
          <a:xfrm rot="16200000">
            <a:off x="4131360" y="529848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SoC CTRL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224" name="Straight Connector 134"/>
          <p:cNvSpPr/>
          <p:nvPr/>
        </p:nvSpPr>
        <p:spPr>
          <a:xfrm flipV="1">
            <a:off x="4395240" y="5085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25" name="Straight Connector 134"/>
          <p:cNvSpPr/>
          <p:nvPr/>
        </p:nvSpPr>
        <p:spPr>
          <a:xfrm flipV="1">
            <a:off x="4419000" y="4581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26" name="Rectangle 130"/>
          <p:cNvSpPr/>
          <p:nvPr/>
        </p:nvSpPr>
        <p:spPr>
          <a:xfrm rot="16200000">
            <a:off x="3699000" y="415836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INTC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227" name="Straight Connector 134"/>
          <p:cNvSpPr/>
          <p:nvPr/>
        </p:nvSpPr>
        <p:spPr>
          <a:xfrm flipV="1">
            <a:off x="3987000" y="459108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28" name="Straight Connector 134"/>
          <p:cNvSpPr/>
          <p:nvPr/>
        </p:nvSpPr>
        <p:spPr>
          <a:xfrm flipH="1" flipV="1">
            <a:off x="3263400" y="3524040"/>
            <a:ext cx="9360" cy="1199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29" name="Straight Connector 79"/>
          <p:cNvSpPr/>
          <p:nvPr/>
        </p:nvSpPr>
        <p:spPr>
          <a:xfrm flipV="1">
            <a:off x="3963240" y="3557520"/>
            <a:ext cx="360" cy="51948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30" name="Straight Connector 81"/>
          <p:cNvSpPr/>
          <p:nvPr/>
        </p:nvSpPr>
        <p:spPr>
          <a:xfrm flipV="1">
            <a:off x="4395240" y="3543480"/>
            <a:ext cx="0" cy="53640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31" name="Rectangle 131"/>
          <p:cNvSpPr/>
          <p:nvPr/>
        </p:nvSpPr>
        <p:spPr>
          <a:xfrm>
            <a:off x="2902320" y="2995920"/>
            <a:ext cx="7221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rIns="27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ACCEL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232" name="Straight Connector 138"/>
          <p:cNvSpPr/>
          <p:nvPr/>
        </p:nvSpPr>
        <p:spPr>
          <a:xfrm flipV="1">
            <a:off x="307656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33" name="Straight Connector 139"/>
          <p:cNvSpPr/>
          <p:nvPr/>
        </p:nvSpPr>
        <p:spPr>
          <a:xfrm flipV="1">
            <a:off x="321012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34" name="Straight Connector 138"/>
          <p:cNvSpPr/>
          <p:nvPr/>
        </p:nvSpPr>
        <p:spPr>
          <a:xfrm flipV="1">
            <a:off x="335412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35" name="Straight Connector 139"/>
          <p:cNvSpPr/>
          <p:nvPr/>
        </p:nvSpPr>
        <p:spPr>
          <a:xfrm flipV="1">
            <a:off x="348804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36" name="Straight Connector 156"/>
          <p:cNvSpPr/>
          <p:nvPr/>
        </p:nvSpPr>
        <p:spPr>
          <a:xfrm>
            <a:off x="115524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37" name="Straight Connector 156"/>
          <p:cNvSpPr/>
          <p:nvPr/>
        </p:nvSpPr>
        <p:spPr>
          <a:xfrm>
            <a:off x="115524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38" name="Straight Connector 156"/>
          <p:cNvSpPr/>
          <p:nvPr/>
        </p:nvSpPr>
        <p:spPr>
          <a:xfrm>
            <a:off x="115524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39" name="Straight Connector 156"/>
          <p:cNvSpPr/>
          <p:nvPr/>
        </p:nvSpPr>
        <p:spPr>
          <a:xfrm>
            <a:off x="115524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40" name="Straight Connector 156"/>
          <p:cNvSpPr/>
          <p:nvPr/>
        </p:nvSpPr>
        <p:spPr>
          <a:xfrm>
            <a:off x="115920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41" name="Straight Connector 156"/>
          <p:cNvSpPr/>
          <p:nvPr/>
        </p:nvSpPr>
        <p:spPr>
          <a:xfrm>
            <a:off x="115920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42" name="Straight Connector 156"/>
          <p:cNvSpPr/>
          <p:nvPr/>
        </p:nvSpPr>
        <p:spPr>
          <a:xfrm>
            <a:off x="115524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43" name="Trapezoid 112"/>
          <p:cNvSpPr/>
          <p:nvPr/>
        </p:nvSpPr>
        <p:spPr>
          <a:xfrm rot="16200000">
            <a:off x="-795960" y="4004280"/>
            <a:ext cx="3615840" cy="273960"/>
          </a:xfrm>
          <a:prstGeom prst="trapezoid">
            <a:avLst>
              <a:gd name="adj" fmla="val 25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Pad Control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244" name="Straight Connector 156"/>
          <p:cNvSpPr/>
          <p:nvPr/>
        </p:nvSpPr>
        <p:spPr>
          <a:xfrm>
            <a:off x="56520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45" name="Straight Connector 156"/>
          <p:cNvSpPr/>
          <p:nvPr/>
        </p:nvSpPr>
        <p:spPr>
          <a:xfrm>
            <a:off x="56088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46" name="Straight Connector 156"/>
          <p:cNvSpPr/>
          <p:nvPr/>
        </p:nvSpPr>
        <p:spPr>
          <a:xfrm>
            <a:off x="56088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47" name="Straight Connector 156"/>
          <p:cNvSpPr/>
          <p:nvPr/>
        </p:nvSpPr>
        <p:spPr>
          <a:xfrm>
            <a:off x="56088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48" name="Straight Connector 156"/>
          <p:cNvSpPr/>
          <p:nvPr/>
        </p:nvSpPr>
        <p:spPr>
          <a:xfrm>
            <a:off x="56088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49" name="Straight Connector 156"/>
          <p:cNvSpPr/>
          <p:nvPr/>
        </p:nvSpPr>
        <p:spPr>
          <a:xfrm>
            <a:off x="56448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50" name="Straight Connector 156"/>
          <p:cNvSpPr/>
          <p:nvPr/>
        </p:nvSpPr>
        <p:spPr>
          <a:xfrm>
            <a:off x="56448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51" name="Straight Connector 156"/>
          <p:cNvSpPr/>
          <p:nvPr/>
        </p:nvSpPr>
        <p:spPr>
          <a:xfrm>
            <a:off x="56088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52" name="Elbow Connector 122"/>
          <p:cNvSpPr/>
          <p:nvPr/>
        </p:nvSpPr>
        <p:spPr>
          <a:xfrm rot="5400000">
            <a:off x="2619360" y="4138200"/>
            <a:ext cx="168840" cy="3383280"/>
          </a:xfrm>
          <a:prstGeom prst="bentConnector3">
            <a:avLst>
              <a:gd name="adj1" fmla="val 200174"/>
            </a:avLst>
          </a:prstGeom>
          <a:noFill/>
          <a:ln cap="sq" w="22225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53" name="Straight Connector 120"/>
          <p:cNvSpPr/>
          <p:nvPr/>
        </p:nvSpPr>
        <p:spPr>
          <a:xfrm flipV="1">
            <a:off x="2593440" y="2229120"/>
            <a:ext cx="360" cy="2635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54" name="Straight Connector 120"/>
          <p:cNvSpPr/>
          <p:nvPr/>
        </p:nvSpPr>
        <p:spPr>
          <a:xfrm flipV="1">
            <a:off x="2737800" y="1981080"/>
            <a:ext cx="360" cy="5295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55" name="Straight Connector 120"/>
          <p:cNvSpPr/>
          <p:nvPr/>
        </p:nvSpPr>
        <p:spPr>
          <a:xfrm flipV="1">
            <a:off x="2877120" y="1783800"/>
            <a:ext cx="0" cy="726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56" name="Rectangle 118"/>
          <p:cNvSpPr/>
          <p:nvPr/>
        </p:nvSpPr>
        <p:spPr>
          <a:xfrm>
            <a:off x="2593440" y="1522080"/>
            <a:ext cx="5853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257" name="Rectangle 118"/>
          <p:cNvSpPr/>
          <p:nvPr/>
        </p:nvSpPr>
        <p:spPr>
          <a:xfrm>
            <a:off x="2445120" y="1604520"/>
            <a:ext cx="5853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258" name="Rectangle 118"/>
          <p:cNvSpPr/>
          <p:nvPr/>
        </p:nvSpPr>
        <p:spPr>
          <a:xfrm>
            <a:off x="2291760" y="1700640"/>
            <a:ext cx="5853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259" name="Rectangle 124"/>
          <p:cNvSpPr/>
          <p:nvPr/>
        </p:nvSpPr>
        <p:spPr>
          <a:xfrm>
            <a:off x="2163600" y="1804680"/>
            <a:ext cx="5853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260" name="TextBox 135"/>
          <p:cNvSpPr/>
          <p:nvPr/>
        </p:nvSpPr>
        <p:spPr>
          <a:xfrm rot="19092600">
            <a:off x="1611000" y="1535760"/>
            <a:ext cx="12236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808080"/>
                </a:solidFill>
                <a:latin typeface="Arial"/>
              </a:rPr>
              <a:t>Interleaved banks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261" name="Rectangle 124"/>
          <p:cNvSpPr/>
          <p:nvPr/>
        </p:nvSpPr>
        <p:spPr>
          <a:xfrm>
            <a:off x="3220920" y="1786320"/>
            <a:ext cx="5853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262" name="Rectangle 124"/>
          <p:cNvSpPr/>
          <p:nvPr/>
        </p:nvSpPr>
        <p:spPr>
          <a:xfrm>
            <a:off x="3821040" y="1791000"/>
            <a:ext cx="5853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263" name="Straight Connector 122"/>
          <p:cNvSpPr/>
          <p:nvPr/>
        </p:nvSpPr>
        <p:spPr>
          <a:xfrm flipV="1">
            <a:off x="4101480" y="231444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64" name="TextBox 139"/>
          <p:cNvSpPr/>
          <p:nvPr/>
        </p:nvSpPr>
        <p:spPr>
          <a:xfrm>
            <a:off x="3439080" y="1592280"/>
            <a:ext cx="9673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808080"/>
                </a:solidFill>
                <a:latin typeface="Arial"/>
              </a:rPr>
              <a:t>private banks</a:t>
            </a:r>
            <a:endParaRPr b="0" lang="it-IT" sz="1050" spc="-1" strike="noStrike">
              <a:latin typeface="Arial"/>
            </a:endParaRPr>
          </a:p>
        </p:txBody>
      </p:sp>
      <p:grpSp>
        <p:nvGrpSpPr>
          <p:cNvPr id="1265" name="Group 140"/>
          <p:cNvGrpSpPr/>
          <p:nvPr/>
        </p:nvGrpSpPr>
        <p:grpSpPr>
          <a:xfrm>
            <a:off x="2493360" y="5733360"/>
            <a:ext cx="1482480" cy="257040"/>
            <a:chOff x="2493360" y="5733360"/>
            <a:chExt cx="1482480" cy="257040"/>
          </a:xfrm>
        </p:grpSpPr>
        <p:sp>
          <p:nvSpPr>
            <p:cNvPr id="1266" name="Elbow Connector 141"/>
            <p:cNvSpPr/>
            <p:nvPr/>
          </p:nvSpPr>
          <p:spPr>
            <a:xfrm>
              <a:off x="2493360" y="5814720"/>
              <a:ext cx="1482480" cy="175680"/>
            </a:xfrm>
            <a:prstGeom prst="bentConnector3">
              <a:avLst>
                <a:gd name="adj1" fmla="val -101"/>
              </a:avLst>
            </a:prstGeom>
            <a:solidFill>
              <a:schemeClr val="bg1">
                <a:lumMod val="85000"/>
              </a:schemeClr>
            </a:solidFill>
            <a:ln cap="sq" w="22225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67" name="Straight Arrow Connector 142"/>
            <p:cNvSpPr/>
            <p:nvPr/>
          </p:nvSpPr>
          <p:spPr>
            <a:xfrm flipV="1">
              <a:off x="3966120" y="5733360"/>
              <a:ext cx="2880" cy="243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cap="sq" w="22225">
              <a:solidFill>
                <a:srgbClr val="000000"/>
              </a:solidFill>
              <a:round/>
              <a:tailEnd len="med" type="triangle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268" name="Left-Right Arrow 8"/>
          <p:cNvSpPr/>
          <p:nvPr/>
        </p:nvSpPr>
        <p:spPr>
          <a:xfrm rot="16200000">
            <a:off x="2877840" y="3720960"/>
            <a:ext cx="4896360" cy="42444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algn="tl"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i="1" lang="en-US" sz="1200" spc="-1" strike="noStrike">
                <a:solidFill>
                  <a:srgbClr val="808080"/>
                </a:solidFill>
                <a:latin typeface="Calibri"/>
              </a:rPr>
              <a:t>Data AXI Bus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269" name="Rectangle 100"/>
          <p:cNvSpPr/>
          <p:nvPr/>
        </p:nvSpPr>
        <p:spPr>
          <a:xfrm>
            <a:off x="6800400" y="2931840"/>
            <a:ext cx="4722120" cy="352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08080"/>
                </a:solidFill>
                <a:latin typeface="Calibri"/>
              </a:rPr>
              <a:t>TCDM Logarithmic Interconnect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270" name="Rectangle 101"/>
          <p:cNvSpPr/>
          <p:nvPr/>
        </p:nvSpPr>
        <p:spPr>
          <a:xfrm>
            <a:off x="5702040" y="2475720"/>
            <a:ext cx="851760" cy="8359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08080"/>
                </a:solidFill>
                <a:latin typeface="Calibri"/>
              </a:rPr>
              <a:t>DMA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271" name="Left-Right Arrow 12"/>
          <p:cNvSpPr/>
          <p:nvPr/>
        </p:nvSpPr>
        <p:spPr>
          <a:xfrm>
            <a:off x="5437440" y="5433840"/>
            <a:ext cx="6372720" cy="37116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algn="tl"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i="1" lang="en-US" sz="1100" spc="-1" strike="noStrike">
                <a:solidFill>
                  <a:srgbClr val="808080"/>
                </a:solidFill>
                <a:latin typeface="Calibri"/>
              </a:rPr>
              <a:t>Instruction AXI Bus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272" name="Rectangle 130"/>
          <p:cNvSpPr/>
          <p:nvPr/>
        </p:nvSpPr>
        <p:spPr>
          <a:xfrm>
            <a:off x="7085880" y="3573000"/>
            <a:ext cx="835920" cy="865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08080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273" name="Rectangle 146"/>
          <p:cNvSpPr/>
          <p:nvPr/>
        </p:nvSpPr>
        <p:spPr>
          <a:xfrm>
            <a:off x="8093880" y="3573000"/>
            <a:ext cx="835920" cy="865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08080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274" name="Rectangle 153"/>
          <p:cNvSpPr/>
          <p:nvPr/>
        </p:nvSpPr>
        <p:spPr>
          <a:xfrm>
            <a:off x="9101880" y="3573000"/>
            <a:ext cx="835920" cy="865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08080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275" name="Rectangle 160"/>
          <p:cNvSpPr/>
          <p:nvPr/>
        </p:nvSpPr>
        <p:spPr>
          <a:xfrm>
            <a:off x="10686240" y="3573000"/>
            <a:ext cx="835920" cy="865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08080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276" name="Rectangle 18"/>
          <p:cNvSpPr/>
          <p:nvPr/>
        </p:nvSpPr>
        <p:spPr>
          <a:xfrm>
            <a:off x="7085880" y="4682160"/>
            <a:ext cx="4436280" cy="5468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Shared </a:t>
            </a:r>
            <a:endParaRPr b="0" lang="it-IT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Instruction Cache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277" name="Rectangle 18"/>
          <p:cNvSpPr/>
          <p:nvPr/>
        </p:nvSpPr>
        <p:spPr>
          <a:xfrm>
            <a:off x="7346160" y="4235400"/>
            <a:ext cx="360000" cy="204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L0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278" name="Rectangle 18"/>
          <p:cNvSpPr/>
          <p:nvPr/>
        </p:nvSpPr>
        <p:spPr>
          <a:xfrm>
            <a:off x="8349840" y="4237200"/>
            <a:ext cx="360000" cy="204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L0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279" name="Rectangle 18"/>
          <p:cNvSpPr/>
          <p:nvPr/>
        </p:nvSpPr>
        <p:spPr>
          <a:xfrm>
            <a:off x="9359280" y="4236480"/>
            <a:ext cx="360000" cy="204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L0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280" name="Rectangle 18"/>
          <p:cNvSpPr/>
          <p:nvPr/>
        </p:nvSpPr>
        <p:spPr>
          <a:xfrm>
            <a:off x="10946520" y="4236480"/>
            <a:ext cx="360000" cy="204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L0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281" name="Rectangle 49"/>
          <p:cNvSpPr/>
          <p:nvPr/>
        </p:nvSpPr>
        <p:spPr>
          <a:xfrm>
            <a:off x="7058160" y="208872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282" name="Rectangle 50"/>
          <p:cNvSpPr/>
          <p:nvPr/>
        </p:nvSpPr>
        <p:spPr>
          <a:xfrm>
            <a:off x="7562160" y="208872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283" name="Rectangle 49"/>
          <p:cNvSpPr/>
          <p:nvPr/>
        </p:nvSpPr>
        <p:spPr>
          <a:xfrm>
            <a:off x="8061480" y="209196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284" name="Rectangle 50"/>
          <p:cNvSpPr/>
          <p:nvPr/>
        </p:nvSpPr>
        <p:spPr>
          <a:xfrm>
            <a:off x="8565480" y="209196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285" name="Rectangle 49"/>
          <p:cNvSpPr/>
          <p:nvPr/>
        </p:nvSpPr>
        <p:spPr>
          <a:xfrm>
            <a:off x="9064800" y="209196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286" name="Rectangle 50"/>
          <p:cNvSpPr/>
          <p:nvPr/>
        </p:nvSpPr>
        <p:spPr>
          <a:xfrm>
            <a:off x="9568800" y="209196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287" name="Rectangle 49"/>
          <p:cNvSpPr/>
          <p:nvPr/>
        </p:nvSpPr>
        <p:spPr>
          <a:xfrm>
            <a:off x="10587240" y="209052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288" name="Rectangle 50"/>
          <p:cNvSpPr/>
          <p:nvPr/>
        </p:nvSpPr>
        <p:spPr>
          <a:xfrm>
            <a:off x="11091240" y="209052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grpSp>
        <p:nvGrpSpPr>
          <p:cNvPr id="1289" name="Gruppo 131"/>
          <p:cNvGrpSpPr/>
          <p:nvPr/>
        </p:nvGrpSpPr>
        <p:grpSpPr>
          <a:xfrm>
            <a:off x="7922160" y="3764880"/>
            <a:ext cx="2764080" cy="479880"/>
            <a:chOff x="7922160" y="3764880"/>
            <a:chExt cx="2764080" cy="479880"/>
          </a:xfrm>
        </p:grpSpPr>
        <p:sp>
          <p:nvSpPr>
            <p:cNvPr id="1290" name="Rectangle 5"/>
            <p:cNvSpPr/>
            <p:nvPr/>
          </p:nvSpPr>
          <p:spPr>
            <a:xfrm>
              <a:off x="10099800" y="3764880"/>
              <a:ext cx="465840" cy="4798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39960" dir="2700000" dist="50402" rotWithShape="0">
                <a:srgbClr val="000000">
                  <a:alpha val="5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en-US" sz="1100" spc="-1" strike="noStrike">
                  <a:solidFill>
                    <a:srgbClr val="808080"/>
                  </a:solidFill>
                  <a:latin typeface="Calibri"/>
                </a:rPr>
                <a:t>HW Synch</a:t>
              </a:r>
              <a:endParaRPr b="0" lang="it-IT" sz="1100" spc="-1" strike="noStrike">
                <a:latin typeface="Arial"/>
              </a:endParaRPr>
            </a:p>
          </p:txBody>
        </p:sp>
        <p:sp>
          <p:nvSpPr>
            <p:cNvPr id="1291" name="Connettore 4 133"/>
            <p:cNvSpPr/>
            <p:nvPr/>
          </p:nvSpPr>
          <p:spPr>
            <a:xfrm flipV="1">
              <a:off x="7922160" y="3764520"/>
              <a:ext cx="2410560" cy="240480"/>
            </a:xfrm>
            <a:prstGeom prst="bentConnector4">
              <a:avLst>
                <a:gd name="adj1" fmla="val 4015"/>
                <a:gd name="adj2" fmla="val 228071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rgbClr val="ababab">
                  <a:lumMod val="75000"/>
                </a:srgbClr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2" name="Connettore 4 134"/>
            <p:cNvSpPr/>
            <p:nvPr/>
          </p:nvSpPr>
          <p:spPr>
            <a:xfrm flipV="1">
              <a:off x="8930160" y="3764520"/>
              <a:ext cx="1402200" cy="240480"/>
            </a:xfrm>
            <a:prstGeom prst="bentConnector4">
              <a:avLst>
                <a:gd name="adj1" fmla="val 6634"/>
                <a:gd name="adj2" fmla="val 228070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rgbClr val="ababab">
                  <a:lumMod val="75000"/>
                </a:srgbClr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3" name="Connettore 4 135"/>
            <p:cNvSpPr/>
            <p:nvPr/>
          </p:nvSpPr>
          <p:spPr>
            <a:xfrm flipV="1">
              <a:off x="9938520" y="3764880"/>
              <a:ext cx="394200" cy="240480"/>
            </a:xfrm>
            <a:prstGeom prst="bentConnector4">
              <a:avLst>
                <a:gd name="adj1" fmla="val 20454"/>
                <a:gd name="adj2" fmla="val 228070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rgbClr val="ababab">
                  <a:lumMod val="75000"/>
                </a:srgbClr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4" name="Connettore 4 136"/>
            <p:cNvSpPr/>
            <p:nvPr/>
          </p:nvSpPr>
          <p:spPr>
            <a:xfrm flipH="1" rot="16200000">
              <a:off x="10389600" y="3708720"/>
              <a:ext cx="240480" cy="352800"/>
            </a:xfrm>
            <a:prstGeom prst="bentConnector4">
              <a:avLst>
                <a:gd name="adj1" fmla="val -127144"/>
                <a:gd name="adj2" fmla="val 80569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rgbClr val="ababab">
                  <a:lumMod val="75000"/>
                </a:srgbClr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95" name="Straight Connector 156"/>
          <p:cNvSpPr/>
          <p:nvPr/>
        </p:nvSpPr>
        <p:spPr>
          <a:xfrm>
            <a:off x="488124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96" name="Straight Connector 156"/>
          <p:cNvSpPr/>
          <p:nvPr/>
        </p:nvSpPr>
        <p:spPr>
          <a:xfrm>
            <a:off x="5437440" y="2893680"/>
            <a:ext cx="26424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97" name="Straight Connector 156"/>
          <p:cNvSpPr/>
          <p:nvPr/>
        </p:nvSpPr>
        <p:spPr>
          <a:xfrm>
            <a:off x="727344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98" name="Straight Connector 156"/>
          <p:cNvSpPr/>
          <p:nvPr/>
        </p:nvSpPr>
        <p:spPr>
          <a:xfrm>
            <a:off x="777528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99" name="Straight Connector 156"/>
          <p:cNvSpPr/>
          <p:nvPr/>
        </p:nvSpPr>
        <p:spPr>
          <a:xfrm>
            <a:off x="827748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00" name="Straight Connector 156"/>
          <p:cNvSpPr/>
          <p:nvPr/>
        </p:nvSpPr>
        <p:spPr>
          <a:xfrm>
            <a:off x="877932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01" name="Straight Connector 156"/>
          <p:cNvSpPr/>
          <p:nvPr/>
        </p:nvSpPr>
        <p:spPr>
          <a:xfrm>
            <a:off x="928152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02" name="Straight Connector 156"/>
          <p:cNvSpPr/>
          <p:nvPr/>
        </p:nvSpPr>
        <p:spPr>
          <a:xfrm>
            <a:off x="978336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03" name="Straight Connector 156"/>
          <p:cNvSpPr/>
          <p:nvPr/>
        </p:nvSpPr>
        <p:spPr>
          <a:xfrm>
            <a:off x="10794600" y="267768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04" name="Straight Connector 156"/>
          <p:cNvSpPr/>
          <p:nvPr/>
        </p:nvSpPr>
        <p:spPr>
          <a:xfrm>
            <a:off x="11296440" y="267768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05" name="Straight Connector 156"/>
          <p:cNvSpPr/>
          <p:nvPr/>
        </p:nvSpPr>
        <p:spPr>
          <a:xfrm flipH="1" flipV="1">
            <a:off x="6568200" y="2716560"/>
            <a:ext cx="220680" cy="19620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06" name="Straight Connector 156"/>
          <p:cNvSpPr/>
          <p:nvPr/>
        </p:nvSpPr>
        <p:spPr>
          <a:xfrm>
            <a:off x="9313200" y="523764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07" name="Straight Connector 156"/>
          <p:cNvSpPr/>
          <p:nvPr/>
        </p:nvSpPr>
        <p:spPr>
          <a:xfrm>
            <a:off x="7500600" y="443592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08" name="Straight Connector 156"/>
          <p:cNvSpPr/>
          <p:nvPr/>
        </p:nvSpPr>
        <p:spPr>
          <a:xfrm>
            <a:off x="8507880" y="443592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09" name="Straight Connector 156"/>
          <p:cNvSpPr/>
          <p:nvPr/>
        </p:nvSpPr>
        <p:spPr>
          <a:xfrm>
            <a:off x="9514800" y="4429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10" name="Straight Connector 156"/>
          <p:cNvSpPr/>
          <p:nvPr/>
        </p:nvSpPr>
        <p:spPr>
          <a:xfrm>
            <a:off x="11108520" y="443592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11" name="Straight Connector 156"/>
          <p:cNvSpPr/>
          <p:nvPr/>
        </p:nvSpPr>
        <p:spPr>
          <a:xfrm>
            <a:off x="748260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12" name="Straight Connector 156"/>
          <p:cNvSpPr/>
          <p:nvPr/>
        </p:nvSpPr>
        <p:spPr>
          <a:xfrm>
            <a:off x="848952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13" name="Straight Connector 156"/>
          <p:cNvSpPr/>
          <p:nvPr/>
        </p:nvSpPr>
        <p:spPr>
          <a:xfrm>
            <a:off x="9496800" y="329580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14" name="Straight Connector 156"/>
          <p:cNvSpPr/>
          <p:nvPr/>
        </p:nvSpPr>
        <p:spPr>
          <a:xfrm>
            <a:off x="1109016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grpSp>
        <p:nvGrpSpPr>
          <p:cNvPr id="1315" name="Group 144"/>
          <p:cNvGrpSpPr/>
          <p:nvPr/>
        </p:nvGrpSpPr>
        <p:grpSpPr>
          <a:xfrm>
            <a:off x="4062960" y="3022200"/>
            <a:ext cx="1755360" cy="478440"/>
            <a:chOff x="4062960" y="3022200"/>
            <a:chExt cx="1755360" cy="478440"/>
          </a:xfrm>
        </p:grpSpPr>
        <p:sp>
          <p:nvSpPr>
            <p:cNvPr id="1316" name="Freeform: Shape 18"/>
            <p:cNvSpPr/>
            <p:nvPr/>
          </p:nvSpPr>
          <p:spPr>
            <a:xfrm>
              <a:off x="4062960" y="3027960"/>
              <a:ext cx="216000" cy="472680"/>
            </a:xfrm>
            <a:custGeom>
              <a:avLst/>
              <a:gdLst/>
              <a:ahLst/>
              <a:rect l="l" t="t" r="r" b="b"/>
              <a:pathLst>
                <a:path w="175036" h="590550">
                  <a:moveTo>
                    <a:pt x="0" y="0"/>
                  </a:moveTo>
                  <a:cubicBezTo>
                    <a:pt x="59531" y="38100"/>
                    <a:pt x="119063" y="76200"/>
                    <a:pt x="123825" y="95250"/>
                  </a:cubicBezTo>
                  <a:cubicBezTo>
                    <a:pt x="128587" y="114300"/>
                    <a:pt x="25400" y="95250"/>
                    <a:pt x="28575" y="114300"/>
                  </a:cubicBezTo>
                  <a:cubicBezTo>
                    <a:pt x="31750" y="133350"/>
                    <a:pt x="139700" y="184150"/>
                    <a:pt x="142875" y="209550"/>
                  </a:cubicBezTo>
                  <a:cubicBezTo>
                    <a:pt x="146050" y="234950"/>
                    <a:pt x="46038" y="246063"/>
                    <a:pt x="47625" y="266700"/>
                  </a:cubicBezTo>
                  <a:cubicBezTo>
                    <a:pt x="49212" y="287337"/>
                    <a:pt x="153988" y="307975"/>
                    <a:pt x="152400" y="333375"/>
                  </a:cubicBezTo>
                  <a:cubicBezTo>
                    <a:pt x="150813" y="358775"/>
                    <a:pt x="34925" y="398463"/>
                    <a:pt x="38100" y="419100"/>
                  </a:cubicBezTo>
                  <a:cubicBezTo>
                    <a:pt x="41275" y="439738"/>
                    <a:pt x="157163" y="428625"/>
                    <a:pt x="171450" y="457200"/>
                  </a:cubicBezTo>
                  <a:cubicBezTo>
                    <a:pt x="185737" y="485775"/>
                    <a:pt x="154781" y="538162"/>
                    <a:pt x="123825" y="590550"/>
                  </a:cubicBezTo>
                </a:path>
              </a:pathLst>
            </a:custGeom>
            <a:noFill/>
            <a:ln>
              <a:solidFill>
                <a:srgbClr val="ababab"/>
              </a:solidFill>
              <a:tailEnd len="med" type="triangle" w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17" name="TextBox 148"/>
            <p:cNvSpPr/>
            <p:nvPr/>
          </p:nvSpPr>
          <p:spPr>
            <a:xfrm>
              <a:off x="4529160" y="3022200"/>
              <a:ext cx="1289160" cy="47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i="1" lang="it-IT" sz="1270" spc="-1" strike="noStrike">
                  <a:solidFill>
                    <a:srgbClr val="c00000"/>
                  </a:solidFill>
                  <a:latin typeface="Calibri"/>
                </a:rPr>
                <a:t>Fabric Controller</a:t>
              </a:r>
              <a:endParaRPr b="0" lang="it-IT" sz="127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1" i="1" lang="it-IT" sz="1270" spc="-1" strike="noStrike">
                  <a:solidFill>
                    <a:srgbClr val="c00000"/>
                  </a:solidFill>
                  <a:latin typeface="Calibri"/>
                </a:rPr>
                <a:t>Thread</a:t>
              </a:r>
              <a:endParaRPr b="0" lang="it-IT" sz="1270" spc="-1" strike="noStrike">
                <a:latin typeface="Arial"/>
              </a:endParaRPr>
            </a:p>
          </p:txBody>
        </p:sp>
      </p:grpSp>
      <p:sp>
        <p:nvSpPr>
          <p:cNvPr id="1318" name="Rectangle 149"/>
          <p:cNvSpPr/>
          <p:nvPr/>
        </p:nvSpPr>
        <p:spPr>
          <a:xfrm>
            <a:off x="5886720" y="887040"/>
            <a:ext cx="51300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The Cluster is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clock-gated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at boot: a single thread runs on the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Fabric Controller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(MCU core)</a:t>
            </a:r>
            <a:endParaRPr b="0" lang="it-IT" sz="1800" spc="-1" strike="noStrike">
              <a:latin typeface="Arial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800" spc="-106" strike="noStrike">
                <a:solidFill>
                  <a:srgbClr val="c00000"/>
                </a:solidFill>
                <a:latin typeface="Calibri"/>
                <a:ea typeface="Roboto"/>
              </a:rPr>
              <a:t>PULP Execution Model</a:t>
            </a:r>
            <a:endParaRPr b="0" lang="it-IT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0" name="PlaceHolder 2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00CD1700-4080-4F01-A247-2A6AC8BA5B04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  <p:sp>
        <p:nvSpPr>
          <p:cNvPr id="1321" name="Rectangle 125"/>
          <p:cNvSpPr/>
          <p:nvPr/>
        </p:nvSpPr>
        <p:spPr>
          <a:xfrm>
            <a:off x="2906640" y="4742280"/>
            <a:ext cx="170460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322" name="Rectangle 126"/>
          <p:cNvSpPr/>
          <p:nvPr/>
        </p:nvSpPr>
        <p:spPr>
          <a:xfrm rot="16200000">
            <a:off x="2827440" y="528624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CLK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323" name="Rectangle 128"/>
          <p:cNvSpPr/>
          <p:nvPr/>
        </p:nvSpPr>
        <p:spPr>
          <a:xfrm rot="16200000">
            <a:off x="3267000" y="528480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TIMER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324" name="Rectangle 130"/>
          <p:cNvSpPr/>
          <p:nvPr/>
        </p:nvSpPr>
        <p:spPr>
          <a:xfrm rot="16200000">
            <a:off x="4131360" y="414828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325" name="Straight Connector 133"/>
          <p:cNvSpPr/>
          <p:nvPr/>
        </p:nvSpPr>
        <p:spPr>
          <a:xfrm flipV="1">
            <a:off x="309168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26" name="Straight Connector 134"/>
          <p:cNvSpPr/>
          <p:nvPr/>
        </p:nvSpPr>
        <p:spPr>
          <a:xfrm flipV="1">
            <a:off x="3531240" y="507096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27" name="Rectangle 68"/>
          <p:cNvSpPr/>
          <p:nvPr/>
        </p:nvSpPr>
        <p:spPr>
          <a:xfrm>
            <a:off x="1461600" y="388368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SPI 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328" name="Rectangle 69"/>
          <p:cNvSpPr/>
          <p:nvPr/>
        </p:nvSpPr>
        <p:spPr>
          <a:xfrm>
            <a:off x="1461600" y="428004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CAMIF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329" name="Straight Connector 70"/>
          <p:cNvSpPr/>
          <p:nvPr/>
        </p:nvSpPr>
        <p:spPr>
          <a:xfrm>
            <a:off x="2046960" y="404856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30" name="Straight Connector 71"/>
          <p:cNvSpPr/>
          <p:nvPr/>
        </p:nvSpPr>
        <p:spPr>
          <a:xfrm>
            <a:off x="2046960" y="44449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31" name="Rectangle 72"/>
          <p:cNvSpPr/>
          <p:nvPr/>
        </p:nvSpPr>
        <p:spPr>
          <a:xfrm>
            <a:off x="1461600" y="467640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I2C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332" name="Rectangle 73"/>
          <p:cNvSpPr/>
          <p:nvPr/>
        </p:nvSpPr>
        <p:spPr>
          <a:xfrm>
            <a:off x="1461600" y="507276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UART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333" name="Straight Connector 74"/>
          <p:cNvSpPr/>
          <p:nvPr/>
        </p:nvSpPr>
        <p:spPr>
          <a:xfrm>
            <a:off x="2046960" y="48412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34" name="Straight Connector 75"/>
          <p:cNvSpPr/>
          <p:nvPr/>
        </p:nvSpPr>
        <p:spPr>
          <a:xfrm>
            <a:off x="2046960" y="523764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35" name="Rectangle 152"/>
          <p:cNvSpPr/>
          <p:nvPr/>
        </p:nvSpPr>
        <p:spPr>
          <a:xfrm rot="16200000">
            <a:off x="1329120" y="4485600"/>
            <a:ext cx="227376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µDMA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336" name="Rectangle 154"/>
          <p:cNvSpPr/>
          <p:nvPr/>
        </p:nvSpPr>
        <p:spPr>
          <a:xfrm>
            <a:off x="1462680" y="250092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337" name="Straight Connector 155"/>
          <p:cNvSpPr/>
          <p:nvPr/>
        </p:nvSpPr>
        <p:spPr>
          <a:xfrm>
            <a:off x="2048040" y="266580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38" name="Straight Connector 156"/>
          <p:cNvSpPr/>
          <p:nvPr/>
        </p:nvSpPr>
        <p:spPr>
          <a:xfrm>
            <a:off x="115956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39" name="Rectangle 66"/>
          <p:cNvSpPr/>
          <p:nvPr/>
        </p:nvSpPr>
        <p:spPr>
          <a:xfrm>
            <a:off x="4439880" y="1786320"/>
            <a:ext cx="54792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ROM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340" name="Rectangle 119"/>
          <p:cNvSpPr/>
          <p:nvPr/>
        </p:nvSpPr>
        <p:spPr>
          <a:xfrm>
            <a:off x="2289240" y="2504160"/>
            <a:ext cx="259164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Logarithmic Interconnect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341" name="Straight Connector 120"/>
          <p:cNvSpPr/>
          <p:nvPr/>
        </p:nvSpPr>
        <p:spPr>
          <a:xfrm flipV="1">
            <a:off x="2463480" y="23418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42" name="Straight Connector 122"/>
          <p:cNvSpPr/>
          <p:nvPr/>
        </p:nvSpPr>
        <p:spPr>
          <a:xfrm flipV="1">
            <a:off x="352008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43" name="Straight Connector 123"/>
          <p:cNvSpPr/>
          <p:nvPr/>
        </p:nvSpPr>
        <p:spPr>
          <a:xfrm flipV="1">
            <a:off x="466524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44" name="Straight Connector 157"/>
          <p:cNvSpPr/>
          <p:nvPr/>
        </p:nvSpPr>
        <p:spPr>
          <a:xfrm flipV="1">
            <a:off x="246348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45" name="Rectangle 131"/>
          <p:cNvSpPr/>
          <p:nvPr/>
        </p:nvSpPr>
        <p:spPr>
          <a:xfrm>
            <a:off x="3813120" y="3002760"/>
            <a:ext cx="722160" cy="528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46" name="Straight Connector 138"/>
          <p:cNvSpPr/>
          <p:nvPr/>
        </p:nvSpPr>
        <p:spPr>
          <a:xfrm flipV="1">
            <a:off x="398736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47" name="Straight Connector 139"/>
          <p:cNvSpPr/>
          <p:nvPr/>
        </p:nvSpPr>
        <p:spPr>
          <a:xfrm flipV="1">
            <a:off x="438912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48" name="Straight Connector 159"/>
          <p:cNvSpPr/>
          <p:nvPr/>
        </p:nvSpPr>
        <p:spPr>
          <a:xfrm flipV="1">
            <a:off x="2778480" y="2828520"/>
            <a:ext cx="360" cy="12009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49" name="Straight Connector 160"/>
          <p:cNvSpPr/>
          <p:nvPr/>
        </p:nvSpPr>
        <p:spPr>
          <a:xfrm flipV="1">
            <a:off x="2639160" y="4038480"/>
            <a:ext cx="139320" cy="2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50" name="Rectangle 141"/>
          <p:cNvSpPr/>
          <p:nvPr/>
        </p:nvSpPr>
        <p:spPr>
          <a:xfrm>
            <a:off x="2285640" y="2997000"/>
            <a:ext cx="365760" cy="401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 vert="vert270" rot="16200000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351" name="Rectangle 147"/>
          <p:cNvSpPr/>
          <p:nvPr/>
        </p:nvSpPr>
        <p:spPr>
          <a:xfrm>
            <a:off x="1463400" y="299700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GPIO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352" name="Straight Connector 149"/>
          <p:cNvSpPr/>
          <p:nvPr/>
        </p:nvSpPr>
        <p:spPr>
          <a:xfrm flipV="1">
            <a:off x="2048760" y="3140640"/>
            <a:ext cx="234360" cy="7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53" name="Straight Connector 161"/>
          <p:cNvSpPr/>
          <p:nvPr/>
        </p:nvSpPr>
        <p:spPr>
          <a:xfrm flipV="1">
            <a:off x="2463480" y="340488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54" name="Rectangle 68"/>
          <p:cNvSpPr/>
          <p:nvPr/>
        </p:nvSpPr>
        <p:spPr>
          <a:xfrm>
            <a:off x="1469160" y="342900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I2S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355" name="Straight Connector 70"/>
          <p:cNvSpPr/>
          <p:nvPr/>
        </p:nvSpPr>
        <p:spPr>
          <a:xfrm>
            <a:off x="2054520" y="35938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56" name="Rectangle 73"/>
          <p:cNvSpPr/>
          <p:nvPr/>
        </p:nvSpPr>
        <p:spPr>
          <a:xfrm>
            <a:off x="1469160" y="547488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SDIO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357" name="Straight Connector 75"/>
          <p:cNvSpPr/>
          <p:nvPr/>
        </p:nvSpPr>
        <p:spPr>
          <a:xfrm>
            <a:off x="2054520" y="56401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58" name="Elbow Connector 3"/>
          <p:cNvSpPr/>
          <p:nvPr/>
        </p:nvSpPr>
        <p:spPr>
          <a:xfrm>
            <a:off x="2651760" y="3197880"/>
            <a:ext cx="254160" cy="1709280"/>
          </a:xfrm>
          <a:prstGeom prst="bentConnector3">
            <a:avLst>
              <a:gd name="adj1" fmla="val 24952"/>
            </a:avLst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359" name="Rectangle 128"/>
          <p:cNvSpPr/>
          <p:nvPr/>
        </p:nvSpPr>
        <p:spPr>
          <a:xfrm rot="16200000">
            <a:off x="3705120" y="528624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EVENT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360" name="Straight Connector 134"/>
          <p:cNvSpPr/>
          <p:nvPr/>
        </p:nvSpPr>
        <p:spPr>
          <a:xfrm flipV="1">
            <a:off x="396936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61" name="Rectangle 128"/>
          <p:cNvSpPr/>
          <p:nvPr/>
        </p:nvSpPr>
        <p:spPr>
          <a:xfrm rot="16200000">
            <a:off x="4131360" y="529848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SoC CTRL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362" name="Straight Connector 134"/>
          <p:cNvSpPr/>
          <p:nvPr/>
        </p:nvSpPr>
        <p:spPr>
          <a:xfrm flipV="1">
            <a:off x="4395240" y="5085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63" name="Straight Connector 134"/>
          <p:cNvSpPr/>
          <p:nvPr/>
        </p:nvSpPr>
        <p:spPr>
          <a:xfrm flipV="1">
            <a:off x="4419000" y="4581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64" name="Rectangle 130"/>
          <p:cNvSpPr/>
          <p:nvPr/>
        </p:nvSpPr>
        <p:spPr>
          <a:xfrm rot="16200000">
            <a:off x="3699000" y="415836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INTC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365" name="Straight Connector 134"/>
          <p:cNvSpPr/>
          <p:nvPr/>
        </p:nvSpPr>
        <p:spPr>
          <a:xfrm flipV="1">
            <a:off x="3987000" y="459108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66" name="Straight Connector 134"/>
          <p:cNvSpPr/>
          <p:nvPr/>
        </p:nvSpPr>
        <p:spPr>
          <a:xfrm flipH="1" flipV="1">
            <a:off x="3263400" y="3524040"/>
            <a:ext cx="9360" cy="1199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67" name="Straight Connector 79"/>
          <p:cNvSpPr/>
          <p:nvPr/>
        </p:nvSpPr>
        <p:spPr>
          <a:xfrm flipV="1">
            <a:off x="3963240" y="3557520"/>
            <a:ext cx="360" cy="51948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68" name="Straight Connector 81"/>
          <p:cNvSpPr/>
          <p:nvPr/>
        </p:nvSpPr>
        <p:spPr>
          <a:xfrm flipV="1">
            <a:off x="4395240" y="3543480"/>
            <a:ext cx="0" cy="53640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69" name="Rectangle 131"/>
          <p:cNvSpPr/>
          <p:nvPr/>
        </p:nvSpPr>
        <p:spPr>
          <a:xfrm>
            <a:off x="2902320" y="2995920"/>
            <a:ext cx="7221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rIns="27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ACCEL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370" name="Straight Connector 138"/>
          <p:cNvSpPr/>
          <p:nvPr/>
        </p:nvSpPr>
        <p:spPr>
          <a:xfrm flipV="1">
            <a:off x="307656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71" name="Straight Connector 139"/>
          <p:cNvSpPr/>
          <p:nvPr/>
        </p:nvSpPr>
        <p:spPr>
          <a:xfrm flipV="1">
            <a:off x="321012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72" name="Straight Connector 138"/>
          <p:cNvSpPr/>
          <p:nvPr/>
        </p:nvSpPr>
        <p:spPr>
          <a:xfrm flipV="1">
            <a:off x="335412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73" name="Straight Connector 139"/>
          <p:cNvSpPr/>
          <p:nvPr/>
        </p:nvSpPr>
        <p:spPr>
          <a:xfrm flipV="1">
            <a:off x="348804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74" name="Straight Connector 156"/>
          <p:cNvSpPr/>
          <p:nvPr/>
        </p:nvSpPr>
        <p:spPr>
          <a:xfrm>
            <a:off x="115524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75" name="Straight Connector 156"/>
          <p:cNvSpPr/>
          <p:nvPr/>
        </p:nvSpPr>
        <p:spPr>
          <a:xfrm>
            <a:off x="115524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76" name="Straight Connector 156"/>
          <p:cNvSpPr/>
          <p:nvPr/>
        </p:nvSpPr>
        <p:spPr>
          <a:xfrm>
            <a:off x="115524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77" name="Straight Connector 156"/>
          <p:cNvSpPr/>
          <p:nvPr/>
        </p:nvSpPr>
        <p:spPr>
          <a:xfrm>
            <a:off x="115524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78" name="Straight Connector 156"/>
          <p:cNvSpPr/>
          <p:nvPr/>
        </p:nvSpPr>
        <p:spPr>
          <a:xfrm>
            <a:off x="115920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79" name="Straight Connector 156"/>
          <p:cNvSpPr/>
          <p:nvPr/>
        </p:nvSpPr>
        <p:spPr>
          <a:xfrm>
            <a:off x="115920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80" name="Straight Connector 156"/>
          <p:cNvSpPr/>
          <p:nvPr/>
        </p:nvSpPr>
        <p:spPr>
          <a:xfrm>
            <a:off x="115524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81" name="Trapezoid 112"/>
          <p:cNvSpPr/>
          <p:nvPr/>
        </p:nvSpPr>
        <p:spPr>
          <a:xfrm rot="16200000">
            <a:off x="-795960" y="4004280"/>
            <a:ext cx="3615840" cy="273960"/>
          </a:xfrm>
          <a:prstGeom prst="trapezoid">
            <a:avLst>
              <a:gd name="adj" fmla="val 25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Pad Control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382" name="Straight Connector 156"/>
          <p:cNvSpPr/>
          <p:nvPr/>
        </p:nvSpPr>
        <p:spPr>
          <a:xfrm>
            <a:off x="56520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83" name="Straight Connector 156"/>
          <p:cNvSpPr/>
          <p:nvPr/>
        </p:nvSpPr>
        <p:spPr>
          <a:xfrm>
            <a:off x="56088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84" name="Straight Connector 156"/>
          <p:cNvSpPr/>
          <p:nvPr/>
        </p:nvSpPr>
        <p:spPr>
          <a:xfrm>
            <a:off x="56088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85" name="Straight Connector 156"/>
          <p:cNvSpPr/>
          <p:nvPr/>
        </p:nvSpPr>
        <p:spPr>
          <a:xfrm>
            <a:off x="56088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86" name="Straight Connector 156"/>
          <p:cNvSpPr/>
          <p:nvPr/>
        </p:nvSpPr>
        <p:spPr>
          <a:xfrm>
            <a:off x="56088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87" name="Straight Connector 156"/>
          <p:cNvSpPr/>
          <p:nvPr/>
        </p:nvSpPr>
        <p:spPr>
          <a:xfrm>
            <a:off x="56448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88" name="Straight Connector 156"/>
          <p:cNvSpPr/>
          <p:nvPr/>
        </p:nvSpPr>
        <p:spPr>
          <a:xfrm>
            <a:off x="56448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89" name="Straight Connector 156"/>
          <p:cNvSpPr/>
          <p:nvPr/>
        </p:nvSpPr>
        <p:spPr>
          <a:xfrm>
            <a:off x="56088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90" name="Elbow Connector 122"/>
          <p:cNvSpPr/>
          <p:nvPr/>
        </p:nvSpPr>
        <p:spPr>
          <a:xfrm rot="5400000">
            <a:off x="2619360" y="4138200"/>
            <a:ext cx="168840" cy="3383280"/>
          </a:xfrm>
          <a:prstGeom prst="bentConnector3">
            <a:avLst>
              <a:gd name="adj1" fmla="val 200174"/>
            </a:avLst>
          </a:prstGeom>
          <a:noFill/>
          <a:ln cap="sq" w="22225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91" name="Straight Connector 120"/>
          <p:cNvSpPr/>
          <p:nvPr/>
        </p:nvSpPr>
        <p:spPr>
          <a:xfrm flipV="1">
            <a:off x="2593440" y="2229120"/>
            <a:ext cx="360" cy="2635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92" name="Straight Connector 120"/>
          <p:cNvSpPr/>
          <p:nvPr/>
        </p:nvSpPr>
        <p:spPr>
          <a:xfrm flipV="1">
            <a:off x="2737800" y="1981080"/>
            <a:ext cx="360" cy="5295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93" name="Straight Connector 120"/>
          <p:cNvSpPr/>
          <p:nvPr/>
        </p:nvSpPr>
        <p:spPr>
          <a:xfrm flipV="1">
            <a:off x="2877120" y="1783800"/>
            <a:ext cx="0" cy="726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94" name="Rectangle 118"/>
          <p:cNvSpPr/>
          <p:nvPr/>
        </p:nvSpPr>
        <p:spPr>
          <a:xfrm>
            <a:off x="2593440" y="1522080"/>
            <a:ext cx="5853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395" name="Rectangle 118"/>
          <p:cNvSpPr/>
          <p:nvPr/>
        </p:nvSpPr>
        <p:spPr>
          <a:xfrm>
            <a:off x="2445120" y="1604520"/>
            <a:ext cx="5853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396" name="Rectangle 118"/>
          <p:cNvSpPr/>
          <p:nvPr/>
        </p:nvSpPr>
        <p:spPr>
          <a:xfrm>
            <a:off x="2291760" y="1700640"/>
            <a:ext cx="5853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397" name="Rectangle 124"/>
          <p:cNvSpPr/>
          <p:nvPr/>
        </p:nvSpPr>
        <p:spPr>
          <a:xfrm>
            <a:off x="2163600" y="1804680"/>
            <a:ext cx="5853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398" name="TextBox 135"/>
          <p:cNvSpPr/>
          <p:nvPr/>
        </p:nvSpPr>
        <p:spPr>
          <a:xfrm rot="19092600">
            <a:off x="1611000" y="1535760"/>
            <a:ext cx="12236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808080"/>
                </a:solidFill>
                <a:latin typeface="Arial"/>
              </a:rPr>
              <a:t>Interleaved banks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399" name="Rectangle 124"/>
          <p:cNvSpPr/>
          <p:nvPr/>
        </p:nvSpPr>
        <p:spPr>
          <a:xfrm>
            <a:off x="3220920" y="1786320"/>
            <a:ext cx="5853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400" name="Rectangle 124"/>
          <p:cNvSpPr/>
          <p:nvPr/>
        </p:nvSpPr>
        <p:spPr>
          <a:xfrm>
            <a:off x="3821040" y="1791000"/>
            <a:ext cx="5853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401" name="Straight Connector 122"/>
          <p:cNvSpPr/>
          <p:nvPr/>
        </p:nvSpPr>
        <p:spPr>
          <a:xfrm flipV="1">
            <a:off x="4101480" y="231444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02" name="TextBox 139"/>
          <p:cNvSpPr/>
          <p:nvPr/>
        </p:nvSpPr>
        <p:spPr>
          <a:xfrm>
            <a:off x="3439080" y="1592280"/>
            <a:ext cx="9673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808080"/>
                </a:solidFill>
                <a:latin typeface="Arial"/>
              </a:rPr>
              <a:t>private banks</a:t>
            </a:r>
            <a:endParaRPr b="0" lang="it-IT" sz="1050" spc="-1" strike="noStrike">
              <a:latin typeface="Arial"/>
            </a:endParaRPr>
          </a:p>
        </p:txBody>
      </p:sp>
      <p:grpSp>
        <p:nvGrpSpPr>
          <p:cNvPr id="1403" name="Group 140"/>
          <p:cNvGrpSpPr/>
          <p:nvPr/>
        </p:nvGrpSpPr>
        <p:grpSpPr>
          <a:xfrm>
            <a:off x="2493360" y="5733360"/>
            <a:ext cx="1482480" cy="257040"/>
            <a:chOff x="2493360" y="5733360"/>
            <a:chExt cx="1482480" cy="257040"/>
          </a:xfrm>
        </p:grpSpPr>
        <p:sp>
          <p:nvSpPr>
            <p:cNvPr id="1404" name="Elbow Connector 141"/>
            <p:cNvSpPr/>
            <p:nvPr/>
          </p:nvSpPr>
          <p:spPr>
            <a:xfrm>
              <a:off x="2493360" y="5814720"/>
              <a:ext cx="1482480" cy="175680"/>
            </a:xfrm>
            <a:prstGeom prst="bentConnector3">
              <a:avLst>
                <a:gd name="adj1" fmla="val -101"/>
              </a:avLst>
            </a:prstGeom>
            <a:solidFill>
              <a:schemeClr val="bg1">
                <a:lumMod val="85000"/>
              </a:schemeClr>
            </a:solidFill>
            <a:ln cap="sq" w="22225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05" name="Straight Arrow Connector 142"/>
            <p:cNvSpPr/>
            <p:nvPr/>
          </p:nvSpPr>
          <p:spPr>
            <a:xfrm flipV="1">
              <a:off x="3966120" y="5733360"/>
              <a:ext cx="2880" cy="243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cap="sq" w="22225">
              <a:solidFill>
                <a:srgbClr val="000000"/>
              </a:solidFill>
              <a:round/>
              <a:tailEnd len="med" type="triangle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406" name="Left-Right Arrow 8"/>
          <p:cNvSpPr/>
          <p:nvPr/>
        </p:nvSpPr>
        <p:spPr>
          <a:xfrm rot="16200000">
            <a:off x="2877840" y="3720960"/>
            <a:ext cx="4896360" cy="42444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algn="tl"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i="1" lang="en-US" sz="1200" spc="-1" strike="noStrike">
                <a:solidFill>
                  <a:srgbClr val="808080"/>
                </a:solidFill>
                <a:latin typeface="Calibri"/>
              </a:rPr>
              <a:t>Data AXI Bus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407" name="Rectangle 100"/>
          <p:cNvSpPr/>
          <p:nvPr/>
        </p:nvSpPr>
        <p:spPr>
          <a:xfrm>
            <a:off x="6800400" y="2931840"/>
            <a:ext cx="4722120" cy="352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08080"/>
                </a:solidFill>
                <a:latin typeface="Calibri"/>
              </a:rPr>
              <a:t>TCDM Logarithmic Interconnect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408" name="Rectangle 101"/>
          <p:cNvSpPr/>
          <p:nvPr/>
        </p:nvSpPr>
        <p:spPr>
          <a:xfrm>
            <a:off x="5702040" y="2475720"/>
            <a:ext cx="851760" cy="8359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08080"/>
                </a:solidFill>
                <a:latin typeface="Calibri"/>
              </a:rPr>
              <a:t>DMA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409" name="Left-Right Arrow 12"/>
          <p:cNvSpPr/>
          <p:nvPr/>
        </p:nvSpPr>
        <p:spPr>
          <a:xfrm>
            <a:off x="5437440" y="5433840"/>
            <a:ext cx="6372720" cy="37116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algn="tl"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i="1" lang="en-US" sz="1100" spc="-1" strike="noStrike">
                <a:solidFill>
                  <a:srgbClr val="808080"/>
                </a:solidFill>
                <a:latin typeface="Calibri"/>
              </a:rPr>
              <a:t>Instruction AXI Bus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410" name="Rectangle 130"/>
          <p:cNvSpPr/>
          <p:nvPr/>
        </p:nvSpPr>
        <p:spPr>
          <a:xfrm>
            <a:off x="7085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11" name="Rectangle 146"/>
          <p:cNvSpPr/>
          <p:nvPr/>
        </p:nvSpPr>
        <p:spPr>
          <a:xfrm>
            <a:off x="8093880" y="3573000"/>
            <a:ext cx="835920" cy="865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08080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412" name="Rectangle 153"/>
          <p:cNvSpPr/>
          <p:nvPr/>
        </p:nvSpPr>
        <p:spPr>
          <a:xfrm>
            <a:off x="9101880" y="3573000"/>
            <a:ext cx="835920" cy="865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08080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413" name="Rectangle 160"/>
          <p:cNvSpPr/>
          <p:nvPr/>
        </p:nvSpPr>
        <p:spPr>
          <a:xfrm>
            <a:off x="10686240" y="3573000"/>
            <a:ext cx="835920" cy="865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08080"/>
                </a:solidFill>
                <a:latin typeface="Calibri"/>
              </a:rPr>
              <a:t>RISC-V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414" name="Rectangle 18"/>
          <p:cNvSpPr/>
          <p:nvPr/>
        </p:nvSpPr>
        <p:spPr>
          <a:xfrm>
            <a:off x="7085880" y="4682160"/>
            <a:ext cx="4436280" cy="5468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Shared </a:t>
            </a:r>
            <a:endParaRPr b="0" lang="it-IT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Instruction Cache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415" name="Rectangle 18"/>
          <p:cNvSpPr/>
          <p:nvPr/>
        </p:nvSpPr>
        <p:spPr>
          <a:xfrm>
            <a:off x="8349840" y="4237200"/>
            <a:ext cx="360000" cy="204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L0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416" name="Rectangle 18"/>
          <p:cNvSpPr/>
          <p:nvPr/>
        </p:nvSpPr>
        <p:spPr>
          <a:xfrm>
            <a:off x="9359280" y="4236480"/>
            <a:ext cx="360000" cy="204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L0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417" name="Rectangle 18"/>
          <p:cNvSpPr/>
          <p:nvPr/>
        </p:nvSpPr>
        <p:spPr>
          <a:xfrm>
            <a:off x="10946520" y="4236480"/>
            <a:ext cx="360000" cy="204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L0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418" name="Rectangle 49"/>
          <p:cNvSpPr/>
          <p:nvPr/>
        </p:nvSpPr>
        <p:spPr>
          <a:xfrm>
            <a:off x="7058160" y="208872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419" name="Rectangle 50"/>
          <p:cNvSpPr/>
          <p:nvPr/>
        </p:nvSpPr>
        <p:spPr>
          <a:xfrm>
            <a:off x="7562160" y="208872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420" name="Rectangle 49"/>
          <p:cNvSpPr/>
          <p:nvPr/>
        </p:nvSpPr>
        <p:spPr>
          <a:xfrm>
            <a:off x="8061480" y="209196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421" name="Rectangle 50"/>
          <p:cNvSpPr/>
          <p:nvPr/>
        </p:nvSpPr>
        <p:spPr>
          <a:xfrm>
            <a:off x="8565480" y="209196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422" name="Rectangle 49"/>
          <p:cNvSpPr/>
          <p:nvPr/>
        </p:nvSpPr>
        <p:spPr>
          <a:xfrm>
            <a:off x="9064800" y="209196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423" name="Rectangle 50"/>
          <p:cNvSpPr/>
          <p:nvPr/>
        </p:nvSpPr>
        <p:spPr>
          <a:xfrm>
            <a:off x="9568800" y="209196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424" name="Rectangle 49"/>
          <p:cNvSpPr/>
          <p:nvPr/>
        </p:nvSpPr>
        <p:spPr>
          <a:xfrm>
            <a:off x="10587240" y="209052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425" name="Rectangle 50"/>
          <p:cNvSpPr/>
          <p:nvPr/>
        </p:nvSpPr>
        <p:spPr>
          <a:xfrm>
            <a:off x="11091240" y="209052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grpSp>
        <p:nvGrpSpPr>
          <p:cNvPr id="1426" name="Gruppo 131"/>
          <p:cNvGrpSpPr/>
          <p:nvPr/>
        </p:nvGrpSpPr>
        <p:grpSpPr>
          <a:xfrm>
            <a:off x="7922160" y="3764880"/>
            <a:ext cx="2764080" cy="479880"/>
            <a:chOff x="7922160" y="3764880"/>
            <a:chExt cx="2764080" cy="479880"/>
          </a:xfrm>
        </p:grpSpPr>
        <p:sp>
          <p:nvSpPr>
            <p:cNvPr id="1427" name="Rectangle 5"/>
            <p:cNvSpPr/>
            <p:nvPr/>
          </p:nvSpPr>
          <p:spPr>
            <a:xfrm>
              <a:off x="10099800" y="3764880"/>
              <a:ext cx="465840" cy="4798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39960" dir="2700000" dist="50402" rotWithShape="0">
                <a:srgbClr val="000000">
                  <a:alpha val="5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en-US" sz="1100" spc="-1" strike="noStrike">
                  <a:solidFill>
                    <a:srgbClr val="808080"/>
                  </a:solidFill>
                  <a:latin typeface="Calibri"/>
                </a:rPr>
                <a:t>HW Synch</a:t>
              </a:r>
              <a:endParaRPr b="0" lang="it-IT" sz="1100" spc="-1" strike="noStrike">
                <a:latin typeface="Arial"/>
              </a:endParaRPr>
            </a:p>
          </p:txBody>
        </p:sp>
        <p:sp>
          <p:nvSpPr>
            <p:cNvPr id="1428" name="Connettore 4 133"/>
            <p:cNvSpPr/>
            <p:nvPr/>
          </p:nvSpPr>
          <p:spPr>
            <a:xfrm flipV="1">
              <a:off x="7922160" y="3764520"/>
              <a:ext cx="2410560" cy="240480"/>
            </a:xfrm>
            <a:prstGeom prst="bentConnector4">
              <a:avLst>
                <a:gd name="adj1" fmla="val 4015"/>
                <a:gd name="adj2" fmla="val 228071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rgbClr val="ababab">
                  <a:lumMod val="75000"/>
                </a:srgbClr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29" name="Connettore 4 134"/>
            <p:cNvSpPr/>
            <p:nvPr/>
          </p:nvSpPr>
          <p:spPr>
            <a:xfrm flipV="1">
              <a:off x="8930160" y="3764520"/>
              <a:ext cx="1402200" cy="240480"/>
            </a:xfrm>
            <a:prstGeom prst="bentConnector4">
              <a:avLst>
                <a:gd name="adj1" fmla="val 6634"/>
                <a:gd name="adj2" fmla="val 228070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rgbClr val="ababab">
                  <a:lumMod val="75000"/>
                </a:srgbClr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30" name="Connettore 4 135"/>
            <p:cNvSpPr/>
            <p:nvPr/>
          </p:nvSpPr>
          <p:spPr>
            <a:xfrm flipV="1">
              <a:off x="9938520" y="3764880"/>
              <a:ext cx="394200" cy="240480"/>
            </a:xfrm>
            <a:prstGeom prst="bentConnector4">
              <a:avLst>
                <a:gd name="adj1" fmla="val 20454"/>
                <a:gd name="adj2" fmla="val 228070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rgbClr val="ababab">
                  <a:lumMod val="75000"/>
                </a:srgbClr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31" name="Connettore 4 136"/>
            <p:cNvSpPr/>
            <p:nvPr/>
          </p:nvSpPr>
          <p:spPr>
            <a:xfrm flipH="1" rot="16200000">
              <a:off x="10389600" y="3708720"/>
              <a:ext cx="240480" cy="352800"/>
            </a:xfrm>
            <a:prstGeom prst="bentConnector4">
              <a:avLst>
                <a:gd name="adj1" fmla="val -127144"/>
                <a:gd name="adj2" fmla="val 80569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rgbClr val="ababab">
                  <a:lumMod val="75000"/>
                </a:srgbClr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32" name="Straight Connector 156"/>
          <p:cNvSpPr/>
          <p:nvPr/>
        </p:nvSpPr>
        <p:spPr>
          <a:xfrm>
            <a:off x="488124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33" name="Straight Connector 156"/>
          <p:cNvSpPr/>
          <p:nvPr/>
        </p:nvSpPr>
        <p:spPr>
          <a:xfrm>
            <a:off x="5437440" y="2893680"/>
            <a:ext cx="26424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34" name="Straight Connector 156"/>
          <p:cNvSpPr/>
          <p:nvPr/>
        </p:nvSpPr>
        <p:spPr>
          <a:xfrm>
            <a:off x="727344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35" name="Straight Connector 156"/>
          <p:cNvSpPr/>
          <p:nvPr/>
        </p:nvSpPr>
        <p:spPr>
          <a:xfrm>
            <a:off x="777528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36" name="Straight Connector 156"/>
          <p:cNvSpPr/>
          <p:nvPr/>
        </p:nvSpPr>
        <p:spPr>
          <a:xfrm>
            <a:off x="827748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37" name="Straight Connector 156"/>
          <p:cNvSpPr/>
          <p:nvPr/>
        </p:nvSpPr>
        <p:spPr>
          <a:xfrm>
            <a:off x="877932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38" name="Straight Connector 156"/>
          <p:cNvSpPr/>
          <p:nvPr/>
        </p:nvSpPr>
        <p:spPr>
          <a:xfrm>
            <a:off x="928152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39" name="Straight Connector 156"/>
          <p:cNvSpPr/>
          <p:nvPr/>
        </p:nvSpPr>
        <p:spPr>
          <a:xfrm>
            <a:off x="978336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40" name="Straight Connector 156"/>
          <p:cNvSpPr/>
          <p:nvPr/>
        </p:nvSpPr>
        <p:spPr>
          <a:xfrm>
            <a:off x="10794600" y="267768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41" name="Straight Connector 156"/>
          <p:cNvSpPr/>
          <p:nvPr/>
        </p:nvSpPr>
        <p:spPr>
          <a:xfrm>
            <a:off x="11296440" y="267768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42" name="Straight Connector 156"/>
          <p:cNvSpPr/>
          <p:nvPr/>
        </p:nvSpPr>
        <p:spPr>
          <a:xfrm flipH="1" flipV="1">
            <a:off x="6568200" y="2716560"/>
            <a:ext cx="220680" cy="19620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43" name="Straight Connector 156"/>
          <p:cNvSpPr/>
          <p:nvPr/>
        </p:nvSpPr>
        <p:spPr>
          <a:xfrm>
            <a:off x="9313200" y="523764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44" name="Straight Connector 156"/>
          <p:cNvSpPr/>
          <p:nvPr/>
        </p:nvSpPr>
        <p:spPr>
          <a:xfrm>
            <a:off x="7500600" y="443592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45" name="Straight Connector 156"/>
          <p:cNvSpPr/>
          <p:nvPr/>
        </p:nvSpPr>
        <p:spPr>
          <a:xfrm>
            <a:off x="8507880" y="443592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46" name="Straight Connector 156"/>
          <p:cNvSpPr/>
          <p:nvPr/>
        </p:nvSpPr>
        <p:spPr>
          <a:xfrm>
            <a:off x="9514800" y="4429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47" name="Straight Connector 156"/>
          <p:cNvSpPr/>
          <p:nvPr/>
        </p:nvSpPr>
        <p:spPr>
          <a:xfrm>
            <a:off x="11108520" y="443592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48" name="Straight Connector 156"/>
          <p:cNvSpPr/>
          <p:nvPr/>
        </p:nvSpPr>
        <p:spPr>
          <a:xfrm>
            <a:off x="748260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49" name="Straight Connector 156"/>
          <p:cNvSpPr/>
          <p:nvPr/>
        </p:nvSpPr>
        <p:spPr>
          <a:xfrm>
            <a:off x="848952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50" name="Straight Connector 156"/>
          <p:cNvSpPr/>
          <p:nvPr/>
        </p:nvSpPr>
        <p:spPr>
          <a:xfrm>
            <a:off x="9496800" y="329580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51" name="Straight Connector 156"/>
          <p:cNvSpPr/>
          <p:nvPr/>
        </p:nvSpPr>
        <p:spPr>
          <a:xfrm>
            <a:off x="1109016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grpSp>
        <p:nvGrpSpPr>
          <p:cNvPr id="1452" name="Group 144"/>
          <p:cNvGrpSpPr/>
          <p:nvPr/>
        </p:nvGrpSpPr>
        <p:grpSpPr>
          <a:xfrm>
            <a:off x="4062960" y="3022200"/>
            <a:ext cx="1755360" cy="478440"/>
            <a:chOff x="4062960" y="3022200"/>
            <a:chExt cx="1755360" cy="478440"/>
          </a:xfrm>
        </p:grpSpPr>
        <p:sp>
          <p:nvSpPr>
            <p:cNvPr id="1453" name="Freeform: Shape 18"/>
            <p:cNvSpPr/>
            <p:nvPr/>
          </p:nvSpPr>
          <p:spPr>
            <a:xfrm>
              <a:off x="4062960" y="3027960"/>
              <a:ext cx="216000" cy="472680"/>
            </a:xfrm>
            <a:custGeom>
              <a:avLst/>
              <a:gdLst/>
              <a:ahLst/>
              <a:rect l="l" t="t" r="r" b="b"/>
              <a:pathLst>
                <a:path w="175036" h="590550">
                  <a:moveTo>
                    <a:pt x="0" y="0"/>
                  </a:moveTo>
                  <a:cubicBezTo>
                    <a:pt x="59531" y="38100"/>
                    <a:pt x="119063" y="76200"/>
                    <a:pt x="123825" y="95250"/>
                  </a:cubicBezTo>
                  <a:cubicBezTo>
                    <a:pt x="128587" y="114300"/>
                    <a:pt x="25400" y="95250"/>
                    <a:pt x="28575" y="114300"/>
                  </a:cubicBezTo>
                  <a:cubicBezTo>
                    <a:pt x="31750" y="133350"/>
                    <a:pt x="139700" y="184150"/>
                    <a:pt x="142875" y="209550"/>
                  </a:cubicBezTo>
                  <a:cubicBezTo>
                    <a:pt x="146050" y="234950"/>
                    <a:pt x="46038" y="246063"/>
                    <a:pt x="47625" y="266700"/>
                  </a:cubicBezTo>
                  <a:cubicBezTo>
                    <a:pt x="49212" y="287337"/>
                    <a:pt x="153988" y="307975"/>
                    <a:pt x="152400" y="333375"/>
                  </a:cubicBezTo>
                  <a:cubicBezTo>
                    <a:pt x="150813" y="358775"/>
                    <a:pt x="34925" y="398463"/>
                    <a:pt x="38100" y="419100"/>
                  </a:cubicBezTo>
                  <a:cubicBezTo>
                    <a:pt x="41275" y="439738"/>
                    <a:pt x="157163" y="428625"/>
                    <a:pt x="171450" y="457200"/>
                  </a:cubicBezTo>
                  <a:cubicBezTo>
                    <a:pt x="185737" y="485775"/>
                    <a:pt x="154781" y="538162"/>
                    <a:pt x="123825" y="590550"/>
                  </a:cubicBezTo>
                </a:path>
              </a:pathLst>
            </a:custGeom>
            <a:noFill/>
            <a:ln>
              <a:solidFill>
                <a:srgbClr val="ababab"/>
              </a:solidFill>
              <a:tailEnd len="med" type="triangle" w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54" name="TextBox 148"/>
            <p:cNvSpPr/>
            <p:nvPr/>
          </p:nvSpPr>
          <p:spPr>
            <a:xfrm>
              <a:off x="4529160" y="3022200"/>
              <a:ext cx="1289160" cy="47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i="1" lang="it-IT" sz="1270" spc="-1" strike="noStrike">
                  <a:solidFill>
                    <a:srgbClr val="c00000"/>
                  </a:solidFill>
                  <a:latin typeface="Calibri"/>
                </a:rPr>
                <a:t>Fabric Controller</a:t>
              </a:r>
              <a:endParaRPr b="0" lang="it-IT" sz="127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1" i="1" lang="it-IT" sz="1270" spc="-1" strike="noStrike">
                  <a:solidFill>
                    <a:srgbClr val="c00000"/>
                  </a:solidFill>
                  <a:latin typeface="Calibri"/>
                </a:rPr>
                <a:t>Thread</a:t>
              </a:r>
              <a:endParaRPr b="0" lang="it-IT" sz="1270" spc="-1" strike="noStrike">
                <a:latin typeface="Arial"/>
              </a:endParaRPr>
            </a:p>
          </p:txBody>
        </p:sp>
      </p:grpSp>
      <p:sp>
        <p:nvSpPr>
          <p:cNvPr id="1455" name="Rectangle 149"/>
          <p:cNvSpPr/>
          <p:nvPr/>
        </p:nvSpPr>
        <p:spPr>
          <a:xfrm>
            <a:off x="5886720" y="887040"/>
            <a:ext cx="5897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Activate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the cluster and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call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a function on the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cluster core 0</a:t>
            </a:r>
            <a:endParaRPr b="0" lang="it-IT" sz="1800" spc="-1" strike="noStrike">
              <a:latin typeface="Arial"/>
            </a:endParaRPr>
          </a:p>
        </p:txBody>
      </p:sp>
      <p:grpSp>
        <p:nvGrpSpPr>
          <p:cNvPr id="1456" name="Group 145"/>
          <p:cNvGrpSpPr/>
          <p:nvPr/>
        </p:nvGrpSpPr>
        <p:grpSpPr>
          <a:xfrm>
            <a:off x="6394680" y="3753360"/>
            <a:ext cx="1203480" cy="512640"/>
            <a:chOff x="6394680" y="3753360"/>
            <a:chExt cx="1203480" cy="512640"/>
          </a:xfrm>
        </p:grpSpPr>
        <p:sp>
          <p:nvSpPr>
            <p:cNvPr id="1457" name="Freeform: Shape 18"/>
            <p:cNvSpPr/>
            <p:nvPr/>
          </p:nvSpPr>
          <p:spPr>
            <a:xfrm>
              <a:off x="7382160" y="3793320"/>
              <a:ext cx="216000" cy="472680"/>
            </a:xfrm>
            <a:custGeom>
              <a:avLst/>
              <a:gdLst/>
              <a:ahLst/>
              <a:rect l="l" t="t" r="r" b="b"/>
              <a:pathLst>
                <a:path w="175036" h="590550">
                  <a:moveTo>
                    <a:pt x="0" y="0"/>
                  </a:moveTo>
                  <a:cubicBezTo>
                    <a:pt x="59531" y="38100"/>
                    <a:pt x="119063" y="76200"/>
                    <a:pt x="123825" y="95250"/>
                  </a:cubicBezTo>
                  <a:cubicBezTo>
                    <a:pt x="128587" y="114300"/>
                    <a:pt x="25400" y="95250"/>
                    <a:pt x="28575" y="114300"/>
                  </a:cubicBezTo>
                  <a:cubicBezTo>
                    <a:pt x="31750" y="133350"/>
                    <a:pt x="139700" y="184150"/>
                    <a:pt x="142875" y="209550"/>
                  </a:cubicBezTo>
                  <a:cubicBezTo>
                    <a:pt x="146050" y="234950"/>
                    <a:pt x="46038" y="246063"/>
                    <a:pt x="47625" y="266700"/>
                  </a:cubicBezTo>
                  <a:cubicBezTo>
                    <a:pt x="49212" y="287337"/>
                    <a:pt x="153988" y="307975"/>
                    <a:pt x="152400" y="333375"/>
                  </a:cubicBezTo>
                  <a:cubicBezTo>
                    <a:pt x="150813" y="358775"/>
                    <a:pt x="34925" y="398463"/>
                    <a:pt x="38100" y="419100"/>
                  </a:cubicBezTo>
                  <a:cubicBezTo>
                    <a:pt x="41275" y="439738"/>
                    <a:pt x="157163" y="428625"/>
                    <a:pt x="171450" y="457200"/>
                  </a:cubicBezTo>
                  <a:cubicBezTo>
                    <a:pt x="185737" y="485775"/>
                    <a:pt x="154781" y="538162"/>
                    <a:pt x="123825" y="590550"/>
                  </a:cubicBezTo>
                </a:path>
              </a:pathLst>
            </a:custGeom>
            <a:noFill/>
            <a:ln>
              <a:solidFill>
                <a:srgbClr val="ababab"/>
              </a:solidFill>
              <a:tailEnd len="med" type="triangle" w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58" name="TextBox 151"/>
            <p:cNvSpPr/>
            <p:nvPr/>
          </p:nvSpPr>
          <p:spPr>
            <a:xfrm>
              <a:off x="6394680" y="3753360"/>
              <a:ext cx="651960" cy="47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i="1" lang="it-IT" sz="1270" spc="-1" strike="noStrike">
                  <a:solidFill>
                    <a:srgbClr val="c00000"/>
                  </a:solidFill>
                  <a:latin typeface="Calibri"/>
                </a:rPr>
                <a:t>Core 0</a:t>
              </a:r>
              <a:endParaRPr b="0" lang="it-IT" sz="127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1" i="1" lang="it-IT" sz="1270" spc="-1" strike="noStrike">
                  <a:solidFill>
                    <a:srgbClr val="c00000"/>
                  </a:solidFill>
                  <a:latin typeface="Calibri"/>
                </a:rPr>
                <a:t>Thread</a:t>
              </a:r>
              <a:endParaRPr b="0" lang="it-IT" sz="1270" spc="-1" strike="noStrike">
                <a:latin typeface="Arial"/>
              </a:endParaRPr>
            </a:p>
          </p:txBody>
        </p:sp>
      </p:grpSp>
      <p:sp>
        <p:nvSpPr>
          <p:cNvPr id="1459" name="Straight Arrow Connector 4"/>
          <p:cNvSpPr/>
          <p:nvPr/>
        </p:nvSpPr>
        <p:spPr>
          <a:xfrm>
            <a:off x="5195160" y="3399120"/>
            <a:ext cx="1194480" cy="59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c0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800" spc="-106" strike="noStrike">
                <a:solidFill>
                  <a:srgbClr val="c00000"/>
                </a:solidFill>
                <a:latin typeface="Calibri"/>
                <a:ea typeface="Roboto"/>
              </a:rPr>
              <a:t>PULP Execution Model</a:t>
            </a:r>
            <a:endParaRPr b="0" lang="it-IT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1" name="PlaceHolder 2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69EB6E8B-D6C7-4941-9A1F-78749589B2B5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  <p:sp>
        <p:nvSpPr>
          <p:cNvPr id="1462" name="Rectangle 125"/>
          <p:cNvSpPr/>
          <p:nvPr/>
        </p:nvSpPr>
        <p:spPr>
          <a:xfrm>
            <a:off x="2906640" y="4742280"/>
            <a:ext cx="170460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463" name="Rectangle 126"/>
          <p:cNvSpPr/>
          <p:nvPr/>
        </p:nvSpPr>
        <p:spPr>
          <a:xfrm rot="16200000">
            <a:off x="2827440" y="528624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CLK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464" name="Rectangle 128"/>
          <p:cNvSpPr/>
          <p:nvPr/>
        </p:nvSpPr>
        <p:spPr>
          <a:xfrm rot="16200000">
            <a:off x="3267000" y="528480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TIMER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465" name="Rectangle 130"/>
          <p:cNvSpPr/>
          <p:nvPr/>
        </p:nvSpPr>
        <p:spPr>
          <a:xfrm rot="16200000">
            <a:off x="4131360" y="414828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466" name="Straight Connector 133"/>
          <p:cNvSpPr/>
          <p:nvPr/>
        </p:nvSpPr>
        <p:spPr>
          <a:xfrm flipV="1">
            <a:off x="309168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67" name="Straight Connector 134"/>
          <p:cNvSpPr/>
          <p:nvPr/>
        </p:nvSpPr>
        <p:spPr>
          <a:xfrm flipV="1">
            <a:off x="3531240" y="507096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68" name="Rectangle 68"/>
          <p:cNvSpPr/>
          <p:nvPr/>
        </p:nvSpPr>
        <p:spPr>
          <a:xfrm>
            <a:off x="1461600" y="388368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SPI 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469" name="Rectangle 69"/>
          <p:cNvSpPr/>
          <p:nvPr/>
        </p:nvSpPr>
        <p:spPr>
          <a:xfrm>
            <a:off x="1461600" y="428004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CAMIF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470" name="Straight Connector 70"/>
          <p:cNvSpPr/>
          <p:nvPr/>
        </p:nvSpPr>
        <p:spPr>
          <a:xfrm>
            <a:off x="2046960" y="404856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71" name="Straight Connector 71"/>
          <p:cNvSpPr/>
          <p:nvPr/>
        </p:nvSpPr>
        <p:spPr>
          <a:xfrm>
            <a:off x="2046960" y="44449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72" name="Rectangle 72"/>
          <p:cNvSpPr/>
          <p:nvPr/>
        </p:nvSpPr>
        <p:spPr>
          <a:xfrm>
            <a:off x="1461600" y="467640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I2C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473" name="Rectangle 73"/>
          <p:cNvSpPr/>
          <p:nvPr/>
        </p:nvSpPr>
        <p:spPr>
          <a:xfrm>
            <a:off x="1461600" y="507276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UART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474" name="Straight Connector 74"/>
          <p:cNvSpPr/>
          <p:nvPr/>
        </p:nvSpPr>
        <p:spPr>
          <a:xfrm>
            <a:off x="2046960" y="48412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75" name="Straight Connector 75"/>
          <p:cNvSpPr/>
          <p:nvPr/>
        </p:nvSpPr>
        <p:spPr>
          <a:xfrm>
            <a:off x="2046960" y="523764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76" name="Rectangle 152"/>
          <p:cNvSpPr/>
          <p:nvPr/>
        </p:nvSpPr>
        <p:spPr>
          <a:xfrm rot="16200000">
            <a:off x="1329120" y="4485600"/>
            <a:ext cx="227376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µDMA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477" name="Rectangle 154"/>
          <p:cNvSpPr/>
          <p:nvPr/>
        </p:nvSpPr>
        <p:spPr>
          <a:xfrm>
            <a:off x="1462680" y="250092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478" name="Straight Connector 155"/>
          <p:cNvSpPr/>
          <p:nvPr/>
        </p:nvSpPr>
        <p:spPr>
          <a:xfrm>
            <a:off x="2048040" y="266580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79" name="Straight Connector 156"/>
          <p:cNvSpPr/>
          <p:nvPr/>
        </p:nvSpPr>
        <p:spPr>
          <a:xfrm>
            <a:off x="115956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80" name="Rectangle 66"/>
          <p:cNvSpPr/>
          <p:nvPr/>
        </p:nvSpPr>
        <p:spPr>
          <a:xfrm>
            <a:off x="4439880" y="1786320"/>
            <a:ext cx="54792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ROM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481" name="Rectangle 119"/>
          <p:cNvSpPr/>
          <p:nvPr/>
        </p:nvSpPr>
        <p:spPr>
          <a:xfrm>
            <a:off x="2289240" y="2504160"/>
            <a:ext cx="259164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Logarithmic Interconnect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482" name="Straight Connector 120"/>
          <p:cNvSpPr/>
          <p:nvPr/>
        </p:nvSpPr>
        <p:spPr>
          <a:xfrm flipV="1">
            <a:off x="2463480" y="23418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83" name="Straight Connector 122"/>
          <p:cNvSpPr/>
          <p:nvPr/>
        </p:nvSpPr>
        <p:spPr>
          <a:xfrm flipV="1">
            <a:off x="352008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84" name="Straight Connector 123"/>
          <p:cNvSpPr/>
          <p:nvPr/>
        </p:nvSpPr>
        <p:spPr>
          <a:xfrm flipV="1">
            <a:off x="466524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85" name="Straight Connector 157"/>
          <p:cNvSpPr/>
          <p:nvPr/>
        </p:nvSpPr>
        <p:spPr>
          <a:xfrm flipV="1">
            <a:off x="246348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86" name="Rectangle 131"/>
          <p:cNvSpPr/>
          <p:nvPr/>
        </p:nvSpPr>
        <p:spPr>
          <a:xfrm>
            <a:off x="3813120" y="3002760"/>
            <a:ext cx="722160" cy="528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87" name="Straight Connector 138"/>
          <p:cNvSpPr/>
          <p:nvPr/>
        </p:nvSpPr>
        <p:spPr>
          <a:xfrm flipV="1">
            <a:off x="398736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88" name="Straight Connector 139"/>
          <p:cNvSpPr/>
          <p:nvPr/>
        </p:nvSpPr>
        <p:spPr>
          <a:xfrm flipV="1">
            <a:off x="438912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89" name="Straight Connector 159"/>
          <p:cNvSpPr/>
          <p:nvPr/>
        </p:nvSpPr>
        <p:spPr>
          <a:xfrm flipV="1">
            <a:off x="2778480" y="2828520"/>
            <a:ext cx="360" cy="12009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90" name="Straight Connector 160"/>
          <p:cNvSpPr/>
          <p:nvPr/>
        </p:nvSpPr>
        <p:spPr>
          <a:xfrm flipV="1">
            <a:off x="2639160" y="4038480"/>
            <a:ext cx="139320" cy="2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91" name="Rectangle 141"/>
          <p:cNvSpPr/>
          <p:nvPr/>
        </p:nvSpPr>
        <p:spPr>
          <a:xfrm>
            <a:off x="2285640" y="2997000"/>
            <a:ext cx="365760" cy="401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 vert="vert270" rot="16200000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492" name="Rectangle 147"/>
          <p:cNvSpPr/>
          <p:nvPr/>
        </p:nvSpPr>
        <p:spPr>
          <a:xfrm>
            <a:off x="1463400" y="299700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GPIO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493" name="Straight Connector 149"/>
          <p:cNvSpPr/>
          <p:nvPr/>
        </p:nvSpPr>
        <p:spPr>
          <a:xfrm flipV="1">
            <a:off x="2048760" y="3140640"/>
            <a:ext cx="234360" cy="7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94" name="Straight Connector 161"/>
          <p:cNvSpPr/>
          <p:nvPr/>
        </p:nvSpPr>
        <p:spPr>
          <a:xfrm flipV="1">
            <a:off x="2463480" y="340488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95" name="Rectangle 68"/>
          <p:cNvSpPr/>
          <p:nvPr/>
        </p:nvSpPr>
        <p:spPr>
          <a:xfrm>
            <a:off x="1469160" y="342900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I2S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496" name="Straight Connector 70"/>
          <p:cNvSpPr/>
          <p:nvPr/>
        </p:nvSpPr>
        <p:spPr>
          <a:xfrm>
            <a:off x="2054520" y="35938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97" name="Rectangle 73"/>
          <p:cNvSpPr/>
          <p:nvPr/>
        </p:nvSpPr>
        <p:spPr>
          <a:xfrm>
            <a:off x="1469160" y="547488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SDIO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498" name="Straight Connector 75"/>
          <p:cNvSpPr/>
          <p:nvPr/>
        </p:nvSpPr>
        <p:spPr>
          <a:xfrm>
            <a:off x="2054520" y="56401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99" name="Elbow Connector 3"/>
          <p:cNvSpPr/>
          <p:nvPr/>
        </p:nvSpPr>
        <p:spPr>
          <a:xfrm>
            <a:off x="2651760" y="3197880"/>
            <a:ext cx="254160" cy="1709280"/>
          </a:xfrm>
          <a:prstGeom prst="bentConnector3">
            <a:avLst>
              <a:gd name="adj1" fmla="val 24952"/>
            </a:avLst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500" name="Rectangle 128"/>
          <p:cNvSpPr/>
          <p:nvPr/>
        </p:nvSpPr>
        <p:spPr>
          <a:xfrm rot="16200000">
            <a:off x="3705120" y="528624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EVENT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501" name="Straight Connector 134"/>
          <p:cNvSpPr/>
          <p:nvPr/>
        </p:nvSpPr>
        <p:spPr>
          <a:xfrm flipV="1">
            <a:off x="396936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02" name="Rectangle 128"/>
          <p:cNvSpPr/>
          <p:nvPr/>
        </p:nvSpPr>
        <p:spPr>
          <a:xfrm rot="16200000">
            <a:off x="4131360" y="529848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SoC CTRL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503" name="Straight Connector 134"/>
          <p:cNvSpPr/>
          <p:nvPr/>
        </p:nvSpPr>
        <p:spPr>
          <a:xfrm flipV="1">
            <a:off x="4395240" y="5085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04" name="Straight Connector 134"/>
          <p:cNvSpPr/>
          <p:nvPr/>
        </p:nvSpPr>
        <p:spPr>
          <a:xfrm flipV="1">
            <a:off x="4419000" y="4581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05" name="Rectangle 130"/>
          <p:cNvSpPr/>
          <p:nvPr/>
        </p:nvSpPr>
        <p:spPr>
          <a:xfrm rot="16200000">
            <a:off x="3699000" y="415836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INTC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506" name="Straight Connector 134"/>
          <p:cNvSpPr/>
          <p:nvPr/>
        </p:nvSpPr>
        <p:spPr>
          <a:xfrm flipV="1">
            <a:off x="3987000" y="459108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07" name="Straight Connector 134"/>
          <p:cNvSpPr/>
          <p:nvPr/>
        </p:nvSpPr>
        <p:spPr>
          <a:xfrm flipH="1" flipV="1">
            <a:off x="3263400" y="3524040"/>
            <a:ext cx="9360" cy="1199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08" name="Straight Connector 79"/>
          <p:cNvSpPr/>
          <p:nvPr/>
        </p:nvSpPr>
        <p:spPr>
          <a:xfrm flipV="1">
            <a:off x="3963240" y="3557520"/>
            <a:ext cx="360" cy="51948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09" name="Straight Connector 81"/>
          <p:cNvSpPr/>
          <p:nvPr/>
        </p:nvSpPr>
        <p:spPr>
          <a:xfrm flipV="1">
            <a:off x="4395240" y="3543480"/>
            <a:ext cx="0" cy="53640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10" name="Rectangle 131"/>
          <p:cNvSpPr/>
          <p:nvPr/>
        </p:nvSpPr>
        <p:spPr>
          <a:xfrm>
            <a:off x="2902320" y="2995920"/>
            <a:ext cx="7221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rIns="27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ACCEL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511" name="Straight Connector 138"/>
          <p:cNvSpPr/>
          <p:nvPr/>
        </p:nvSpPr>
        <p:spPr>
          <a:xfrm flipV="1">
            <a:off x="307656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12" name="Straight Connector 139"/>
          <p:cNvSpPr/>
          <p:nvPr/>
        </p:nvSpPr>
        <p:spPr>
          <a:xfrm flipV="1">
            <a:off x="321012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13" name="Straight Connector 138"/>
          <p:cNvSpPr/>
          <p:nvPr/>
        </p:nvSpPr>
        <p:spPr>
          <a:xfrm flipV="1">
            <a:off x="335412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14" name="Straight Connector 139"/>
          <p:cNvSpPr/>
          <p:nvPr/>
        </p:nvSpPr>
        <p:spPr>
          <a:xfrm flipV="1">
            <a:off x="348804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15" name="Straight Connector 156"/>
          <p:cNvSpPr/>
          <p:nvPr/>
        </p:nvSpPr>
        <p:spPr>
          <a:xfrm>
            <a:off x="115524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16" name="Straight Connector 156"/>
          <p:cNvSpPr/>
          <p:nvPr/>
        </p:nvSpPr>
        <p:spPr>
          <a:xfrm>
            <a:off x="115524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17" name="Straight Connector 156"/>
          <p:cNvSpPr/>
          <p:nvPr/>
        </p:nvSpPr>
        <p:spPr>
          <a:xfrm>
            <a:off x="115524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18" name="Straight Connector 156"/>
          <p:cNvSpPr/>
          <p:nvPr/>
        </p:nvSpPr>
        <p:spPr>
          <a:xfrm>
            <a:off x="115524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19" name="Straight Connector 156"/>
          <p:cNvSpPr/>
          <p:nvPr/>
        </p:nvSpPr>
        <p:spPr>
          <a:xfrm>
            <a:off x="115920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20" name="Straight Connector 156"/>
          <p:cNvSpPr/>
          <p:nvPr/>
        </p:nvSpPr>
        <p:spPr>
          <a:xfrm>
            <a:off x="115920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21" name="Straight Connector 156"/>
          <p:cNvSpPr/>
          <p:nvPr/>
        </p:nvSpPr>
        <p:spPr>
          <a:xfrm>
            <a:off x="115524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22" name="Trapezoid 112"/>
          <p:cNvSpPr/>
          <p:nvPr/>
        </p:nvSpPr>
        <p:spPr>
          <a:xfrm rot="16200000">
            <a:off x="-795960" y="4004280"/>
            <a:ext cx="3615840" cy="273960"/>
          </a:xfrm>
          <a:prstGeom prst="trapezoid">
            <a:avLst>
              <a:gd name="adj" fmla="val 25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Pad Control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523" name="Straight Connector 156"/>
          <p:cNvSpPr/>
          <p:nvPr/>
        </p:nvSpPr>
        <p:spPr>
          <a:xfrm>
            <a:off x="56520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24" name="Straight Connector 156"/>
          <p:cNvSpPr/>
          <p:nvPr/>
        </p:nvSpPr>
        <p:spPr>
          <a:xfrm>
            <a:off x="56088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25" name="Straight Connector 156"/>
          <p:cNvSpPr/>
          <p:nvPr/>
        </p:nvSpPr>
        <p:spPr>
          <a:xfrm>
            <a:off x="56088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26" name="Straight Connector 156"/>
          <p:cNvSpPr/>
          <p:nvPr/>
        </p:nvSpPr>
        <p:spPr>
          <a:xfrm>
            <a:off x="56088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27" name="Straight Connector 156"/>
          <p:cNvSpPr/>
          <p:nvPr/>
        </p:nvSpPr>
        <p:spPr>
          <a:xfrm>
            <a:off x="56088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28" name="Straight Connector 156"/>
          <p:cNvSpPr/>
          <p:nvPr/>
        </p:nvSpPr>
        <p:spPr>
          <a:xfrm>
            <a:off x="56448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29" name="Straight Connector 156"/>
          <p:cNvSpPr/>
          <p:nvPr/>
        </p:nvSpPr>
        <p:spPr>
          <a:xfrm>
            <a:off x="56448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30" name="Straight Connector 156"/>
          <p:cNvSpPr/>
          <p:nvPr/>
        </p:nvSpPr>
        <p:spPr>
          <a:xfrm>
            <a:off x="56088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31" name="Elbow Connector 122"/>
          <p:cNvSpPr/>
          <p:nvPr/>
        </p:nvSpPr>
        <p:spPr>
          <a:xfrm rot="5400000">
            <a:off x="2619360" y="4138200"/>
            <a:ext cx="168840" cy="3383280"/>
          </a:xfrm>
          <a:prstGeom prst="bentConnector3">
            <a:avLst>
              <a:gd name="adj1" fmla="val 200174"/>
            </a:avLst>
          </a:prstGeom>
          <a:noFill/>
          <a:ln cap="sq" w="22225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32" name="Straight Connector 120"/>
          <p:cNvSpPr/>
          <p:nvPr/>
        </p:nvSpPr>
        <p:spPr>
          <a:xfrm flipV="1">
            <a:off x="2593440" y="2229120"/>
            <a:ext cx="360" cy="2635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33" name="Straight Connector 120"/>
          <p:cNvSpPr/>
          <p:nvPr/>
        </p:nvSpPr>
        <p:spPr>
          <a:xfrm flipV="1">
            <a:off x="2737800" y="1981080"/>
            <a:ext cx="360" cy="5295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34" name="Straight Connector 120"/>
          <p:cNvSpPr/>
          <p:nvPr/>
        </p:nvSpPr>
        <p:spPr>
          <a:xfrm flipV="1">
            <a:off x="2877120" y="1783800"/>
            <a:ext cx="0" cy="726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35" name="Rectangle 118"/>
          <p:cNvSpPr/>
          <p:nvPr/>
        </p:nvSpPr>
        <p:spPr>
          <a:xfrm>
            <a:off x="2593440" y="1522080"/>
            <a:ext cx="5853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536" name="Rectangle 118"/>
          <p:cNvSpPr/>
          <p:nvPr/>
        </p:nvSpPr>
        <p:spPr>
          <a:xfrm>
            <a:off x="2445120" y="1604520"/>
            <a:ext cx="5853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537" name="Rectangle 118"/>
          <p:cNvSpPr/>
          <p:nvPr/>
        </p:nvSpPr>
        <p:spPr>
          <a:xfrm>
            <a:off x="2291760" y="1700640"/>
            <a:ext cx="5853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538" name="Rectangle 124"/>
          <p:cNvSpPr/>
          <p:nvPr/>
        </p:nvSpPr>
        <p:spPr>
          <a:xfrm>
            <a:off x="2163600" y="1804680"/>
            <a:ext cx="5853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539" name="TextBox 135"/>
          <p:cNvSpPr/>
          <p:nvPr/>
        </p:nvSpPr>
        <p:spPr>
          <a:xfrm rot="19092600">
            <a:off x="1611000" y="1535760"/>
            <a:ext cx="12236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808080"/>
                </a:solidFill>
                <a:latin typeface="Arial"/>
              </a:rPr>
              <a:t>Interleaved banks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540" name="Rectangle 124"/>
          <p:cNvSpPr/>
          <p:nvPr/>
        </p:nvSpPr>
        <p:spPr>
          <a:xfrm>
            <a:off x="3220920" y="1786320"/>
            <a:ext cx="5853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541" name="Rectangle 124"/>
          <p:cNvSpPr/>
          <p:nvPr/>
        </p:nvSpPr>
        <p:spPr>
          <a:xfrm>
            <a:off x="3821040" y="1791000"/>
            <a:ext cx="5853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542" name="Straight Connector 122"/>
          <p:cNvSpPr/>
          <p:nvPr/>
        </p:nvSpPr>
        <p:spPr>
          <a:xfrm flipV="1">
            <a:off x="4101480" y="231444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43" name="TextBox 139"/>
          <p:cNvSpPr/>
          <p:nvPr/>
        </p:nvSpPr>
        <p:spPr>
          <a:xfrm>
            <a:off x="3439080" y="1592280"/>
            <a:ext cx="9673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808080"/>
                </a:solidFill>
                <a:latin typeface="Arial"/>
              </a:rPr>
              <a:t>private banks</a:t>
            </a:r>
            <a:endParaRPr b="0" lang="it-IT" sz="1050" spc="-1" strike="noStrike">
              <a:latin typeface="Arial"/>
            </a:endParaRPr>
          </a:p>
        </p:txBody>
      </p:sp>
      <p:grpSp>
        <p:nvGrpSpPr>
          <p:cNvPr id="1544" name="Group 140"/>
          <p:cNvGrpSpPr/>
          <p:nvPr/>
        </p:nvGrpSpPr>
        <p:grpSpPr>
          <a:xfrm>
            <a:off x="2493360" y="5733360"/>
            <a:ext cx="1482480" cy="257040"/>
            <a:chOff x="2493360" y="5733360"/>
            <a:chExt cx="1482480" cy="257040"/>
          </a:xfrm>
        </p:grpSpPr>
        <p:sp>
          <p:nvSpPr>
            <p:cNvPr id="1545" name="Elbow Connector 141"/>
            <p:cNvSpPr/>
            <p:nvPr/>
          </p:nvSpPr>
          <p:spPr>
            <a:xfrm>
              <a:off x="2493360" y="5814720"/>
              <a:ext cx="1482480" cy="175680"/>
            </a:xfrm>
            <a:prstGeom prst="bentConnector3">
              <a:avLst>
                <a:gd name="adj1" fmla="val -101"/>
              </a:avLst>
            </a:prstGeom>
            <a:solidFill>
              <a:schemeClr val="bg1">
                <a:lumMod val="85000"/>
              </a:schemeClr>
            </a:solidFill>
            <a:ln cap="sq" w="22225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546" name="Straight Arrow Connector 142"/>
            <p:cNvSpPr/>
            <p:nvPr/>
          </p:nvSpPr>
          <p:spPr>
            <a:xfrm flipV="1">
              <a:off x="3966120" y="5733360"/>
              <a:ext cx="2880" cy="243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cap="sq" w="22225">
              <a:solidFill>
                <a:srgbClr val="000000"/>
              </a:solidFill>
              <a:round/>
              <a:tailEnd len="med" type="triangle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547" name="Left-Right Arrow 8"/>
          <p:cNvSpPr/>
          <p:nvPr/>
        </p:nvSpPr>
        <p:spPr>
          <a:xfrm rot="16200000">
            <a:off x="2877840" y="3720960"/>
            <a:ext cx="4896360" cy="42444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algn="tl"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i="1" lang="en-US" sz="1200" spc="-1" strike="noStrike">
                <a:solidFill>
                  <a:srgbClr val="808080"/>
                </a:solidFill>
                <a:latin typeface="Calibri"/>
              </a:rPr>
              <a:t>Data AXI Bus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548" name="Rectangle 100"/>
          <p:cNvSpPr/>
          <p:nvPr/>
        </p:nvSpPr>
        <p:spPr>
          <a:xfrm>
            <a:off x="6800400" y="2931840"/>
            <a:ext cx="4722120" cy="352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08080"/>
                </a:solidFill>
                <a:latin typeface="Calibri"/>
              </a:rPr>
              <a:t>TCDM Logarithmic Interconnect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549" name="Rectangle 101"/>
          <p:cNvSpPr/>
          <p:nvPr/>
        </p:nvSpPr>
        <p:spPr>
          <a:xfrm>
            <a:off x="5702040" y="2475720"/>
            <a:ext cx="851760" cy="8359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08080"/>
                </a:solidFill>
                <a:latin typeface="Calibri"/>
              </a:rPr>
              <a:t>DMA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550" name="Left-Right Arrow 12"/>
          <p:cNvSpPr/>
          <p:nvPr/>
        </p:nvSpPr>
        <p:spPr>
          <a:xfrm>
            <a:off x="5437440" y="5433840"/>
            <a:ext cx="6372720" cy="37116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algn="tl"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i="1" lang="en-US" sz="1100" spc="-1" strike="noStrike">
                <a:solidFill>
                  <a:srgbClr val="808080"/>
                </a:solidFill>
                <a:latin typeface="Calibri"/>
              </a:rPr>
              <a:t>Instruction AXI Bus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551" name="Rectangle 130"/>
          <p:cNvSpPr/>
          <p:nvPr/>
        </p:nvSpPr>
        <p:spPr>
          <a:xfrm>
            <a:off x="7085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52" name="Rectangle 146"/>
          <p:cNvSpPr/>
          <p:nvPr/>
        </p:nvSpPr>
        <p:spPr>
          <a:xfrm>
            <a:off x="8093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53" name="Rectangle 153"/>
          <p:cNvSpPr/>
          <p:nvPr/>
        </p:nvSpPr>
        <p:spPr>
          <a:xfrm>
            <a:off x="9101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54" name="Rectangle 160"/>
          <p:cNvSpPr/>
          <p:nvPr/>
        </p:nvSpPr>
        <p:spPr>
          <a:xfrm>
            <a:off x="1068624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55" name="Rectangle 18"/>
          <p:cNvSpPr/>
          <p:nvPr/>
        </p:nvSpPr>
        <p:spPr>
          <a:xfrm>
            <a:off x="7085880" y="4682160"/>
            <a:ext cx="4436280" cy="5468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Shared </a:t>
            </a:r>
            <a:endParaRPr b="0" lang="it-IT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Instruction Cache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556" name="Rectangle 49"/>
          <p:cNvSpPr/>
          <p:nvPr/>
        </p:nvSpPr>
        <p:spPr>
          <a:xfrm>
            <a:off x="7058160" y="208872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557" name="Rectangle 50"/>
          <p:cNvSpPr/>
          <p:nvPr/>
        </p:nvSpPr>
        <p:spPr>
          <a:xfrm>
            <a:off x="7562160" y="208872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558" name="Rectangle 49"/>
          <p:cNvSpPr/>
          <p:nvPr/>
        </p:nvSpPr>
        <p:spPr>
          <a:xfrm>
            <a:off x="8061480" y="209196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559" name="Rectangle 50"/>
          <p:cNvSpPr/>
          <p:nvPr/>
        </p:nvSpPr>
        <p:spPr>
          <a:xfrm>
            <a:off x="8565480" y="209196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560" name="Rectangle 49"/>
          <p:cNvSpPr/>
          <p:nvPr/>
        </p:nvSpPr>
        <p:spPr>
          <a:xfrm>
            <a:off x="9064800" y="209196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561" name="Rectangle 50"/>
          <p:cNvSpPr/>
          <p:nvPr/>
        </p:nvSpPr>
        <p:spPr>
          <a:xfrm>
            <a:off x="9568800" y="209196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562" name="Rectangle 49"/>
          <p:cNvSpPr/>
          <p:nvPr/>
        </p:nvSpPr>
        <p:spPr>
          <a:xfrm>
            <a:off x="10587240" y="209052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563" name="Rectangle 50"/>
          <p:cNvSpPr/>
          <p:nvPr/>
        </p:nvSpPr>
        <p:spPr>
          <a:xfrm>
            <a:off x="11091240" y="209052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grpSp>
        <p:nvGrpSpPr>
          <p:cNvPr id="1564" name="Gruppo 131"/>
          <p:cNvGrpSpPr/>
          <p:nvPr/>
        </p:nvGrpSpPr>
        <p:grpSpPr>
          <a:xfrm>
            <a:off x="7922160" y="3764880"/>
            <a:ext cx="2764080" cy="479880"/>
            <a:chOff x="7922160" y="3764880"/>
            <a:chExt cx="2764080" cy="479880"/>
          </a:xfrm>
        </p:grpSpPr>
        <p:sp>
          <p:nvSpPr>
            <p:cNvPr id="1565" name="Rectangle 5"/>
            <p:cNvSpPr/>
            <p:nvPr/>
          </p:nvSpPr>
          <p:spPr>
            <a:xfrm>
              <a:off x="10099800" y="3764880"/>
              <a:ext cx="465840" cy="4798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39960" dir="2700000" dist="50402" rotWithShape="0">
                <a:srgbClr val="000000">
                  <a:alpha val="5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en-US" sz="1100" spc="-1" strike="noStrike">
                  <a:solidFill>
                    <a:srgbClr val="808080"/>
                  </a:solidFill>
                  <a:latin typeface="Calibri"/>
                </a:rPr>
                <a:t>HW Synch</a:t>
              </a:r>
              <a:endParaRPr b="0" lang="it-IT" sz="1100" spc="-1" strike="noStrike">
                <a:latin typeface="Arial"/>
              </a:endParaRPr>
            </a:p>
          </p:txBody>
        </p:sp>
        <p:sp>
          <p:nvSpPr>
            <p:cNvPr id="1566" name="Connettore 4 133"/>
            <p:cNvSpPr/>
            <p:nvPr/>
          </p:nvSpPr>
          <p:spPr>
            <a:xfrm flipV="1">
              <a:off x="7922160" y="3764520"/>
              <a:ext cx="2410560" cy="240480"/>
            </a:xfrm>
            <a:prstGeom prst="bentConnector4">
              <a:avLst>
                <a:gd name="adj1" fmla="val 4015"/>
                <a:gd name="adj2" fmla="val 228071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rgbClr val="ababab">
                  <a:lumMod val="75000"/>
                </a:srgbClr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67" name="Connettore 4 134"/>
            <p:cNvSpPr/>
            <p:nvPr/>
          </p:nvSpPr>
          <p:spPr>
            <a:xfrm flipV="1">
              <a:off x="8930160" y="3764520"/>
              <a:ext cx="1402200" cy="240480"/>
            </a:xfrm>
            <a:prstGeom prst="bentConnector4">
              <a:avLst>
                <a:gd name="adj1" fmla="val 6634"/>
                <a:gd name="adj2" fmla="val 228070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rgbClr val="ababab">
                  <a:lumMod val="75000"/>
                </a:srgbClr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68" name="Connettore 4 135"/>
            <p:cNvSpPr/>
            <p:nvPr/>
          </p:nvSpPr>
          <p:spPr>
            <a:xfrm flipV="1">
              <a:off x="9938520" y="3764880"/>
              <a:ext cx="394200" cy="240480"/>
            </a:xfrm>
            <a:prstGeom prst="bentConnector4">
              <a:avLst>
                <a:gd name="adj1" fmla="val 20454"/>
                <a:gd name="adj2" fmla="val 228070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rgbClr val="ababab">
                  <a:lumMod val="75000"/>
                </a:srgbClr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69" name="Connettore 4 136"/>
            <p:cNvSpPr/>
            <p:nvPr/>
          </p:nvSpPr>
          <p:spPr>
            <a:xfrm flipH="1" rot="16200000">
              <a:off x="10389600" y="3708720"/>
              <a:ext cx="240480" cy="352800"/>
            </a:xfrm>
            <a:prstGeom prst="bentConnector4">
              <a:avLst>
                <a:gd name="adj1" fmla="val -127144"/>
                <a:gd name="adj2" fmla="val 80569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rgbClr val="ababab">
                  <a:lumMod val="75000"/>
                </a:srgbClr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570" name="Straight Connector 156"/>
          <p:cNvSpPr/>
          <p:nvPr/>
        </p:nvSpPr>
        <p:spPr>
          <a:xfrm>
            <a:off x="488124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71" name="Straight Connector 156"/>
          <p:cNvSpPr/>
          <p:nvPr/>
        </p:nvSpPr>
        <p:spPr>
          <a:xfrm>
            <a:off x="5437440" y="2893680"/>
            <a:ext cx="26424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72" name="Straight Connector 156"/>
          <p:cNvSpPr/>
          <p:nvPr/>
        </p:nvSpPr>
        <p:spPr>
          <a:xfrm>
            <a:off x="727344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73" name="Straight Connector 156"/>
          <p:cNvSpPr/>
          <p:nvPr/>
        </p:nvSpPr>
        <p:spPr>
          <a:xfrm>
            <a:off x="777528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74" name="Straight Connector 156"/>
          <p:cNvSpPr/>
          <p:nvPr/>
        </p:nvSpPr>
        <p:spPr>
          <a:xfrm>
            <a:off x="827748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75" name="Straight Connector 156"/>
          <p:cNvSpPr/>
          <p:nvPr/>
        </p:nvSpPr>
        <p:spPr>
          <a:xfrm>
            <a:off x="877932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76" name="Straight Connector 156"/>
          <p:cNvSpPr/>
          <p:nvPr/>
        </p:nvSpPr>
        <p:spPr>
          <a:xfrm>
            <a:off x="928152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77" name="Straight Connector 156"/>
          <p:cNvSpPr/>
          <p:nvPr/>
        </p:nvSpPr>
        <p:spPr>
          <a:xfrm>
            <a:off x="978336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78" name="Straight Connector 156"/>
          <p:cNvSpPr/>
          <p:nvPr/>
        </p:nvSpPr>
        <p:spPr>
          <a:xfrm>
            <a:off x="10794600" y="267768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79" name="Straight Connector 156"/>
          <p:cNvSpPr/>
          <p:nvPr/>
        </p:nvSpPr>
        <p:spPr>
          <a:xfrm>
            <a:off x="11296440" y="267768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80" name="Straight Connector 156"/>
          <p:cNvSpPr/>
          <p:nvPr/>
        </p:nvSpPr>
        <p:spPr>
          <a:xfrm flipH="1" flipV="1">
            <a:off x="6568200" y="2716560"/>
            <a:ext cx="220680" cy="19620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81" name="Straight Connector 156"/>
          <p:cNvSpPr/>
          <p:nvPr/>
        </p:nvSpPr>
        <p:spPr>
          <a:xfrm>
            <a:off x="9313200" y="523764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82" name="Straight Connector 156"/>
          <p:cNvSpPr/>
          <p:nvPr/>
        </p:nvSpPr>
        <p:spPr>
          <a:xfrm>
            <a:off x="7500600" y="443592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83" name="Straight Connector 156"/>
          <p:cNvSpPr/>
          <p:nvPr/>
        </p:nvSpPr>
        <p:spPr>
          <a:xfrm>
            <a:off x="8507880" y="443592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84" name="Straight Connector 156"/>
          <p:cNvSpPr/>
          <p:nvPr/>
        </p:nvSpPr>
        <p:spPr>
          <a:xfrm>
            <a:off x="9514800" y="4429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85" name="Straight Connector 156"/>
          <p:cNvSpPr/>
          <p:nvPr/>
        </p:nvSpPr>
        <p:spPr>
          <a:xfrm>
            <a:off x="11108520" y="443592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86" name="Straight Connector 156"/>
          <p:cNvSpPr/>
          <p:nvPr/>
        </p:nvSpPr>
        <p:spPr>
          <a:xfrm>
            <a:off x="748260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87" name="Straight Connector 156"/>
          <p:cNvSpPr/>
          <p:nvPr/>
        </p:nvSpPr>
        <p:spPr>
          <a:xfrm>
            <a:off x="848952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88" name="Straight Connector 156"/>
          <p:cNvSpPr/>
          <p:nvPr/>
        </p:nvSpPr>
        <p:spPr>
          <a:xfrm>
            <a:off x="9496800" y="329580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89" name="Straight Connector 156"/>
          <p:cNvSpPr/>
          <p:nvPr/>
        </p:nvSpPr>
        <p:spPr>
          <a:xfrm>
            <a:off x="1109016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grpSp>
        <p:nvGrpSpPr>
          <p:cNvPr id="1590" name="Group 144"/>
          <p:cNvGrpSpPr/>
          <p:nvPr/>
        </p:nvGrpSpPr>
        <p:grpSpPr>
          <a:xfrm>
            <a:off x="4062960" y="3022200"/>
            <a:ext cx="1755360" cy="478440"/>
            <a:chOff x="4062960" y="3022200"/>
            <a:chExt cx="1755360" cy="478440"/>
          </a:xfrm>
        </p:grpSpPr>
        <p:sp>
          <p:nvSpPr>
            <p:cNvPr id="1591" name="Freeform: Shape 18"/>
            <p:cNvSpPr/>
            <p:nvPr/>
          </p:nvSpPr>
          <p:spPr>
            <a:xfrm>
              <a:off x="4062960" y="3027960"/>
              <a:ext cx="216000" cy="472680"/>
            </a:xfrm>
            <a:custGeom>
              <a:avLst/>
              <a:gdLst/>
              <a:ahLst/>
              <a:rect l="l" t="t" r="r" b="b"/>
              <a:pathLst>
                <a:path w="175036" h="590550">
                  <a:moveTo>
                    <a:pt x="0" y="0"/>
                  </a:moveTo>
                  <a:cubicBezTo>
                    <a:pt x="59531" y="38100"/>
                    <a:pt x="119063" y="76200"/>
                    <a:pt x="123825" y="95250"/>
                  </a:cubicBezTo>
                  <a:cubicBezTo>
                    <a:pt x="128587" y="114300"/>
                    <a:pt x="25400" y="95250"/>
                    <a:pt x="28575" y="114300"/>
                  </a:cubicBezTo>
                  <a:cubicBezTo>
                    <a:pt x="31750" y="133350"/>
                    <a:pt x="139700" y="184150"/>
                    <a:pt x="142875" y="209550"/>
                  </a:cubicBezTo>
                  <a:cubicBezTo>
                    <a:pt x="146050" y="234950"/>
                    <a:pt x="46038" y="246063"/>
                    <a:pt x="47625" y="266700"/>
                  </a:cubicBezTo>
                  <a:cubicBezTo>
                    <a:pt x="49212" y="287337"/>
                    <a:pt x="153988" y="307975"/>
                    <a:pt x="152400" y="333375"/>
                  </a:cubicBezTo>
                  <a:cubicBezTo>
                    <a:pt x="150813" y="358775"/>
                    <a:pt x="34925" y="398463"/>
                    <a:pt x="38100" y="419100"/>
                  </a:cubicBezTo>
                  <a:cubicBezTo>
                    <a:pt x="41275" y="439738"/>
                    <a:pt x="157163" y="428625"/>
                    <a:pt x="171450" y="457200"/>
                  </a:cubicBezTo>
                  <a:cubicBezTo>
                    <a:pt x="185737" y="485775"/>
                    <a:pt x="154781" y="538162"/>
                    <a:pt x="123825" y="590550"/>
                  </a:cubicBezTo>
                </a:path>
              </a:pathLst>
            </a:custGeom>
            <a:noFill/>
            <a:ln>
              <a:solidFill>
                <a:srgbClr val="ababab"/>
              </a:solidFill>
              <a:tailEnd len="med" type="triangle" w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592" name="TextBox 148"/>
            <p:cNvSpPr/>
            <p:nvPr/>
          </p:nvSpPr>
          <p:spPr>
            <a:xfrm>
              <a:off x="4529160" y="3022200"/>
              <a:ext cx="1289160" cy="47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i="1" lang="it-IT" sz="1270" spc="-1" strike="noStrike">
                  <a:solidFill>
                    <a:srgbClr val="c00000"/>
                  </a:solidFill>
                  <a:latin typeface="Calibri"/>
                </a:rPr>
                <a:t>Fabric Controller</a:t>
              </a:r>
              <a:endParaRPr b="0" lang="it-IT" sz="127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1" i="1" lang="it-IT" sz="1270" spc="-1" strike="noStrike">
                  <a:solidFill>
                    <a:srgbClr val="c00000"/>
                  </a:solidFill>
                  <a:latin typeface="Calibri"/>
                </a:rPr>
                <a:t>Thread</a:t>
              </a:r>
              <a:endParaRPr b="0" lang="it-IT" sz="1270" spc="-1" strike="noStrike">
                <a:latin typeface="Arial"/>
              </a:endParaRPr>
            </a:p>
          </p:txBody>
        </p:sp>
      </p:grpSp>
      <p:sp>
        <p:nvSpPr>
          <p:cNvPr id="1593" name="Rectangle 149"/>
          <p:cNvSpPr/>
          <p:nvPr/>
        </p:nvSpPr>
        <p:spPr>
          <a:xfrm>
            <a:off x="5886720" y="887040"/>
            <a:ext cx="56354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Fork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an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execution team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on multiple cluster cores; they can be synchronized with </a:t>
            </a:r>
            <a:r>
              <a:rPr b="0" i="1" lang="en-US" sz="1800" spc="-1" strike="noStrike">
                <a:solidFill>
                  <a:srgbClr val="000000"/>
                </a:solidFill>
                <a:latin typeface="Calibri"/>
              </a:rPr>
              <a:t>barriers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i="1" lang="en-US" sz="1800" spc="-1" strike="noStrike">
                <a:solidFill>
                  <a:srgbClr val="000000"/>
                </a:solidFill>
                <a:latin typeface="Calibri"/>
              </a:rPr>
              <a:t>critical sections </a:t>
            </a:r>
            <a:endParaRPr b="0" lang="it-IT" sz="1800" spc="-1" strike="noStrike">
              <a:latin typeface="Arial"/>
            </a:endParaRPr>
          </a:p>
        </p:txBody>
      </p:sp>
      <p:grpSp>
        <p:nvGrpSpPr>
          <p:cNvPr id="1594" name="Group 145"/>
          <p:cNvGrpSpPr/>
          <p:nvPr/>
        </p:nvGrpSpPr>
        <p:grpSpPr>
          <a:xfrm>
            <a:off x="6394680" y="3753360"/>
            <a:ext cx="1203480" cy="512640"/>
            <a:chOff x="6394680" y="3753360"/>
            <a:chExt cx="1203480" cy="512640"/>
          </a:xfrm>
        </p:grpSpPr>
        <p:sp>
          <p:nvSpPr>
            <p:cNvPr id="1595" name="Freeform: Shape 18"/>
            <p:cNvSpPr/>
            <p:nvPr/>
          </p:nvSpPr>
          <p:spPr>
            <a:xfrm>
              <a:off x="7382160" y="3793320"/>
              <a:ext cx="216000" cy="472680"/>
            </a:xfrm>
            <a:custGeom>
              <a:avLst/>
              <a:gdLst/>
              <a:ahLst/>
              <a:rect l="l" t="t" r="r" b="b"/>
              <a:pathLst>
                <a:path w="175036" h="590550">
                  <a:moveTo>
                    <a:pt x="0" y="0"/>
                  </a:moveTo>
                  <a:cubicBezTo>
                    <a:pt x="59531" y="38100"/>
                    <a:pt x="119063" y="76200"/>
                    <a:pt x="123825" y="95250"/>
                  </a:cubicBezTo>
                  <a:cubicBezTo>
                    <a:pt x="128587" y="114300"/>
                    <a:pt x="25400" y="95250"/>
                    <a:pt x="28575" y="114300"/>
                  </a:cubicBezTo>
                  <a:cubicBezTo>
                    <a:pt x="31750" y="133350"/>
                    <a:pt x="139700" y="184150"/>
                    <a:pt x="142875" y="209550"/>
                  </a:cubicBezTo>
                  <a:cubicBezTo>
                    <a:pt x="146050" y="234950"/>
                    <a:pt x="46038" y="246063"/>
                    <a:pt x="47625" y="266700"/>
                  </a:cubicBezTo>
                  <a:cubicBezTo>
                    <a:pt x="49212" y="287337"/>
                    <a:pt x="153988" y="307975"/>
                    <a:pt x="152400" y="333375"/>
                  </a:cubicBezTo>
                  <a:cubicBezTo>
                    <a:pt x="150813" y="358775"/>
                    <a:pt x="34925" y="398463"/>
                    <a:pt x="38100" y="419100"/>
                  </a:cubicBezTo>
                  <a:cubicBezTo>
                    <a:pt x="41275" y="439738"/>
                    <a:pt x="157163" y="428625"/>
                    <a:pt x="171450" y="457200"/>
                  </a:cubicBezTo>
                  <a:cubicBezTo>
                    <a:pt x="185737" y="485775"/>
                    <a:pt x="154781" y="538162"/>
                    <a:pt x="123825" y="590550"/>
                  </a:cubicBezTo>
                </a:path>
              </a:pathLst>
            </a:custGeom>
            <a:noFill/>
            <a:ln>
              <a:solidFill>
                <a:srgbClr val="ababab"/>
              </a:solidFill>
              <a:tailEnd len="med" type="triangle" w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596" name="TextBox 151"/>
            <p:cNvSpPr/>
            <p:nvPr/>
          </p:nvSpPr>
          <p:spPr>
            <a:xfrm>
              <a:off x="6394680" y="3753360"/>
              <a:ext cx="651960" cy="47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i="1" lang="it-IT" sz="1270" spc="-1" strike="noStrike">
                  <a:solidFill>
                    <a:srgbClr val="c00000"/>
                  </a:solidFill>
                  <a:latin typeface="Calibri"/>
                </a:rPr>
                <a:t>Core 0</a:t>
              </a:r>
              <a:endParaRPr b="0" lang="it-IT" sz="127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1" i="1" lang="it-IT" sz="1270" spc="-1" strike="noStrike">
                  <a:solidFill>
                    <a:srgbClr val="c00000"/>
                  </a:solidFill>
                  <a:latin typeface="Calibri"/>
                </a:rPr>
                <a:t>Thread</a:t>
              </a:r>
              <a:endParaRPr b="0" lang="it-IT" sz="1270" spc="-1" strike="noStrike">
                <a:latin typeface="Arial"/>
              </a:endParaRPr>
            </a:p>
          </p:txBody>
        </p:sp>
      </p:grpSp>
      <p:sp>
        <p:nvSpPr>
          <p:cNvPr id="1597" name="Freeform: Shape 18"/>
          <p:cNvSpPr/>
          <p:nvPr/>
        </p:nvSpPr>
        <p:spPr>
          <a:xfrm>
            <a:off x="8399880" y="3779640"/>
            <a:ext cx="216000" cy="472680"/>
          </a:xfrm>
          <a:custGeom>
            <a:avLst/>
            <a:gdLst/>
            <a:ahLst/>
            <a:rect l="l" t="t" r="r" b="b"/>
            <a:pathLst>
              <a:path w="175036" h="590550">
                <a:moveTo>
                  <a:pt x="0" y="0"/>
                </a:moveTo>
                <a:cubicBezTo>
                  <a:pt x="59531" y="38100"/>
                  <a:pt x="119063" y="76200"/>
                  <a:pt x="123825" y="95250"/>
                </a:cubicBezTo>
                <a:cubicBezTo>
                  <a:pt x="128587" y="114300"/>
                  <a:pt x="25400" y="95250"/>
                  <a:pt x="28575" y="114300"/>
                </a:cubicBezTo>
                <a:cubicBezTo>
                  <a:pt x="31750" y="133350"/>
                  <a:pt x="139700" y="184150"/>
                  <a:pt x="142875" y="209550"/>
                </a:cubicBezTo>
                <a:cubicBezTo>
                  <a:pt x="146050" y="234950"/>
                  <a:pt x="46038" y="246063"/>
                  <a:pt x="47625" y="266700"/>
                </a:cubicBezTo>
                <a:cubicBezTo>
                  <a:pt x="49212" y="287337"/>
                  <a:pt x="153988" y="307975"/>
                  <a:pt x="152400" y="333375"/>
                </a:cubicBezTo>
                <a:cubicBezTo>
                  <a:pt x="150813" y="358775"/>
                  <a:pt x="34925" y="398463"/>
                  <a:pt x="38100" y="419100"/>
                </a:cubicBezTo>
                <a:cubicBezTo>
                  <a:pt x="41275" y="439738"/>
                  <a:pt x="157163" y="428625"/>
                  <a:pt x="171450" y="457200"/>
                </a:cubicBezTo>
                <a:cubicBezTo>
                  <a:pt x="185737" y="485775"/>
                  <a:pt x="154781" y="538162"/>
                  <a:pt x="123825" y="590550"/>
                </a:cubicBezTo>
              </a:path>
            </a:pathLst>
          </a:custGeom>
          <a:noFill/>
          <a:ln>
            <a:solidFill>
              <a:srgbClr val="ababab"/>
            </a:solidFill>
            <a:tailEnd len="med" type="triangle" w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98" name="Freeform: Shape 18"/>
          <p:cNvSpPr/>
          <p:nvPr/>
        </p:nvSpPr>
        <p:spPr>
          <a:xfrm>
            <a:off x="9413280" y="3764880"/>
            <a:ext cx="216000" cy="472680"/>
          </a:xfrm>
          <a:custGeom>
            <a:avLst/>
            <a:gdLst/>
            <a:ahLst/>
            <a:rect l="l" t="t" r="r" b="b"/>
            <a:pathLst>
              <a:path w="175036" h="590550">
                <a:moveTo>
                  <a:pt x="0" y="0"/>
                </a:moveTo>
                <a:cubicBezTo>
                  <a:pt x="59531" y="38100"/>
                  <a:pt x="119063" y="76200"/>
                  <a:pt x="123825" y="95250"/>
                </a:cubicBezTo>
                <a:cubicBezTo>
                  <a:pt x="128587" y="114300"/>
                  <a:pt x="25400" y="95250"/>
                  <a:pt x="28575" y="114300"/>
                </a:cubicBezTo>
                <a:cubicBezTo>
                  <a:pt x="31750" y="133350"/>
                  <a:pt x="139700" y="184150"/>
                  <a:pt x="142875" y="209550"/>
                </a:cubicBezTo>
                <a:cubicBezTo>
                  <a:pt x="146050" y="234950"/>
                  <a:pt x="46038" y="246063"/>
                  <a:pt x="47625" y="266700"/>
                </a:cubicBezTo>
                <a:cubicBezTo>
                  <a:pt x="49212" y="287337"/>
                  <a:pt x="153988" y="307975"/>
                  <a:pt x="152400" y="333375"/>
                </a:cubicBezTo>
                <a:cubicBezTo>
                  <a:pt x="150813" y="358775"/>
                  <a:pt x="34925" y="398463"/>
                  <a:pt x="38100" y="419100"/>
                </a:cubicBezTo>
                <a:cubicBezTo>
                  <a:pt x="41275" y="439738"/>
                  <a:pt x="157163" y="428625"/>
                  <a:pt x="171450" y="457200"/>
                </a:cubicBezTo>
                <a:cubicBezTo>
                  <a:pt x="185737" y="485775"/>
                  <a:pt x="154781" y="538162"/>
                  <a:pt x="123825" y="590550"/>
                </a:cubicBezTo>
              </a:path>
            </a:pathLst>
          </a:custGeom>
          <a:noFill/>
          <a:ln>
            <a:solidFill>
              <a:srgbClr val="ababab"/>
            </a:solidFill>
            <a:tailEnd len="med" type="triangle" w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99" name="Freeform: Shape 18"/>
          <p:cNvSpPr/>
          <p:nvPr/>
        </p:nvSpPr>
        <p:spPr>
          <a:xfrm>
            <a:off x="10996200" y="3779640"/>
            <a:ext cx="216000" cy="472680"/>
          </a:xfrm>
          <a:custGeom>
            <a:avLst/>
            <a:gdLst/>
            <a:ahLst/>
            <a:rect l="l" t="t" r="r" b="b"/>
            <a:pathLst>
              <a:path w="175036" h="590550">
                <a:moveTo>
                  <a:pt x="0" y="0"/>
                </a:moveTo>
                <a:cubicBezTo>
                  <a:pt x="59531" y="38100"/>
                  <a:pt x="119063" y="76200"/>
                  <a:pt x="123825" y="95250"/>
                </a:cubicBezTo>
                <a:cubicBezTo>
                  <a:pt x="128587" y="114300"/>
                  <a:pt x="25400" y="95250"/>
                  <a:pt x="28575" y="114300"/>
                </a:cubicBezTo>
                <a:cubicBezTo>
                  <a:pt x="31750" y="133350"/>
                  <a:pt x="139700" y="184150"/>
                  <a:pt x="142875" y="209550"/>
                </a:cubicBezTo>
                <a:cubicBezTo>
                  <a:pt x="146050" y="234950"/>
                  <a:pt x="46038" y="246063"/>
                  <a:pt x="47625" y="266700"/>
                </a:cubicBezTo>
                <a:cubicBezTo>
                  <a:pt x="49212" y="287337"/>
                  <a:pt x="153988" y="307975"/>
                  <a:pt x="152400" y="333375"/>
                </a:cubicBezTo>
                <a:cubicBezTo>
                  <a:pt x="150813" y="358775"/>
                  <a:pt x="34925" y="398463"/>
                  <a:pt x="38100" y="419100"/>
                </a:cubicBezTo>
                <a:cubicBezTo>
                  <a:pt x="41275" y="439738"/>
                  <a:pt x="157163" y="428625"/>
                  <a:pt x="171450" y="457200"/>
                </a:cubicBezTo>
                <a:cubicBezTo>
                  <a:pt x="185737" y="485775"/>
                  <a:pt x="154781" y="538162"/>
                  <a:pt x="123825" y="590550"/>
                </a:cubicBezTo>
              </a:path>
            </a:pathLst>
          </a:custGeom>
          <a:noFill/>
          <a:ln>
            <a:solidFill>
              <a:srgbClr val="ababab"/>
            </a:solidFill>
            <a:tailEnd len="med" type="triangle" w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800" spc="-106" strike="noStrike">
                <a:solidFill>
                  <a:srgbClr val="c00000"/>
                </a:solidFill>
                <a:latin typeface="Calibri"/>
                <a:ea typeface="Roboto"/>
              </a:rPr>
              <a:t>PULP Execution Model</a:t>
            </a:r>
            <a:endParaRPr b="0" lang="it-IT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1" name="PlaceHolder 2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8E1C061D-B511-4FCB-A481-E176BE24ED1C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  <p:sp>
        <p:nvSpPr>
          <p:cNvPr id="1602" name="Rectangle 125"/>
          <p:cNvSpPr/>
          <p:nvPr/>
        </p:nvSpPr>
        <p:spPr>
          <a:xfrm>
            <a:off x="2906640" y="4742280"/>
            <a:ext cx="170460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03" name="Rectangle 126"/>
          <p:cNvSpPr/>
          <p:nvPr/>
        </p:nvSpPr>
        <p:spPr>
          <a:xfrm rot="16200000">
            <a:off x="2827440" y="528624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CLK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04" name="Rectangle 128"/>
          <p:cNvSpPr/>
          <p:nvPr/>
        </p:nvSpPr>
        <p:spPr>
          <a:xfrm rot="16200000">
            <a:off x="3267000" y="528480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TIMER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05" name="Rectangle 130"/>
          <p:cNvSpPr/>
          <p:nvPr/>
        </p:nvSpPr>
        <p:spPr>
          <a:xfrm rot="16200000">
            <a:off x="4131360" y="414828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06" name="Straight Connector 133"/>
          <p:cNvSpPr/>
          <p:nvPr/>
        </p:nvSpPr>
        <p:spPr>
          <a:xfrm flipV="1">
            <a:off x="309168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07" name="Straight Connector 134"/>
          <p:cNvSpPr/>
          <p:nvPr/>
        </p:nvSpPr>
        <p:spPr>
          <a:xfrm flipV="1">
            <a:off x="3531240" y="507096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08" name="Rectangle 68"/>
          <p:cNvSpPr/>
          <p:nvPr/>
        </p:nvSpPr>
        <p:spPr>
          <a:xfrm>
            <a:off x="1461600" y="388368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SPI 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09" name="Rectangle 69"/>
          <p:cNvSpPr/>
          <p:nvPr/>
        </p:nvSpPr>
        <p:spPr>
          <a:xfrm>
            <a:off x="1461600" y="428004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CAMIF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10" name="Straight Connector 70"/>
          <p:cNvSpPr/>
          <p:nvPr/>
        </p:nvSpPr>
        <p:spPr>
          <a:xfrm>
            <a:off x="2046960" y="404856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11" name="Straight Connector 71"/>
          <p:cNvSpPr/>
          <p:nvPr/>
        </p:nvSpPr>
        <p:spPr>
          <a:xfrm>
            <a:off x="2046960" y="44449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12" name="Rectangle 72"/>
          <p:cNvSpPr/>
          <p:nvPr/>
        </p:nvSpPr>
        <p:spPr>
          <a:xfrm>
            <a:off x="1461600" y="467640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I2C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13" name="Rectangle 73"/>
          <p:cNvSpPr/>
          <p:nvPr/>
        </p:nvSpPr>
        <p:spPr>
          <a:xfrm>
            <a:off x="1461600" y="507276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UART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14" name="Straight Connector 74"/>
          <p:cNvSpPr/>
          <p:nvPr/>
        </p:nvSpPr>
        <p:spPr>
          <a:xfrm>
            <a:off x="2046960" y="48412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15" name="Straight Connector 75"/>
          <p:cNvSpPr/>
          <p:nvPr/>
        </p:nvSpPr>
        <p:spPr>
          <a:xfrm>
            <a:off x="2046960" y="523764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16" name="Rectangle 152"/>
          <p:cNvSpPr/>
          <p:nvPr/>
        </p:nvSpPr>
        <p:spPr>
          <a:xfrm rot="16200000">
            <a:off x="1329120" y="4485600"/>
            <a:ext cx="227376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µDMA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17" name="Rectangle 154"/>
          <p:cNvSpPr/>
          <p:nvPr/>
        </p:nvSpPr>
        <p:spPr>
          <a:xfrm>
            <a:off x="1462680" y="250092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18" name="Straight Connector 155"/>
          <p:cNvSpPr/>
          <p:nvPr/>
        </p:nvSpPr>
        <p:spPr>
          <a:xfrm>
            <a:off x="2048040" y="266580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19" name="Straight Connector 156"/>
          <p:cNvSpPr/>
          <p:nvPr/>
        </p:nvSpPr>
        <p:spPr>
          <a:xfrm>
            <a:off x="115956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20" name="Rectangle 66"/>
          <p:cNvSpPr/>
          <p:nvPr/>
        </p:nvSpPr>
        <p:spPr>
          <a:xfrm>
            <a:off x="4439880" y="1786320"/>
            <a:ext cx="547920" cy="52812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ababab"/>
                </a:solidFill>
                <a:latin typeface="Arial"/>
              </a:rPr>
              <a:t>ROM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21" name="Rectangle 119"/>
          <p:cNvSpPr/>
          <p:nvPr/>
        </p:nvSpPr>
        <p:spPr>
          <a:xfrm>
            <a:off x="2289240" y="2504160"/>
            <a:ext cx="259164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Logarithmic Interconnect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22" name="Straight Connector 120"/>
          <p:cNvSpPr/>
          <p:nvPr/>
        </p:nvSpPr>
        <p:spPr>
          <a:xfrm flipV="1">
            <a:off x="2463480" y="23418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23" name="Straight Connector 122"/>
          <p:cNvSpPr/>
          <p:nvPr/>
        </p:nvSpPr>
        <p:spPr>
          <a:xfrm flipV="1">
            <a:off x="352008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24" name="Straight Connector 123"/>
          <p:cNvSpPr/>
          <p:nvPr/>
        </p:nvSpPr>
        <p:spPr>
          <a:xfrm flipV="1">
            <a:off x="466524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25" name="Straight Connector 157"/>
          <p:cNvSpPr/>
          <p:nvPr/>
        </p:nvSpPr>
        <p:spPr>
          <a:xfrm flipV="1">
            <a:off x="246348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26" name="Rectangle 131"/>
          <p:cNvSpPr/>
          <p:nvPr/>
        </p:nvSpPr>
        <p:spPr>
          <a:xfrm>
            <a:off x="3813120" y="3002760"/>
            <a:ext cx="722160" cy="528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27" name="Straight Connector 138"/>
          <p:cNvSpPr/>
          <p:nvPr/>
        </p:nvSpPr>
        <p:spPr>
          <a:xfrm flipV="1">
            <a:off x="398736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28" name="Straight Connector 139"/>
          <p:cNvSpPr/>
          <p:nvPr/>
        </p:nvSpPr>
        <p:spPr>
          <a:xfrm flipV="1">
            <a:off x="438912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29" name="Straight Connector 159"/>
          <p:cNvSpPr/>
          <p:nvPr/>
        </p:nvSpPr>
        <p:spPr>
          <a:xfrm flipV="1">
            <a:off x="2778480" y="2828520"/>
            <a:ext cx="360" cy="12009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30" name="Straight Connector 160"/>
          <p:cNvSpPr/>
          <p:nvPr/>
        </p:nvSpPr>
        <p:spPr>
          <a:xfrm flipV="1">
            <a:off x="2639160" y="4038480"/>
            <a:ext cx="139320" cy="2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31" name="Rectangle 141"/>
          <p:cNvSpPr/>
          <p:nvPr/>
        </p:nvSpPr>
        <p:spPr>
          <a:xfrm>
            <a:off x="2285640" y="2997000"/>
            <a:ext cx="365760" cy="401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 vert="vert270" rot="16200000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32" name="Rectangle 147"/>
          <p:cNvSpPr/>
          <p:nvPr/>
        </p:nvSpPr>
        <p:spPr>
          <a:xfrm>
            <a:off x="1463400" y="299700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GPIO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33" name="Straight Connector 149"/>
          <p:cNvSpPr/>
          <p:nvPr/>
        </p:nvSpPr>
        <p:spPr>
          <a:xfrm flipV="1">
            <a:off x="2048760" y="3140640"/>
            <a:ext cx="234360" cy="7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34" name="Straight Connector 161"/>
          <p:cNvSpPr/>
          <p:nvPr/>
        </p:nvSpPr>
        <p:spPr>
          <a:xfrm flipV="1">
            <a:off x="2463480" y="340488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35" name="Rectangle 68"/>
          <p:cNvSpPr/>
          <p:nvPr/>
        </p:nvSpPr>
        <p:spPr>
          <a:xfrm>
            <a:off x="1469160" y="342900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I2S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36" name="Straight Connector 70"/>
          <p:cNvSpPr/>
          <p:nvPr/>
        </p:nvSpPr>
        <p:spPr>
          <a:xfrm>
            <a:off x="2054520" y="35938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37" name="Rectangle 73"/>
          <p:cNvSpPr/>
          <p:nvPr/>
        </p:nvSpPr>
        <p:spPr>
          <a:xfrm>
            <a:off x="1469160" y="547488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SDIO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38" name="Straight Connector 75"/>
          <p:cNvSpPr/>
          <p:nvPr/>
        </p:nvSpPr>
        <p:spPr>
          <a:xfrm>
            <a:off x="2054520" y="56401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39" name="Elbow Connector 3"/>
          <p:cNvSpPr/>
          <p:nvPr/>
        </p:nvSpPr>
        <p:spPr>
          <a:xfrm>
            <a:off x="2651760" y="3197880"/>
            <a:ext cx="254160" cy="1709280"/>
          </a:xfrm>
          <a:prstGeom prst="bentConnector3">
            <a:avLst>
              <a:gd name="adj1" fmla="val 24952"/>
            </a:avLst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640" name="Rectangle 128"/>
          <p:cNvSpPr/>
          <p:nvPr/>
        </p:nvSpPr>
        <p:spPr>
          <a:xfrm rot="16200000">
            <a:off x="3705120" y="528624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EVENT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41" name="Straight Connector 134"/>
          <p:cNvSpPr/>
          <p:nvPr/>
        </p:nvSpPr>
        <p:spPr>
          <a:xfrm flipV="1">
            <a:off x="396936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42" name="Rectangle 128"/>
          <p:cNvSpPr/>
          <p:nvPr/>
        </p:nvSpPr>
        <p:spPr>
          <a:xfrm rot="16200000">
            <a:off x="4131360" y="529848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SoC CTRL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43" name="Straight Connector 134"/>
          <p:cNvSpPr/>
          <p:nvPr/>
        </p:nvSpPr>
        <p:spPr>
          <a:xfrm flipV="1">
            <a:off x="4395240" y="5085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44" name="Straight Connector 134"/>
          <p:cNvSpPr/>
          <p:nvPr/>
        </p:nvSpPr>
        <p:spPr>
          <a:xfrm flipV="1">
            <a:off x="4419000" y="4581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45" name="Rectangle 130"/>
          <p:cNvSpPr/>
          <p:nvPr/>
        </p:nvSpPr>
        <p:spPr>
          <a:xfrm rot="16200000">
            <a:off x="3699000" y="415836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INTC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46" name="Straight Connector 134"/>
          <p:cNvSpPr/>
          <p:nvPr/>
        </p:nvSpPr>
        <p:spPr>
          <a:xfrm flipV="1">
            <a:off x="3987000" y="459108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47" name="Straight Connector 134"/>
          <p:cNvSpPr/>
          <p:nvPr/>
        </p:nvSpPr>
        <p:spPr>
          <a:xfrm flipH="1" flipV="1">
            <a:off x="3263400" y="3524040"/>
            <a:ext cx="9360" cy="1199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48" name="Straight Connector 79"/>
          <p:cNvSpPr/>
          <p:nvPr/>
        </p:nvSpPr>
        <p:spPr>
          <a:xfrm flipV="1">
            <a:off x="3963240" y="3557520"/>
            <a:ext cx="360" cy="51948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49" name="Straight Connector 81"/>
          <p:cNvSpPr/>
          <p:nvPr/>
        </p:nvSpPr>
        <p:spPr>
          <a:xfrm flipV="1">
            <a:off x="4395240" y="3543480"/>
            <a:ext cx="0" cy="53640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50" name="Rectangle 131"/>
          <p:cNvSpPr/>
          <p:nvPr/>
        </p:nvSpPr>
        <p:spPr>
          <a:xfrm>
            <a:off x="2902320" y="2995920"/>
            <a:ext cx="7221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rIns="27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ACCEL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51" name="Straight Connector 138"/>
          <p:cNvSpPr/>
          <p:nvPr/>
        </p:nvSpPr>
        <p:spPr>
          <a:xfrm flipV="1">
            <a:off x="307656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52" name="Straight Connector 139"/>
          <p:cNvSpPr/>
          <p:nvPr/>
        </p:nvSpPr>
        <p:spPr>
          <a:xfrm flipV="1">
            <a:off x="321012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53" name="Straight Connector 138"/>
          <p:cNvSpPr/>
          <p:nvPr/>
        </p:nvSpPr>
        <p:spPr>
          <a:xfrm flipV="1">
            <a:off x="335412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54" name="Straight Connector 139"/>
          <p:cNvSpPr/>
          <p:nvPr/>
        </p:nvSpPr>
        <p:spPr>
          <a:xfrm flipV="1">
            <a:off x="348804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55" name="Straight Connector 156"/>
          <p:cNvSpPr/>
          <p:nvPr/>
        </p:nvSpPr>
        <p:spPr>
          <a:xfrm>
            <a:off x="115524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56" name="Straight Connector 156"/>
          <p:cNvSpPr/>
          <p:nvPr/>
        </p:nvSpPr>
        <p:spPr>
          <a:xfrm>
            <a:off x="115524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57" name="Straight Connector 156"/>
          <p:cNvSpPr/>
          <p:nvPr/>
        </p:nvSpPr>
        <p:spPr>
          <a:xfrm>
            <a:off x="115524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58" name="Straight Connector 156"/>
          <p:cNvSpPr/>
          <p:nvPr/>
        </p:nvSpPr>
        <p:spPr>
          <a:xfrm>
            <a:off x="115524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59" name="Straight Connector 156"/>
          <p:cNvSpPr/>
          <p:nvPr/>
        </p:nvSpPr>
        <p:spPr>
          <a:xfrm>
            <a:off x="115920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60" name="Straight Connector 156"/>
          <p:cNvSpPr/>
          <p:nvPr/>
        </p:nvSpPr>
        <p:spPr>
          <a:xfrm>
            <a:off x="115920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61" name="Straight Connector 156"/>
          <p:cNvSpPr/>
          <p:nvPr/>
        </p:nvSpPr>
        <p:spPr>
          <a:xfrm>
            <a:off x="115524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62" name="Trapezoid 112"/>
          <p:cNvSpPr/>
          <p:nvPr/>
        </p:nvSpPr>
        <p:spPr>
          <a:xfrm rot="16200000">
            <a:off x="-795960" y="4004280"/>
            <a:ext cx="3615840" cy="273960"/>
          </a:xfrm>
          <a:prstGeom prst="trapezoid">
            <a:avLst>
              <a:gd name="adj" fmla="val 25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Pad Control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63" name="Straight Connector 156"/>
          <p:cNvSpPr/>
          <p:nvPr/>
        </p:nvSpPr>
        <p:spPr>
          <a:xfrm>
            <a:off x="56520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64" name="Straight Connector 156"/>
          <p:cNvSpPr/>
          <p:nvPr/>
        </p:nvSpPr>
        <p:spPr>
          <a:xfrm>
            <a:off x="56088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65" name="Straight Connector 156"/>
          <p:cNvSpPr/>
          <p:nvPr/>
        </p:nvSpPr>
        <p:spPr>
          <a:xfrm>
            <a:off x="56088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66" name="Straight Connector 156"/>
          <p:cNvSpPr/>
          <p:nvPr/>
        </p:nvSpPr>
        <p:spPr>
          <a:xfrm>
            <a:off x="56088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67" name="Straight Connector 156"/>
          <p:cNvSpPr/>
          <p:nvPr/>
        </p:nvSpPr>
        <p:spPr>
          <a:xfrm>
            <a:off x="56088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68" name="Straight Connector 156"/>
          <p:cNvSpPr/>
          <p:nvPr/>
        </p:nvSpPr>
        <p:spPr>
          <a:xfrm>
            <a:off x="56448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69" name="Straight Connector 156"/>
          <p:cNvSpPr/>
          <p:nvPr/>
        </p:nvSpPr>
        <p:spPr>
          <a:xfrm>
            <a:off x="56448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70" name="Straight Connector 156"/>
          <p:cNvSpPr/>
          <p:nvPr/>
        </p:nvSpPr>
        <p:spPr>
          <a:xfrm>
            <a:off x="56088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71" name="Elbow Connector 122"/>
          <p:cNvSpPr/>
          <p:nvPr/>
        </p:nvSpPr>
        <p:spPr>
          <a:xfrm rot="5400000">
            <a:off x="2619360" y="4138200"/>
            <a:ext cx="168840" cy="3383280"/>
          </a:xfrm>
          <a:prstGeom prst="bentConnector3">
            <a:avLst>
              <a:gd name="adj1" fmla="val 200174"/>
            </a:avLst>
          </a:prstGeom>
          <a:noFill/>
          <a:ln cap="sq" w="22225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72" name="Straight Connector 120"/>
          <p:cNvSpPr/>
          <p:nvPr/>
        </p:nvSpPr>
        <p:spPr>
          <a:xfrm flipV="1">
            <a:off x="2593440" y="2229120"/>
            <a:ext cx="360" cy="2635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73" name="Straight Connector 120"/>
          <p:cNvSpPr/>
          <p:nvPr/>
        </p:nvSpPr>
        <p:spPr>
          <a:xfrm flipV="1">
            <a:off x="2737800" y="1981080"/>
            <a:ext cx="360" cy="5295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74" name="Straight Connector 120"/>
          <p:cNvSpPr/>
          <p:nvPr/>
        </p:nvSpPr>
        <p:spPr>
          <a:xfrm flipV="1">
            <a:off x="2877120" y="1783800"/>
            <a:ext cx="0" cy="726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75" name="Rectangle 118"/>
          <p:cNvSpPr/>
          <p:nvPr/>
        </p:nvSpPr>
        <p:spPr>
          <a:xfrm>
            <a:off x="2593440" y="1522080"/>
            <a:ext cx="5853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76" name="Rectangle 118"/>
          <p:cNvSpPr/>
          <p:nvPr/>
        </p:nvSpPr>
        <p:spPr>
          <a:xfrm>
            <a:off x="2445120" y="1604520"/>
            <a:ext cx="5853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77" name="Rectangle 118"/>
          <p:cNvSpPr/>
          <p:nvPr/>
        </p:nvSpPr>
        <p:spPr>
          <a:xfrm>
            <a:off x="2291760" y="1700640"/>
            <a:ext cx="5853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78" name="Rectangle 124"/>
          <p:cNvSpPr/>
          <p:nvPr/>
        </p:nvSpPr>
        <p:spPr>
          <a:xfrm>
            <a:off x="2163600" y="1804680"/>
            <a:ext cx="5853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79" name="TextBox 135"/>
          <p:cNvSpPr/>
          <p:nvPr/>
        </p:nvSpPr>
        <p:spPr>
          <a:xfrm rot="19092600">
            <a:off x="1611000" y="1535760"/>
            <a:ext cx="12236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808080"/>
                </a:solidFill>
                <a:latin typeface="Arial"/>
              </a:rPr>
              <a:t>Interleaved banks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80" name="Rectangle 124"/>
          <p:cNvSpPr/>
          <p:nvPr/>
        </p:nvSpPr>
        <p:spPr>
          <a:xfrm>
            <a:off x="3220920" y="1786320"/>
            <a:ext cx="585360" cy="52812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ababab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ababab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81" name="Rectangle 124"/>
          <p:cNvSpPr/>
          <p:nvPr/>
        </p:nvSpPr>
        <p:spPr>
          <a:xfrm>
            <a:off x="3821040" y="1791000"/>
            <a:ext cx="585360" cy="52812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ababab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ababab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682" name="Straight Connector 122"/>
          <p:cNvSpPr/>
          <p:nvPr/>
        </p:nvSpPr>
        <p:spPr>
          <a:xfrm flipV="1">
            <a:off x="4101480" y="231444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83" name="TextBox 139"/>
          <p:cNvSpPr/>
          <p:nvPr/>
        </p:nvSpPr>
        <p:spPr>
          <a:xfrm>
            <a:off x="3439080" y="1592280"/>
            <a:ext cx="9673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808080"/>
                </a:solidFill>
                <a:latin typeface="Arial"/>
              </a:rPr>
              <a:t>private banks</a:t>
            </a:r>
            <a:endParaRPr b="0" lang="it-IT" sz="1050" spc="-1" strike="noStrike">
              <a:latin typeface="Arial"/>
            </a:endParaRPr>
          </a:p>
        </p:txBody>
      </p:sp>
      <p:grpSp>
        <p:nvGrpSpPr>
          <p:cNvPr id="1684" name="Group 140"/>
          <p:cNvGrpSpPr/>
          <p:nvPr/>
        </p:nvGrpSpPr>
        <p:grpSpPr>
          <a:xfrm>
            <a:off x="2493360" y="5733360"/>
            <a:ext cx="1482480" cy="257040"/>
            <a:chOff x="2493360" y="5733360"/>
            <a:chExt cx="1482480" cy="257040"/>
          </a:xfrm>
        </p:grpSpPr>
        <p:sp>
          <p:nvSpPr>
            <p:cNvPr id="1685" name="Elbow Connector 141"/>
            <p:cNvSpPr/>
            <p:nvPr/>
          </p:nvSpPr>
          <p:spPr>
            <a:xfrm>
              <a:off x="2493360" y="5814720"/>
              <a:ext cx="1482480" cy="175680"/>
            </a:xfrm>
            <a:prstGeom prst="bentConnector3">
              <a:avLst>
                <a:gd name="adj1" fmla="val -101"/>
              </a:avLst>
            </a:prstGeom>
            <a:solidFill>
              <a:schemeClr val="bg1">
                <a:lumMod val="85000"/>
              </a:schemeClr>
            </a:solidFill>
            <a:ln cap="sq" w="22225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86" name="Straight Arrow Connector 142"/>
            <p:cNvSpPr/>
            <p:nvPr/>
          </p:nvSpPr>
          <p:spPr>
            <a:xfrm flipV="1">
              <a:off x="3966120" y="5733360"/>
              <a:ext cx="2880" cy="243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cap="sq" w="22225">
              <a:solidFill>
                <a:srgbClr val="000000"/>
              </a:solidFill>
              <a:round/>
              <a:tailEnd len="med" type="triangle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687" name="Left-Right Arrow 8"/>
          <p:cNvSpPr/>
          <p:nvPr/>
        </p:nvSpPr>
        <p:spPr>
          <a:xfrm rot="16200000">
            <a:off x="2877840" y="3720960"/>
            <a:ext cx="4896360" cy="42444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algn="tl"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i="1" lang="en-US" sz="1200" spc="-1" strike="noStrike">
                <a:solidFill>
                  <a:srgbClr val="808080"/>
                </a:solidFill>
                <a:latin typeface="Calibri"/>
              </a:rPr>
              <a:t>Data AXI Bus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688" name="Rectangle 100"/>
          <p:cNvSpPr/>
          <p:nvPr/>
        </p:nvSpPr>
        <p:spPr>
          <a:xfrm>
            <a:off x="6800400" y="2931840"/>
            <a:ext cx="4722120" cy="352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08080"/>
                </a:solidFill>
                <a:latin typeface="Calibri"/>
              </a:rPr>
              <a:t>TCDM Logarithmic Interconnect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689" name="Rectangle 101"/>
          <p:cNvSpPr/>
          <p:nvPr/>
        </p:nvSpPr>
        <p:spPr>
          <a:xfrm>
            <a:off x="5702040" y="2475720"/>
            <a:ext cx="851760" cy="8359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08080"/>
                </a:solidFill>
                <a:latin typeface="Calibri"/>
              </a:rPr>
              <a:t>DMA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690" name="Left-Right Arrow 12"/>
          <p:cNvSpPr/>
          <p:nvPr/>
        </p:nvSpPr>
        <p:spPr>
          <a:xfrm>
            <a:off x="5437440" y="5433840"/>
            <a:ext cx="6372720" cy="37116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algn="tl"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i="1" lang="en-US" sz="1100" spc="-1" strike="noStrike">
                <a:solidFill>
                  <a:srgbClr val="808080"/>
                </a:solidFill>
                <a:latin typeface="Calibri"/>
              </a:rPr>
              <a:t>Instruction AXI Bus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691" name="Rectangle 130"/>
          <p:cNvSpPr/>
          <p:nvPr/>
        </p:nvSpPr>
        <p:spPr>
          <a:xfrm>
            <a:off x="7085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92" name="Rectangle 146"/>
          <p:cNvSpPr/>
          <p:nvPr/>
        </p:nvSpPr>
        <p:spPr>
          <a:xfrm>
            <a:off x="8093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93" name="Rectangle 153"/>
          <p:cNvSpPr/>
          <p:nvPr/>
        </p:nvSpPr>
        <p:spPr>
          <a:xfrm>
            <a:off x="9101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94" name="Rectangle 160"/>
          <p:cNvSpPr/>
          <p:nvPr/>
        </p:nvSpPr>
        <p:spPr>
          <a:xfrm>
            <a:off x="1068624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95" name="Rectangle 18"/>
          <p:cNvSpPr/>
          <p:nvPr/>
        </p:nvSpPr>
        <p:spPr>
          <a:xfrm>
            <a:off x="7085880" y="4682160"/>
            <a:ext cx="4436280" cy="54684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Shared </a:t>
            </a:r>
            <a:endParaRPr b="0" lang="it-IT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Instruction Cache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696" name="Rectangle 49"/>
          <p:cNvSpPr/>
          <p:nvPr/>
        </p:nvSpPr>
        <p:spPr>
          <a:xfrm>
            <a:off x="7058160" y="208872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697" name="Rectangle 50"/>
          <p:cNvSpPr/>
          <p:nvPr/>
        </p:nvSpPr>
        <p:spPr>
          <a:xfrm>
            <a:off x="7562160" y="208872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698" name="Rectangle 49"/>
          <p:cNvSpPr/>
          <p:nvPr/>
        </p:nvSpPr>
        <p:spPr>
          <a:xfrm>
            <a:off x="8061480" y="209196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699" name="Rectangle 50"/>
          <p:cNvSpPr/>
          <p:nvPr/>
        </p:nvSpPr>
        <p:spPr>
          <a:xfrm>
            <a:off x="8565480" y="209196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700" name="Rectangle 49"/>
          <p:cNvSpPr/>
          <p:nvPr/>
        </p:nvSpPr>
        <p:spPr>
          <a:xfrm>
            <a:off x="9064800" y="209196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701" name="Rectangle 50"/>
          <p:cNvSpPr/>
          <p:nvPr/>
        </p:nvSpPr>
        <p:spPr>
          <a:xfrm>
            <a:off x="9568800" y="209196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702" name="Rectangle 49"/>
          <p:cNvSpPr/>
          <p:nvPr/>
        </p:nvSpPr>
        <p:spPr>
          <a:xfrm>
            <a:off x="10587240" y="209052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703" name="Rectangle 50"/>
          <p:cNvSpPr/>
          <p:nvPr/>
        </p:nvSpPr>
        <p:spPr>
          <a:xfrm>
            <a:off x="11091240" y="2090520"/>
            <a:ext cx="431640" cy="59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grpSp>
        <p:nvGrpSpPr>
          <p:cNvPr id="1704" name="Gruppo 131"/>
          <p:cNvGrpSpPr/>
          <p:nvPr/>
        </p:nvGrpSpPr>
        <p:grpSpPr>
          <a:xfrm>
            <a:off x="7922160" y="3764880"/>
            <a:ext cx="2764080" cy="479880"/>
            <a:chOff x="7922160" y="3764880"/>
            <a:chExt cx="2764080" cy="479880"/>
          </a:xfrm>
        </p:grpSpPr>
        <p:sp>
          <p:nvSpPr>
            <p:cNvPr id="1705" name="Rectangle 5"/>
            <p:cNvSpPr/>
            <p:nvPr/>
          </p:nvSpPr>
          <p:spPr>
            <a:xfrm>
              <a:off x="10099800" y="3764880"/>
              <a:ext cx="465840" cy="4798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39960" dir="2700000" dist="50402" rotWithShape="0">
                <a:srgbClr val="000000">
                  <a:alpha val="5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en-US" sz="1100" spc="-1" strike="noStrike">
                  <a:solidFill>
                    <a:srgbClr val="808080"/>
                  </a:solidFill>
                  <a:latin typeface="Calibri"/>
                </a:rPr>
                <a:t>HW Synch</a:t>
              </a:r>
              <a:endParaRPr b="0" lang="it-IT" sz="1100" spc="-1" strike="noStrike">
                <a:latin typeface="Arial"/>
              </a:endParaRPr>
            </a:p>
          </p:txBody>
        </p:sp>
        <p:sp>
          <p:nvSpPr>
            <p:cNvPr id="1706" name="Connettore 4 133"/>
            <p:cNvSpPr/>
            <p:nvPr/>
          </p:nvSpPr>
          <p:spPr>
            <a:xfrm flipV="1">
              <a:off x="7922160" y="3764520"/>
              <a:ext cx="2410560" cy="240480"/>
            </a:xfrm>
            <a:prstGeom prst="bentConnector4">
              <a:avLst>
                <a:gd name="adj1" fmla="val 4015"/>
                <a:gd name="adj2" fmla="val 228071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rgbClr val="ababab">
                  <a:lumMod val="75000"/>
                </a:srgbClr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07" name="Connettore 4 134"/>
            <p:cNvSpPr/>
            <p:nvPr/>
          </p:nvSpPr>
          <p:spPr>
            <a:xfrm flipV="1">
              <a:off x="8930160" y="3764520"/>
              <a:ext cx="1402200" cy="240480"/>
            </a:xfrm>
            <a:prstGeom prst="bentConnector4">
              <a:avLst>
                <a:gd name="adj1" fmla="val 6634"/>
                <a:gd name="adj2" fmla="val 228070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rgbClr val="ababab">
                  <a:lumMod val="75000"/>
                </a:srgbClr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08" name="Connettore 4 135"/>
            <p:cNvSpPr/>
            <p:nvPr/>
          </p:nvSpPr>
          <p:spPr>
            <a:xfrm flipV="1">
              <a:off x="9938520" y="3764880"/>
              <a:ext cx="394200" cy="240480"/>
            </a:xfrm>
            <a:prstGeom prst="bentConnector4">
              <a:avLst>
                <a:gd name="adj1" fmla="val 20454"/>
                <a:gd name="adj2" fmla="val 228070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rgbClr val="ababab">
                  <a:lumMod val="75000"/>
                </a:srgbClr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09" name="Connettore 4 136"/>
            <p:cNvSpPr/>
            <p:nvPr/>
          </p:nvSpPr>
          <p:spPr>
            <a:xfrm flipH="1" rot="16200000">
              <a:off x="10389600" y="3708720"/>
              <a:ext cx="240480" cy="352800"/>
            </a:xfrm>
            <a:prstGeom prst="bentConnector4">
              <a:avLst>
                <a:gd name="adj1" fmla="val -127144"/>
                <a:gd name="adj2" fmla="val 80569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rgbClr val="ababab">
                  <a:lumMod val="75000"/>
                </a:srgbClr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710" name="Straight Connector 156"/>
          <p:cNvSpPr/>
          <p:nvPr/>
        </p:nvSpPr>
        <p:spPr>
          <a:xfrm>
            <a:off x="488124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11" name="Straight Connector 156"/>
          <p:cNvSpPr/>
          <p:nvPr/>
        </p:nvSpPr>
        <p:spPr>
          <a:xfrm>
            <a:off x="5437440" y="2893680"/>
            <a:ext cx="26424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12" name="Straight Connector 156"/>
          <p:cNvSpPr/>
          <p:nvPr/>
        </p:nvSpPr>
        <p:spPr>
          <a:xfrm>
            <a:off x="727344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13" name="Straight Connector 156"/>
          <p:cNvSpPr/>
          <p:nvPr/>
        </p:nvSpPr>
        <p:spPr>
          <a:xfrm>
            <a:off x="777528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14" name="Straight Connector 156"/>
          <p:cNvSpPr/>
          <p:nvPr/>
        </p:nvSpPr>
        <p:spPr>
          <a:xfrm>
            <a:off x="827748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15" name="Straight Connector 156"/>
          <p:cNvSpPr/>
          <p:nvPr/>
        </p:nvSpPr>
        <p:spPr>
          <a:xfrm>
            <a:off x="877932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16" name="Straight Connector 156"/>
          <p:cNvSpPr/>
          <p:nvPr/>
        </p:nvSpPr>
        <p:spPr>
          <a:xfrm>
            <a:off x="928152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17" name="Straight Connector 156"/>
          <p:cNvSpPr/>
          <p:nvPr/>
        </p:nvSpPr>
        <p:spPr>
          <a:xfrm>
            <a:off x="978336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18" name="Straight Connector 156"/>
          <p:cNvSpPr/>
          <p:nvPr/>
        </p:nvSpPr>
        <p:spPr>
          <a:xfrm>
            <a:off x="10794600" y="267768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19" name="Straight Connector 156"/>
          <p:cNvSpPr/>
          <p:nvPr/>
        </p:nvSpPr>
        <p:spPr>
          <a:xfrm>
            <a:off x="11296440" y="267768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20" name="Straight Connector 156"/>
          <p:cNvSpPr/>
          <p:nvPr/>
        </p:nvSpPr>
        <p:spPr>
          <a:xfrm flipH="1" flipV="1">
            <a:off x="6568200" y="2716560"/>
            <a:ext cx="220680" cy="19620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21" name="Straight Connector 156"/>
          <p:cNvSpPr/>
          <p:nvPr/>
        </p:nvSpPr>
        <p:spPr>
          <a:xfrm>
            <a:off x="9313200" y="523764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22" name="Straight Connector 156"/>
          <p:cNvSpPr/>
          <p:nvPr/>
        </p:nvSpPr>
        <p:spPr>
          <a:xfrm>
            <a:off x="7500600" y="443592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23" name="Straight Connector 156"/>
          <p:cNvSpPr/>
          <p:nvPr/>
        </p:nvSpPr>
        <p:spPr>
          <a:xfrm>
            <a:off x="8507880" y="443592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24" name="Straight Connector 156"/>
          <p:cNvSpPr/>
          <p:nvPr/>
        </p:nvSpPr>
        <p:spPr>
          <a:xfrm>
            <a:off x="9514800" y="4429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25" name="Straight Connector 156"/>
          <p:cNvSpPr/>
          <p:nvPr/>
        </p:nvSpPr>
        <p:spPr>
          <a:xfrm>
            <a:off x="11108520" y="443592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26" name="Straight Connector 156"/>
          <p:cNvSpPr/>
          <p:nvPr/>
        </p:nvSpPr>
        <p:spPr>
          <a:xfrm>
            <a:off x="748260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27" name="Straight Connector 156"/>
          <p:cNvSpPr/>
          <p:nvPr/>
        </p:nvSpPr>
        <p:spPr>
          <a:xfrm>
            <a:off x="848952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28" name="Straight Connector 156"/>
          <p:cNvSpPr/>
          <p:nvPr/>
        </p:nvSpPr>
        <p:spPr>
          <a:xfrm>
            <a:off x="9496800" y="329580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29" name="Straight Connector 156"/>
          <p:cNvSpPr/>
          <p:nvPr/>
        </p:nvSpPr>
        <p:spPr>
          <a:xfrm>
            <a:off x="1109016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grpSp>
        <p:nvGrpSpPr>
          <p:cNvPr id="1730" name="Group 144"/>
          <p:cNvGrpSpPr/>
          <p:nvPr/>
        </p:nvGrpSpPr>
        <p:grpSpPr>
          <a:xfrm>
            <a:off x="4062960" y="3022200"/>
            <a:ext cx="1755360" cy="478440"/>
            <a:chOff x="4062960" y="3022200"/>
            <a:chExt cx="1755360" cy="478440"/>
          </a:xfrm>
        </p:grpSpPr>
        <p:sp>
          <p:nvSpPr>
            <p:cNvPr id="1731" name="Freeform: Shape 18"/>
            <p:cNvSpPr/>
            <p:nvPr/>
          </p:nvSpPr>
          <p:spPr>
            <a:xfrm>
              <a:off x="4062960" y="3027960"/>
              <a:ext cx="216000" cy="472680"/>
            </a:xfrm>
            <a:custGeom>
              <a:avLst/>
              <a:gdLst/>
              <a:ahLst/>
              <a:rect l="l" t="t" r="r" b="b"/>
              <a:pathLst>
                <a:path w="175036" h="590550">
                  <a:moveTo>
                    <a:pt x="0" y="0"/>
                  </a:moveTo>
                  <a:cubicBezTo>
                    <a:pt x="59531" y="38100"/>
                    <a:pt x="119063" y="76200"/>
                    <a:pt x="123825" y="95250"/>
                  </a:cubicBezTo>
                  <a:cubicBezTo>
                    <a:pt x="128587" y="114300"/>
                    <a:pt x="25400" y="95250"/>
                    <a:pt x="28575" y="114300"/>
                  </a:cubicBezTo>
                  <a:cubicBezTo>
                    <a:pt x="31750" y="133350"/>
                    <a:pt x="139700" y="184150"/>
                    <a:pt x="142875" y="209550"/>
                  </a:cubicBezTo>
                  <a:cubicBezTo>
                    <a:pt x="146050" y="234950"/>
                    <a:pt x="46038" y="246063"/>
                    <a:pt x="47625" y="266700"/>
                  </a:cubicBezTo>
                  <a:cubicBezTo>
                    <a:pt x="49212" y="287337"/>
                    <a:pt x="153988" y="307975"/>
                    <a:pt x="152400" y="333375"/>
                  </a:cubicBezTo>
                  <a:cubicBezTo>
                    <a:pt x="150813" y="358775"/>
                    <a:pt x="34925" y="398463"/>
                    <a:pt x="38100" y="419100"/>
                  </a:cubicBezTo>
                  <a:cubicBezTo>
                    <a:pt x="41275" y="439738"/>
                    <a:pt x="157163" y="428625"/>
                    <a:pt x="171450" y="457200"/>
                  </a:cubicBezTo>
                  <a:cubicBezTo>
                    <a:pt x="185737" y="485775"/>
                    <a:pt x="154781" y="538162"/>
                    <a:pt x="123825" y="590550"/>
                  </a:cubicBezTo>
                </a:path>
              </a:pathLst>
            </a:custGeom>
            <a:noFill/>
            <a:ln>
              <a:solidFill>
                <a:srgbClr val="ababab"/>
              </a:solidFill>
              <a:tailEnd len="med" type="triangle" w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32" name="TextBox 148"/>
            <p:cNvSpPr/>
            <p:nvPr/>
          </p:nvSpPr>
          <p:spPr>
            <a:xfrm>
              <a:off x="4529160" y="3022200"/>
              <a:ext cx="1289160" cy="47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i="1" lang="it-IT" sz="1270" spc="-1" strike="noStrike">
                  <a:solidFill>
                    <a:srgbClr val="c00000"/>
                  </a:solidFill>
                  <a:latin typeface="Calibri"/>
                </a:rPr>
                <a:t>Fabric Controller</a:t>
              </a:r>
              <a:endParaRPr b="0" lang="it-IT" sz="127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1" i="1" lang="it-IT" sz="1270" spc="-1" strike="noStrike">
                  <a:solidFill>
                    <a:srgbClr val="c00000"/>
                  </a:solidFill>
                  <a:latin typeface="Calibri"/>
                </a:rPr>
                <a:t>Thread</a:t>
              </a:r>
              <a:endParaRPr b="0" lang="it-IT" sz="1270" spc="-1" strike="noStrike">
                <a:latin typeface="Arial"/>
              </a:endParaRPr>
            </a:p>
          </p:txBody>
        </p:sp>
      </p:grpSp>
      <p:sp>
        <p:nvSpPr>
          <p:cNvPr id="1733" name="Rectangle 149"/>
          <p:cNvSpPr/>
          <p:nvPr/>
        </p:nvSpPr>
        <p:spPr>
          <a:xfrm>
            <a:off x="5886720" y="887040"/>
            <a:ext cx="5635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All code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is in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 L2 memory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(cached for cluster threads)</a:t>
            </a:r>
            <a:endParaRPr b="0" lang="it-IT" sz="1800" spc="-1" strike="noStrike">
              <a:latin typeface="Arial"/>
            </a:endParaRPr>
          </a:p>
        </p:txBody>
      </p:sp>
      <p:grpSp>
        <p:nvGrpSpPr>
          <p:cNvPr id="1734" name="Group 145"/>
          <p:cNvGrpSpPr/>
          <p:nvPr/>
        </p:nvGrpSpPr>
        <p:grpSpPr>
          <a:xfrm>
            <a:off x="6394680" y="3753360"/>
            <a:ext cx="1203480" cy="512640"/>
            <a:chOff x="6394680" y="3753360"/>
            <a:chExt cx="1203480" cy="512640"/>
          </a:xfrm>
        </p:grpSpPr>
        <p:sp>
          <p:nvSpPr>
            <p:cNvPr id="1735" name="Freeform: Shape 18"/>
            <p:cNvSpPr/>
            <p:nvPr/>
          </p:nvSpPr>
          <p:spPr>
            <a:xfrm>
              <a:off x="7382160" y="3793320"/>
              <a:ext cx="216000" cy="472680"/>
            </a:xfrm>
            <a:custGeom>
              <a:avLst/>
              <a:gdLst/>
              <a:ahLst/>
              <a:rect l="l" t="t" r="r" b="b"/>
              <a:pathLst>
                <a:path w="175036" h="590550">
                  <a:moveTo>
                    <a:pt x="0" y="0"/>
                  </a:moveTo>
                  <a:cubicBezTo>
                    <a:pt x="59531" y="38100"/>
                    <a:pt x="119063" y="76200"/>
                    <a:pt x="123825" y="95250"/>
                  </a:cubicBezTo>
                  <a:cubicBezTo>
                    <a:pt x="128587" y="114300"/>
                    <a:pt x="25400" y="95250"/>
                    <a:pt x="28575" y="114300"/>
                  </a:cubicBezTo>
                  <a:cubicBezTo>
                    <a:pt x="31750" y="133350"/>
                    <a:pt x="139700" y="184150"/>
                    <a:pt x="142875" y="209550"/>
                  </a:cubicBezTo>
                  <a:cubicBezTo>
                    <a:pt x="146050" y="234950"/>
                    <a:pt x="46038" y="246063"/>
                    <a:pt x="47625" y="266700"/>
                  </a:cubicBezTo>
                  <a:cubicBezTo>
                    <a:pt x="49212" y="287337"/>
                    <a:pt x="153988" y="307975"/>
                    <a:pt x="152400" y="333375"/>
                  </a:cubicBezTo>
                  <a:cubicBezTo>
                    <a:pt x="150813" y="358775"/>
                    <a:pt x="34925" y="398463"/>
                    <a:pt x="38100" y="419100"/>
                  </a:cubicBezTo>
                  <a:cubicBezTo>
                    <a:pt x="41275" y="439738"/>
                    <a:pt x="157163" y="428625"/>
                    <a:pt x="171450" y="457200"/>
                  </a:cubicBezTo>
                  <a:cubicBezTo>
                    <a:pt x="185737" y="485775"/>
                    <a:pt x="154781" y="538162"/>
                    <a:pt x="123825" y="590550"/>
                  </a:cubicBezTo>
                </a:path>
              </a:pathLst>
            </a:custGeom>
            <a:noFill/>
            <a:ln>
              <a:solidFill>
                <a:srgbClr val="ababab"/>
              </a:solidFill>
              <a:tailEnd len="med" type="triangle" w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36" name="TextBox 151"/>
            <p:cNvSpPr/>
            <p:nvPr/>
          </p:nvSpPr>
          <p:spPr>
            <a:xfrm>
              <a:off x="6394680" y="3753360"/>
              <a:ext cx="651960" cy="47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i="1" lang="it-IT" sz="1270" spc="-1" strike="noStrike">
                  <a:solidFill>
                    <a:srgbClr val="c00000"/>
                  </a:solidFill>
                  <a:latin typeface="Calibri"/>
                </a:rPr>
                <a:t>Core 0</a:t>
              </a:r>
              <a:endParaRPr b="0" lang="it-IT" sz="127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1" i="1" lang="it-IT" sz="1270" spc="-1" strike="noStrike">
                  <a:solidFill>
                    <a:srgbClr val="c00000"/>
                  </a:solidFill>
                  <a:latin typeface="Calibri"/>
                </a:rPr>
                <a:t>Thread</a:t>
              </a:r>
              <a:endParaRPr b="0" lang="it-IT" sz="1270" spc="-1" strike="noStrike">
                <a:latin typeface="Arial"/>
              </a:endParaRPr>
            </a:p>
          </p:txBody>
        </p:sp>
      </p:grpSp>
      <p:sp>
        <p:nvSpPr>
          <p:cNvPr id="1737" name="Freeform: Shape 18"/>
          <p:cNvSpPr/>
          <p:nvPr/>
        </p:nvSpPr>
        <p:spPr>
          <a:xfrm>
            <a:off x="8399880" y="3779640"/>
            <a:ext cx="216000" cy="472680"/>
          </a:xfrm>
          <a:custGeom>
            <a:avLst/>
            <a:gdLst/>
            <a:ahLst/>
            <a:rect l="l" t="t" r="r" b="b"/>
            <a:pathLst>
              <a:path w="175036" h="590550">
                <a:moveTo>
                  <a:pt x="0" y="0"/>
                </a:moveTo>
                <a:cubicBezTo>
                  <a:pt x="59531" y="38100"/>
                  <a:pt x="119063" y="76200"/>
                  <a:pt x="123825" y="95250"/>
                </a:cubicBezTo>
                <a:cubicBezTo>
                  <a:pt x="128587" y="114300"/>
                  <a:pt x="25400" y="95250"/>
                  <a:pt x="28575" y="114300"/>
                </a:cubicBezTo>
                <a:cubicBezTo>
                  <a:pt x="31750" y="133350"/>
                  <a:pt x="139700" y="184150"/>
                  <a:pt x="142875" y="209550"/>
                </a:cubicBezTo>
                <a:cubicBezTo>
                  <a:pt x="146050" y="234950"/>
                  <a:pt x="46038" y="246063"/>
                  <a:pt x="47625" y="266700"/>
                </a:cubicBezTo>
                <a:cubicBezTo>
                  <a:pt x="49212" y="287337"/>
                  <a:pt x="153988" y="307975"/>
                  <a:pt x="152400" y="333375"/>
                </a:cubicBezTo>
                <a:cubicBezTo>
                  <a:pt x="150813" y="358775"/>
                  <a:pt x="34925" y="398463"/>
                  <a:pt x="38100" y="419100"/>
                </a:cubicBezTo>
                <a:cubicBezTo>
                  <a:pt x="41275" y="439738"/>
                  <a:pt x="157163" y="428625"/>
                  <a:pt x="171450" y="457200"/>
                </a:cubicBezTo>
                <a:cubicBezTo>
                  <a:pt x="185737" y="485775"/>
                  <a:pt x="154781" y="538162"/>
                  <a:pt x="123825" y="590550"/>
                </a:cubicBezTo>
              </a:path>
            </a:pathLst>
          </a:custGeom>
          <a:noFill/>
          <a:ln>
            <a:solidFill>
              <a:srgbClr val="ababab"/>
            </a:solidFill>
            <a:tailEnd len="med" type="triangle" w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38" name="Freeform: Shape 18"/>
          <p:cNvSpPr/>
          <p:nvPr/>
        </p:nvSpPr>
        <p:spPr>
          <a:xfrm>
            <a:off x="9413280" y="3764880"/>
            <a:ext cx="216000" cy="472680"/>
          </a:xfrm>
          <a:custGeom>
            <a:avLst/>
            <a:gdLst/>
            <a:ahLst/>
            <a:rect l="l" t="t" r="r" b="b"/>
            <a:pathLst>
              <a:path w="175036" h="590550">
                <a:moveTo>
                  <a:pt x="0" y="0"/>
                </a:moveTo>
                <a:cubicBezTo>
                  <a:pt x="59531" y="38100"/>
                  <a:pt x="119063" y="76200"/>
                  <a:pt x="123825" y="95250"/>
                </a:cubicBezTo>
                <a:cubicBezTo>
                  <a:pt x="128587" y="114300"/>
                  <a:pt x="25400" y="95250"/>
                  <a:pt x="28575" y="114300"/>
                </a:cubicBezTo>
                <a:cubicBezTo>
                  <a:pt x="31750" y="133350"/>
                  <a:pt x="139700" y="184150"/>
                  <a:pt x="142875" y="209550"/>
                </a:cubicBezTo>
                <a:cubicBezTo>
                  <a:pt x="146050" y="234950"/>
                  <a:pt x="46038" y="246063"/>
                  <a:pt x="47625" y="266700"/>
                </a:cubicBezTo>
                <a:cubicBezTo>
                  <a:pt x="49212" y="287337"/>
                  <a:pt x="153988" y="307975"/>
                  <a:pt x="152400" y="333375"/>
                </a:cubicBezTo>
                <a:cubicBezTo>
                  <a:pt x="150813" y="358775"/>
                  <a:pt x="34925" y="398463"/>
                  <a:pt x="38100" y="419100"/>
                </a:cubicBezTo>
                <a:cubicBezTo>
                  <a:pt x="41275" y="439738"/>
                  <a:pt x="157163" y="428625"/>
                  <a:pt x="171450" y="457200"/>
                </a:cubicBezTo>
                <a:cubicBezTo>
                  <a:pt x="185737" y="485775"/>
                  <a:pt x="154781" y="538162"/>
                  <a:pt x="123825" y="590550"/>
                </a:cubicBezTo>
              </a:path>
            </a:pathLst>
          </a:custGeom>
          <a:noFill/>
          <a:ln>
            <a:solidFill>
              <a:srgbClr val="ababab"/>
            </a:solidFill>
            <a:tailEnd len="med" type="triangle" w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39" name="Freeform: Shape 18"/>
          <p:cNvSpPr/>
          <p:nvPr/>
        </p:nvSpPr>
        <p:spPr>
          <a:xfrm>
            <a:off x="10996200" y="3779640"/>
            <a:ext cx="216000" cy="472680"/>
          </a:xfrm>
          <a:custGeom>
            <a:avLst/>
            <a:gdLst/>
            <a:ahLst/>
            <a:rect l="l" t="t" r="r" b="b"/>
            <a:pathLst>
              <a:path w="175036" h="590550">
                <a:moveTo>
                  <a:pt x="0" y="0"/>
                </a:moveTo>
                <a:cubicBezTo>
                  <a:pt x="59531" y="38100"/>
                  <a:pt x="119063" y="76200"/>
                  <a:pt x="123825" y="95250"/>
                </a:cubicBezTo>
                <a:cubicBezTo>
                  <a:pt x="128587" y="114300"/>
                  <a:pt x="25400" y="95250"/>
                  <a:pt x="28575" y="114300"/>
                </a:cubicBezTo>
                <a:cubicBezTo>
                  <a:pt x="31750" y="133350"/>
                  <a:pt x="139700" y="184150"/>
                  <a:pt x="142875" y="209550"/>
                </a:cubicBezTo>
                <a:cubicBezTo>
                  <a:pt x="146050" y="234950"/>
                  <a:pt x="46038" y="246063"/>
                  <a:pt x="47625" y="266700"/>
                </a:cubicBezTo>
                <a:cubicBezTo>
                  <a:pt x="49212" y="287337"/>
                  <a:pt x="153988" y="307975"/>
                  <a:pt x="152400" y="333375"/>
                </a:cubicBezTo>
                <a:cubicBezTo>
                  <a:pt x="150813" y="358775"/>
                  <a:pt x="34925" y="398463"/>
                  <a:pt x="38100" y="419100"/>
                </a:cubicBezTo>
                <a:cubicBezTo>
                  <a:pt x="41275" y="439738"/>
                  <a:pt x="157163" y="428625"/>
                  <a:pt x="171450" y="457200"/>
                </a:cubicBezTo>
                <a:cubicBezTo>
                  <a:pt x="185737" y="485775"/>
                  <a:pt x="154781" y="538162"/>
                  <a:pt x="123825" y="590550"/>
                </a:cubicBezTo>
              </a:path>
            </a:pathLst>
          </a:custGeom>
          <a:noFill/>
          <a:ln>
            <a:solidFill>
              <a:srgbClr val="ababab"/>
            </a:solidFill>
            <a:tailEnd len="med" type="triangle" w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800" spc="-106" strike="noStrike">
                <a:solidFill>
                  <a:srgbClr val="c00000"/>
                </a:solidFill>
                <a:latin typeface="Calibri"/>
                <a:ea typeface="Roboto"/>
              </a:rPr>
              <a:t>PULP Execution Model</a:t>
            </a:r>
            <a:endParaRPr b="0" lang="it-IT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41" name="PlaceHolder 2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E0A0DB84-173D-4270-BE54-51628B766299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  <p:sp>
        <p:nvSpPr>
          <p:cNvPr id="1742" name="Rectangle 125"/>
          <p:cNvSpPr/>
          <p:nvPr/>
        </p:nvSpPr>
        <p:spPr>
          <a:xfrm>
            <a:off x="2906640" y="4742280"/>
            <a:ext cx="170460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743" name="Rectangle 126"/>
          <p:cNvSpPr/>
          <p:nvPr/>
        </p:nvSpPr>
        <p:spPr>
          <a:xfrm rot="16200000">
            <a:off x="2827440" y="528624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CLK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744" name="Rectangle 128"/>
          <p:cNvSpPr/>
          <p:nvPr/>
        </p:nvSpPr>
        <p:spPr>
          <a:xfrm rot="16200000">
            <a:off x="3267000" y="528480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TIMER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745" name="Rectangle 130"/>
          <p:cNvSpPr/>
          <p:nvPr/>
        </p:nvSpPr>
        <p:spPr>
          <a:xfrm rot="16200000">
            <a:off x="4131360" y="414828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746" name="Straight Connector 133"/>
          <p:cNvSpPr/>
          <p:nvPr/>
        </p:nvSpPr>
        <p:spPr>
          <a:xfrm flipV="1">
            <a:off x="309168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47" name="Straight Connector 134"/>
          <p:cNvSpPr/>
          <p:nvPr/>
        </p:nvSpPr>
        <p:spPr>
          <a:xfrm flipV="1">
            <a:off x="3531240" y="507096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48" name="Rectangle 68"/>
          <p:cNvSpPr/>
          <p:nvPr/>
        </p:nvSpPr>
        <p:spPr>
          <a:xfrm>
            <a:off x="1461600" y="388368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SPI 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749" name="Rectangle 69"/>
          <p:cNvSpPr/>
          <p:nvPr/>
        </p:nvSpPr>
        <p:spPr>
          <a:xfrm>
            <a:off x="1461600" y="428004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CAMIF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750" name="Straight Connector 70"/>
          <p:cNvSpPr/>
          <p:nvPr/>
        </p:nvSpPr>
        <p:spPr>
          <a:xfrm>
            <a:off x="2046960" y="404856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51" name="Straight Connector 71"/>
          <p:cNvSpPr/>
          <p:nvPr/>
        </p:nvSpPr>
        <p:spPr>
          <a:xfrm>
            <a:off x="2046960" y="44449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52" name="Rectangle 72"/>
          <p:cNvSpPr/>
          <p:nvPr/>
        </p:nvSpPr>
        <p:spPr>
          <a:xfrm>
            <a:off x="1461600" y="467640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I2C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753" name="Rectangle 73"/>
          <p:cNvSpPr/>
          <p:nvPr/>
        </p:nvSpPr>
        <p:spPr>
          <a:xfrm>
            <a:off x="1461600" y="507276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UART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754" name="Straight Connector 74"/>
          <p:cNvSpPr/>
          <p:nvPr/>
        </p:nvSpPr>
        <p:spPr>
          <a:xfrm>
            <a:off x="2046960" y="48412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55" name="Straight Connector 75"/>
          <p:cNvSpPr/>
          <p:nvPr/>
        </p:nvSpPr>
        <p:spPr>
          <a:xfrm>
            <a:off x="2046960" y="523764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56" name="Rectangle 152"/>
          <p:cNvSpPr/>
          <p:nvPr/>
        </p:nvSpPr>
        <p:spPr>
          <a:xfrm rot="16200000">
            <a:off x="1329120" y="4485600"/>
            <a:ext cx="227376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µDMA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757" name="Rectangle 154"/>
          <p:cNvSpPr/>
          <p:nvPr/>
        </p:nvSpPr>
        <p:spPr>
          <a:xfrm>
            <a:off x="1462680" y="250092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DEBUG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758" name="Straight Connector 155"/>
          <p:cNvSpPr/>
          <p:nvPr/>
        </p:nvSpPr>
        <p:spPr>
          <a:xfrm>
            <a:off x="2048040" y="266580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59" name="Straight Connector 156"/>
          <p:cNvSpPr/>
          <p:nvPr/>
        </p:nvSpPr>
        <p:spPr>
          <a:xfrm>
            <a:off x="115956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60" name="Rectangle 66"/>
          <p:cNvSpPr/>
          <p:nvPr/>
        </p:nvSpPr>
        <p:spPr>
          <a:xfrm>
            <a:off x="4439880" y="1786320"/>
            <a:ext cx="54792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ROM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761" name="Rectangle 119"/>
          <p:cNvSpPr/>
          <p:nvPr/>
        </p:nvSpPr>
        <p:spPr>
          <a:xfrm>
            <a:off x="2289240" y="2504160"/>
            <a:ext cx="259164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Logarithmic Interconnect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762" name="Straight Connector 120"/>
          <p:cNvSpPr/>
          <p:nvPr/>
        </p:nvSpPr>
        <p:spPr>
          <a:xfrm flipV="1">
            <a:off x="2463480" y="23418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63" name="Straight Connector 122"/>
          <p:cNvSpPr/>
          <p:nvPr/>
        </p:nvSpPr>
        <p:spPr>
          <a:xfrm flipV="1">
            <a:off x="352008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64" name="Straight Connector 123"/>
          <p:cNvSpPr/>
          <p:nvPr/>
        </p:nvSpPr>
        <p:spPr>
          <a:xfrm flipV="1">
            <a:off x="4665240" y="2336040"/>
            <a:ext cx="360" cy="1677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65" name="Straight Connector 157"/>
          <p:cNvSpPr/>
          <p:nvPr/>
        </p:nvSpPr>
        <p:spPr>
          <a:xfrm flipV="1">
            <a:off x="246348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66" name="Rectangle 131"/>
          <p:cNvSpPr/>
          <p:nvPr/>
        </p:nvSpPr>
        <p:spPr>
          <a:xfrm>
            <a:off x="3813120" y="3002760"/>
            <a:ext cx="722160" cy="528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67" name="Straight Connector 138"/>
          <p:cNvSpPr/>
          <p:nvPr/>
        </p:nvSpPr>
        <p:spPr>
          <a:xfrm flipV="1">
            <a:off x="398736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68" name="Straight Connector 139"/>
          <p:cNvSpPr/>
          <p:nvPr/>
        </p:nvSpPr>
        <p:spPr>
          <a:xfrm flipV="1">
            <a:off x="4389120" y="283140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69" name="Straight Connector 159"/>
          <p:cNvSpPr/>
          <p:nvPr/>
        </p:nvSpPr>
        <p:spPr>
          <a:xfrm flipV="1">
            <a:off x="2778480" y="2828520"/>
            <a:ext cx="360" cy="12009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70" name="Straight Connector 160"/>
          <p:cNvSpPr/>
          <p:nvPr/>
        </p:nvSpPr>
        <p:spPr>
          <a:xfrm flipV="1">
            <a:off x="2639160" y="4038480"/>
            <a:ext cx="139320" cy="2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71" name="Rectangle 141"/>
          <p:cNvSpPr/>
          <p:nvPr/>
        </p:nvSpPr>
        <p:spPr>
          <a:xfrm>
            <a:off x="2285640" y="2997000"/>
            <a:ext cx="365760" cy="401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 vert="vert270" rot="16200000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APB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772" name="Rectangle 147"/>
          <p:cNvSpPr/>
          <p:nvPr/>
        </p:nvSpPr>
        <p:spPr>
          <a:xfrm>
            <a:off x="1463400" y="299700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GPIO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773" name="Straight Connector 149"/>
          <p:cNvSpPr/>
          <p:nvPr/>
        </p:nvSpPr>
        <p:spPr>
          <a:xfrm flipV="1">
            <a:off x="2048760" y="3140640"/>
            <a:ext cx="234360" cy="7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74" name="Straight Connector 161"/>
          <p:cNvSpPr/>
          <p:nvPr/>
        </p:nvSpPr>
        <p:spPr>
          <a:xfrm flipV="1">
            <a:off x="2463480" y="340488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75" name="Rectangle 68"/>
          <p:cNvSpPr/>
          <p:nvPr/>
        </p:nvSpPr>
        <p:spPr>
          <a:xfrm>
            <a:off x="1469160" y="342900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I2S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776" name="Straight Connector 70"/>
          <p:cNvSpPr/>
          <p:nvPr/>
        </p:nvSpPr>
        <p:spPr>
          <a:xfrm>
            <a:off x="2054520" y="359388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77" name="Rectangle 73"/>
          <p:cNvSpPr/>
          <p:nvPr/>
        </p:nvSpPr>
        <p:spPr>
          <a:xfrm>
            <a:off x="1469160" y="5474880"/>
            <a:ext cx="585360" cy="32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SDIO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778" name="Straight Connector 75"/>
          <p:cNvSpPr/>
          <p:nvPr/>
        </p:nvSpPr>
        <p:spPr>
          <a:xfrm>
            <a:off x="2054520" y="5640120"/>
            <a:ext cx="21960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79" name="Elbow Connector 3"/>
          <p:cNvSpPr/>
          <p:nvPr/>
        </p:nvSpPr>
        <p:spPr>
          <a:xfrm>
            <a:off x="2651760" y="3197880"/>
            <a:ext cx="254160" cy="1709280"/>
          </a:xfrm>
          <a:prstGeom prst="bentConnector3">
            <a:avLst>
              <a:gd name="adj1" fmla="val 24952"/>
            </a:avLst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780" name="Rectangle 128"/>
          <p:cNvSpPr/>
          <p:nvPr/>
        </p:nvSpPr>
        <p:spPr>
          <a:xfrm rot="16200000">
            <a:off x="3705120" y="528624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EVENT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781" name="Straight Connector 134"/>
          <p:cNvSpPr/>
          <p:nvPr/>
        </p:nvSpPr>
        <p:spPr>
          <a:xfrm flipV="1">
            <a:off x="3969360" y="50724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82" name="Rectangle 128"/>
          <p:cNvSpPr/>
          <p:nvPr/>
        </p:nvSpPr>
        <p:spPr>
          <a:xfrm rot="16200000">
            <a:off x="4131360" y="529848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SoC CTRL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783" name="Straight Connector 134"/>
          <p:cNvSpPr/>
          <p:nvPr/>
        </p:nvSpPr>
        <p:spPr>
          <a:xfrm flipV="1">
            <a:off x="4395240" y="5085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84" name="Straight Connector 134"/>
          <p:cNvSpPr/>
          <p:nvPr/>
        </p:nvSpPr>
        <p:spPr>
          <a:xfrm flipV="1">
            <a:off x="4419000" y="458100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85" name="Rectangle 130"/>
          <p:cNvSpPr/>
          <p:nvPr/>
        </p:nvSpPr>
        <p:spPr>
          <a:xfrm rot="16200000">
            <a:off x="3699000" y="4158360"/>
            <a:ext cx="52812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INTC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786" name="Straight Connector 134"/>
          <p:cNvSpPr/>
          <p:nvPr/>
        </p:nvSpPr>
        <p:spPr>
          <a:xfrm flipV="1">
            <a:off x="3987000" y="4591080"/>
            <a:ext cx="360" cy="132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87" name="Straight Connector 134"/>
          <p:cNvSpPr/>
          <p:nvPr/>
        </p:nvSpPr>
        <p:spPr>
          <a:xfrm flipH="1" flipV="1">
            <a:off x="3263400" y="3524040"/>
            <a:ext cx="9360" cy="11991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88" name="Straight Connector 79"/>
          <p:cNvSpPr/>
          <p:nvPr/>
        </p:nvSpPr>
        <p:spPr>
          <a:xfrm flipV="1">
            <a:off x="3963240" y="3557520"/>
            <a:ext cx="360" cy="51948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89" name="Straight Connector 81"/>
          <p:cNvSpPr/>
          <p:nvPr/>
        </p:nvSpPr>
        <p:spPr>
          <a:xfrm flipV="1">
            <a:off x="4395240" y="3543480"/>
            <a:ext cx="0" cy="536400"/>
          </a:xfrm>
          <a:prstGeom prst="line">
            <a:avLst/>
          </a:prstGeom>
          <a:ln cap="sq"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90" name="Rectangle 131"/>
          <p:cNvSpPr/>
          <p:nvPr/>
        </p:nvSpPr>
        <p:spPr>
          <a:xfrm>
            <a:off x="2902320" y="2995920"/>
            <a:ext cx="7221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rIns="27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ACCEL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791" name="Straight Connector 138"/>
          <p:cNvSpPr/>
          <p:nvPr/>
        </p:nvSpPr>
        <p:spPr>
          <a:xfrm flipV="1">
            <a:off x="307656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92" name="Straight Connector 139"/>
          <p:cNvSpPr/>
          <p:nvPr/>
        </p:nvSpPr>
        <p:spPr>
          <a:xfrm flipV="1">
            <a:off x="3210120" y="282456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93" name="Straight Connector 138"/>
          <p:cNvSpPr/>
          <p:nvPr/>
        </p:nvSpPr>
        <p:spPr>
          <a:xfrm flipV="1">
            <a:off x="335412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94" name="Straight Connector 139"/>
          <p:cNvSpPr/>
          <p:nvPr/>
        </p:nvSpPr>
        <p:spPr>
          <a:xfrm flipV="1">
            <a:off x="3488040" y="282852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95" name="Straight Connector 156"/>
          <p:cNvSpPr/>
          <p:nvPr/>
        </p:nvSpPr>
        <p:spPr>
          <a:xfrm>
            <a:off x="115524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96" name="Straight Connector 156"/>
          <p:cNvSpPr/>
          <p:nvPr/>
        </p:nvSpPr>
        <p:spPr>
          <a:xfrm>
            <a:off x="115524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97" name="Straight Connector 156"/>
          <p:cNvSpPr/>
          <p:nvPr/>
        </p:nvSpPr>
        <p:spPr>
          <a:xfrm>
            <a:off x="115524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98" name="Straight Connector 156"/>
          <p:cNvSpPr/>
          <p:nvPr/>
        </p:nvSpPr>
        <p:spPr>
          <a:xfrm>
            <a:off x="115524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99" name="Straight Connector 156"/>
          <p:cNvSpPr/>
          <p:nvPr/>
        </p:nvSpPr>
        <p:spPr>
          <a:xfrm>
            <a:off x="115920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00" name="Straight Connector 156"/>
          <p:cNvSpPr/>
          <p:nvPr/>
        </p:nvSpPr>
        <p:spPr>
          <a:xfrm>
            <a:off x="115920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01" name="Straight Connector 156"/>
          <p:cNvSpPr/>
          <p:nvPr/>
        </p:nvSpPr>
        <p:spPr>
          <a:xfrm>
            <a:off x="115524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02" name="Trapezoid 112"/>
          <p:cNvSpPr/>
          <p:nvPr/>
        </p:nvSpPr>
        <p:spPr>
          <a:xfrm rot="16200000">
            <a:off x="-795960" y="4004280"/>
            <a:ext cx="3615840" cy="273960"/>
          </a:xfrm>
          <a:prstGeom prst="trapezoid">
            <a:avLst>
              <a:gd name="adj" fmla="val 25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Pad Control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803" name="Straight Connector 156"/>
          <p:cNvSpPr/>
          <p:nvPr/>
        </p:nvSpPr>
        <p:spPr>
          <a:xfrm>
            <a:off x="56520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04" name="Straight Connector 156"/>
          <p:cNvSpPr/>
          <p:nvPr/>
        </p:nvSpPr>
        <p:spPr>
          <a:xfrm>
            <a:off x="560880" y="3161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05" name="Straight Connector 156"/>
          <p:cNvSpPr/>
          <p:nvPr/>
        </p:nvSpPr>
        <p:spPr>
          <a:xfrm>
            <a:off x="560880" y="35938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06" name="Straight Connector 156"/>
          <p:cNvSpPr/>
          <p:nvPr/>
        </p:nvSpPr>
        <p:spPr>
          <a:xfrm>
            <a:off x="560880" y="404856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07" name="Straight Connector 156"/>
          <p:cNvSpPr/>
          <p:nvPr/>
        </p:nvSpPr>
        <p:spPr>
          <a:xfrm>
            <a:off x="560880" y="44449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08" name="Straight Connector 156"/>
          <p:cNvSpPr/>
          <p:nvPr/>
        </p:nvSpPr>
        <p:spPr>
          <a:xfrm>
            <a:off x="564480" y="484128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09" name="Straight Connector 156"/>
          <p:cNvSpPr/>
          <p:nvPr/>
        </p:nvSpPr>
        <p:spPr>
          <a:xfrm>
            <a:off x="564480" y="523764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10" name="Straight Connector 156"/>
          <p:cNvSpPr/>
          <p:nvPr/>
        </p:nvSpPr>
        <p:spPr>
          <a:xfrm>
            <a:off x="560880" y="564012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11" name="Elbow Connector 122"/>
          <p:cNvSpPr/>
          <p:nvPr/>
        </p:nvSpPr>
        <p:spPr>
          <a:xfrm rot="5400000">
            <a:off x="2619360" y="4138200"/>
            <a:ext cx="168840" cy="3383280"/>
          </a:xfrm>
          <a:prstGeom prst="bentConnector3">
            <a:avLst>
              <a:gd name="adj1" fmla="val 200174"/>
            </a:avLst>
          </a:prstGeom>
          <a:noFill/>
          <a:ln cap="sq" w="22225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12" name="Straight Connector 120"/>
          <p:cNvSpPr/>
          <p:nvPr/>
        </p:nvSpPr>
        <p:spPr>
          <a:xfrm flipV="1">
            <a:off x="2593440" y="2229120"/>
            <a:ext cx="360" cy="2635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13" name="Straight Connector 120"/>
          <p:cNvSpPr/>
          <p:nvPr/>
        </p:nvSpPr>
        <p:spPr>
          <a:xfrm flipV="1">
            <a:off x="2737800" y="1981080"/>
            <a:ext cx="360" cy="5295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14" name="Straight Connector 120"/>
          <p:cNvSpPr/>
          <p:nvPr/>
        </p:nvSpPr>
        <p:spPr>
          <a:xfrm flipV="1">
            <a:off x="2877120" y="1783800"/>
            <a:ext cx="0" cy="726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15" name="Rectangle 118"/>
          <p:cNvSpPr/>
          <p:nvPr/>
        </p:nvSpPr>
        <p:spPr>
          <a:xfrm>
            <a:off x="2593440" y="1522080"/>
            <a:ext cx="5853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816" name="Rectangle 118"/>
          <p:cNvSpPr/>
          <p:nvPr/>
        </p:nvSpPr>
        <p:spPr>
          <a:xfrm>
            <a:off x="2445120" y="1604520"/>
            <a:ext cx="5853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817" name="Rectangle 118"/>
          <p:cNvSpPr/>
          <p:nvPr/>
        </p:nvSpPr>
        <p:spPr>
          <a:xfrm>
            <a:off x="2291760" y="1700640"/>
            <a:ext cx="5853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818" name="Rectangle 124"/>
          <p:cNvSpPr/>
          <p:nvPr/>
        </p:nvSpPr>
        <p:spPr>
          <a:xfrm>
            <a:off x="2163600" y="1804680"/>
            <a:ext cx="585360" cy="528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808080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819" name="TextBox 135"/>
          <p:cNvSpPr/>
          <p:nvPr/>
        </p:nvSpPr>
        <p:spPr>
          <a:xfrm rot="19092600">
            <a:off x="1611000" y="1535760"/>
            <a:ext cx="12236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808080"/>
                </a:solidFill>
                <a:latin typeface="Arial"/>
              </a:rPr>
              <a:t>Interleaved banks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820" name="Rectangle 124"/>
          <p:cNvSpPr/>
          <p:nvPr/>
        </p:nvSpPr>
        <p:spPr>
          <a:xfrm>
            <a:off x="3220920" y="1786320"/>
            <a:ext cx="585360" cy="52812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ababab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ababab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821" name="Rectangle 124"/>
          <p:cNvSpPr/>
          <p:nvPr/>
        </p:nvSpPr>
        <p:spPr>
          <a:xfrm>
            <a:off x="3821040" y="1791000"/>
            <a:ext cx="585360" cy="52812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ababab"/>
                </a:solidFill>
                <a:latin typeface="Arial"/>
              </a:rPr>
              <a:t>L2</a:t>
            </a:r>
            <a:endParaRPr b="0" lang="it-IT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ababab"/>
                </a:solidFill>
                <a:latin typeface="Arial"/>
              </a:rPr>
              <a:t>Bank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1822" name="Straight Connector 122"/>
          <p:cNvSpPr/>
          <p:nvPr/>
        </p:nvSpPr>
        <p:spPr>
          <a:xfrm flipV="1">
            <a:off x="4101480" y="2314440"/>
            <a:ext cx="360" cy="16812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23" name="TextBox 139"/>
          <p:cNvSpPr/>
          <p:nvPr/>
        </p:nvSpPr>
        <p:spPr>
          <a:xfrm>
            <a:off x="3439080" y="1592280"/>
            <a:ext cx="9673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808080"/>
                </a:solidFill>
                <a:latin typeface="Arial"/>
              </a:rPr>
              <a:t>private banks</a:t>
            </a:r>
            <a:endParaRPr b="0" lang="it-IT" sz="1050" spc="-1" strike="noStrike">
              <a:latin typeface="Arial"/>
            </a:endParaRPr>
          </a:p>
        </p:txBody>
      </p:sp>
      <p:grpSp>
        <p:nvGrpSpPr>
          <p:cNvPr id="1824" name="Group 140"/>
          <p:cNvGrpSpPr/>
          <p:nvPr/>
        </p:nvGrpSpPr>
        <p:grpSpPr>
          <a:xfrm>
            <a:off x="2493360" y="5733360"/>
            <a:ext cx="1482480" cy="257040"/>
            <a:chOff x="2493360" y="5733360"/>
            <a:chExt cx="1482480" cy="257040"/>
          </a:xfrm>
        </p:grpSpPr>
        <p:sp>
          <p:nvSpPr>
            <p:cNvPr id="1825" name="Elbow Connector 141"/>
            <p:cNvSpPr/>
            <p:nvPr/>
          </p:nvSpPr>
          <p:spPr>
            <a:xfrm>
              <a:off x="2493360" y="5814720"/>
              <a:ext cx="1482480" cy="175680"/>
            </a:xfrm>
            <a:prstGeom prst="bentConnector3">
              <a:avLst>
                <a:gd name="adj1" fmla="val -101"/>
              </a:avLst>
            </a:prstGeom>
            <a:solidFill>
              <a:schemeClr val="bg1">
                <a:lumMod val="85000"/>
              </a:schemeClr>
            </a:solidFill>
            <a:ln cap="sq" w="22225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26" name="Straight Arrow Connector 142"/>
            <p:cNvSpPr/>
            <p:nvPr/>
          </p:nvSpPr>
          <p:spPr>
            <a:xfrm flipV="1">
              <a:off x="3966120" y="5733360"/>
              <a:ext cx="2880" cy="243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cap="sq" w="22225">
              <a:solidFill>
                <a:srgbClr val="000000"/>
              </a:solidFill>
              <a:round/>
              <a:tailEnd len="med" type="triangle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827" name="Left-Right Arrow 8"/>
          <p:cNvSpPr/>
          <p:nvPr/>
        </p:nvSpPr>
        <p:spPr>
          <a:xfrm rot="16200000">
            <a:off x="2877840" y="3720960"/>
            <a:ext cx="4896360" cy="42444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algn="tl"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i="1" lang="en-US" sz="1200" spc="-1" strike="noStrike">
                <a:solidFill>
                  <a:srgbClr val="808080"/>
                </a:solidFill>
                <a:latin typeface="Calibri"/>
              </a:rPr>
              <a:t>Data AXI Bus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828" name="Rectangle 100"/>
          <p:cNvSpPr/>
          <p:nvPr/>
        </p:nvSpPr>
        <p:spPr>
          <a:xfrm>
            <a:off x="6800400" y="2931840"/>
            <a:ext cx="4722120" cy="352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08080"/>
                </a:solidFill>
                <a:latin typeface="Calibri"/>
              </a:rPr>
              <a:t>TCDM Logarithmic Interconnect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829" name="Rectangle 101"/>
          <p:cNvSpPr/>
          <p:nvPr/>
        </p:nvSpPr>
        <p:spPr>
          <a:xfrm>
            <a:off x="5702040" y="2475720"/>
            <a:ext cx="851760" cy="8359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6800" bIns="46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08080"/>
                </a:solidFill>
                <a:latin typeface="Calibri"/>
              </a:rPr>
              <a:t>DMA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830" name="Left-Right Arrow 12"/>
          <p:cNvSpPr/>
          <p:nvPr/>
        </p:nvSpPr>
        <p:spPr>
          <a:xfrm>
            <a:off x="5437440" y="5433840"/>
            <a:ext cx="6372720" cy="37116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algn="tl"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i="1" lang="en-US" sz="1100" spc="-1" strike="noStrike">
                <a:solidFill>
                  <a:srgbClr val="808080"/>
                </a:solidFill>
                <a:latin typeface="Calibri"/>
              </a:rPr>
              <a:t>Instruction AXI Bus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831" name="Rectangle 130"/>
          <p:cNvSpPr/>
          <p:nvPr/>
        </p:nvSpPr>
        <p:spPr>
          <a:xfrm>
            <a:off x="7085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32" name="Rectangle 146"/>
          <p:cNvSpPr/>
          <p:nvPr/>
        </p:nvSpPr>
        <p:spPr>
          <a:xfrm>
            <a:off x="8093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33" name="Rectangle 153"/>
          <p:cNvSpPr/>
          <p:nvPr/>
        </p:nvSpPr>
        <p:spPr>
          <a:xfrm>
            <a:off x="910188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34" name="Rectangle 160"/>
          <p:cNvSpPr/>
          <p:nvPr/>
        </p:nvSpPr>
        <p:spPr>
          <a:xfrm>
            <a:off x="10686240" y="3573000"/>
            <a:ext cx="835920" cy="8654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35" name="Rectangle 18"/>
          <p:cNvSpPr/>
          <p:nvPr/>
        </p:nvSpPr>
        <p:spPr>
          <a:xfrm>
            <a:off x="7085880" y="4682160"/>
            <a:ext cx="4436280" cy="5468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rIns="36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Shared </a:t>
            </a:r>
            <a:endParaRPr b="0" lang="it-IT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08080"/>
                </a:solidFill>
                <a:latin typeface="Calibri"/>
              </a:rPr>
              <a:t>Instruction Cache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836" name="Rectangle 49"/>
          <p:cNvSpPr/>
          <p:nvPr/>
        </p:nvSpPr>
        <p:spPr>
          <a:xfrm>
            <a:off x="7058160" y="2088720"/>
            <a:ext cx="431640" cy="594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837" name="Rectangle 50"/>
          <p:cNvSpPr/>
          <p:nvPr/>
        </p:nvSpPr>
        <p:spPr>
          <a:xfrm>
            <a:off x="7562160" y="2088720"/>
            <a:ext cx="431640" cy="594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838" name="Rectangle 49"/>
          <p:cNvSpPr/>
          <p:nvPr/>
        </p:nvSpPr>
        <p:spPr>
          <a:xfrm>
            <a:off x="8061480" y="2091960"/>
            <a:ext cx="431640" cy="594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839" name="Rectangle 50"/>
          <p:cNvSpPr/>
          <p:nvPr/>
        </p:nvSpPr>
        <p:spPr>
          <a:xfrm>
            <a:off x="8565480" y="2091960"/>
            <a:ext cx="431640" cy="594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840" name="Rectangle 49"/>
          <p:cNvSpPr/>
          <p:nvPr/>
        </p:nvSpPr>
        <p:spPr>
          <a:xfrm>
            <a:off x="9064800" y="2091960"/>
            <a:ext cx="431640" cy="594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841" name="Rectangle 50"/>
          <p:cNvSpPr/>
          <p:nvPr/>
        </p:nvSpPr>
        <p:spPr>
          <a:xfrm>
            <a:off x="9568800" y="2091960"/>
            <a:ext cx="431640" cy="594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842" name="Rectangle 49"/>
          <p:cNvSpPr/>
          <p:nvPr/>
        </p:nvSpPr>
        <p:spPr>
          <a:xfrm>
            <a:off x="10587240" y="2090520"/>
            <a:ext cx="431640" cy="594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sp>
        <p:nvSpPr>
          <p:cNvPr id="1843" name="Rectangle 50"/>
          <p:cNvSpPr/>
          <p:nvPr/>
        </p:nvSpPr>
        <p:spPr>
          <a:xfrm>
            <a:off x="11091240" y="2090520"/>
            <a:ext cx="431640" cy="594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39960" dir="2700000" dist="50402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ababab"/>
                </a:solidFill>
                <a:latin typeface="Calibri"/>
              </a:rPr>
              <a:t>SRAM</a:t>
            </a:r>
            <a:endParaRPr b="0" lang="it-IT" sz="1100" spc="-1" strike="noStrike">
              <a:latin typeface="Arial"/>
            </a:endParaRPr>
          </a:p>
        </p:txBody>
      </p:sp>
      <p:grpSp>
        <p:nvGrpSpPr>
          <p:cNvPr id="1844" name="Gruppo 131"/>
          <p:cNvGrpSpPr/>
          <p:nvPr/>
        </p:nvGrpSpPr>
        <p:grpSpPr>
          <a:xfrm>
            <a:off x="7922160" y="3764880"/>
            <a:ext cx="2764080" cy="479880"/>
            <a:chOff x="7922160" y="3764880"/>
            <a:chExt cx="2764080" cy="479880"/>
          </a:xfrm>
        </p:grpSpPr>
        <p:sp>
          <p:nvSpPr>
            <p:cNvPr id="1845" name="Rectangle 5"/>
            <p:cNvSpPr/>
            <p:nvPr/>
          </p:nvSpPr>
          <p:spPr>
            <a:xfrm>
              <a:off x="10099800" y="3764880"/>
              <a:ext cx="465840" cy="4798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39960" dir="2700000" dist="50402" rotWithShape="0">
                <a:srgbClr val="000000">
                  <a:alpha val="5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en-US" sz="1100" spc="-1" strike="noStrike">
                  <a:solidFill>
                    <a:srgbClr val="808080"/>
                  </a:solidFill>
                  <a:latin typeface="Calibri"/>
                </a:rPr>
                <a:t>HW Synch</a:t>
              </a:r>
              <a:endParaRPr b="0" lang="it-IT" sz="1100" spc="-1" strike="noStrike">
                <a:latin typeface="Arial"/>
              </a:endParaRPr>
            </a:p>
          </p:txBody>
        </p:sp>
        <p:sp>
          <p:nvSpPr>
            <p:cNvPr id="1846" name="Connettore 4 133"/>
            <p:cNvSpPr/>
            <p:nvPr/>
          </p:nvSpPr>
          <p:spPr>
            <a:xfrm flipV="1">
              <a:off x="7922160" y="3764520"/>
              <a:ext cx="2410560" cy="240480"/>
            </a:xfrm>
            <a:prstGeom prst="bentConnector4">
              <a:avLst>
                <a:gd name="adj1" fmla="val 4015"/>
                <a:gd name="adj2" fmla="val 228071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rgbClr val="ababab">
                  <a:lumMod val="75000"/>
                </a:srgbClr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7" name="Connettore 4 134"/>
            <p:cNvSpPr/>
            <p:nvPr/>
          </p:nvSpPr>
          <p:spPr>
            <a:xfrm flipV="1">
              <a:off x="8930160" y="3764520"/>
              <a:ext cx="1402200" cy="240480"/>
            </a:xfrm>
            <a:prstGeom prst="bentConnector4">
              <a:avLst>
                <a:gd name="adj1" fmla="val 6634"/>
                <a:gd name="adj2" fmla="val 228070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rgbClr val="ababab">
                  <a:lumMod val="75000"/>
                </a:srgbClr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8" name="Connettore 4 135"/>
            <p:cNvSpPr/>
            <p:nvPr/>
          </p:nvSpPr>
          <p:spPr>
            <a:xfrm flipV="1">
              <a:off x="9938520" y="3764880"/>
              <a:ext cx="394200" cy="240480"/>
            </a:xfrm>
            <a:prstGeom prst="bentConnector4">
              <a:avLst>
                <a:gd name="adj1" fmla="val 20454"/>
                <a:gd name="adj2" fmla="val 228070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rgbClr val="ababab">
                  <a:lumMod val="75000"/>
                </a:srgbClr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9" name="Connettore 4 136"/>
            <p:cNvSpPr/>
            <p:nvPr/>
          </p:nvSpPr>
          <p:spPr>
            <a:xfrm flipH="1" rot="16200000">
              <a:off x="10389600" y="3708720"/>
              <a:ext cx="240480" cy="352800"/>
            </a:xfrm>
            <a:prstGeom prst="bentConnector4">
              <a:avLst>
                <a:gd name="adj1" fmla="val -127144"/>
                <a:gd name="adj2" fmla="val 80569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rgbClr val="ababab">
                  <a:lumMod val="75000"/>
                </a:srgbClr>
              </a:solidFill>
              <a:prstDash val="dash"/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850" name="Straight Connector 156"/>
          <p:cNvSpPr/>
          <p:nvPr/>
        </p:nvSpPr>
        <p:spPr>
          <a:xfrm>
            <a:off x="4881240" y="2665800"/>
            <a:ext cx="31356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51" name="Straight Connector 156"/>
          <p:cNvSpPr/>
          <p:nvPr/>
        </p:nvSpPr>
        <p:spPr>
          <a:xfrm>
            <a:off x="5437440" y="2893680"/>
            <a:ext cx="264240" cy="36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52" name="Straight Connector 156"/>
          <p:cNvSpPr/>
          <p:nvPr/>
        </p:nvSpPr>
        <p:spPr>
          <a:xfrm>
            <a:off x="727344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53" name="Straight Connector 156"/>
          <p:cNvSpPr/>
          <p:nvPr/>
        </p:nvSpPr>
        <p:spPr>
          <a:xfrm>
            <a:off x="777528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54" name="Straight Connector 156"/>
          <p:cNvSpPr/>
          <p:nvPr/>
        </p:nvSpPr>
        <p:spPr>
          <a:xfrm>
            <a:off x="827748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55" name="Straight Connector 156"/>
          <p:cNvSpPr/>
          <p:nvPr/>
        </p:nvSpPr>
        <p:spPr>
          <a:xfrm>
            <a:off x="877932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56" name="Straight Connector 156"/>
          <p:cNvSpPr/>
          <p:nvPr/>
        </p:nvSpPr>
        <p:spPr>
          <a:xfrm>
            <a:off x="928152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57" name="Straight Connector 156"/>
          <p:cNvSpPr/>
          <p:nvPr/>
        </p:nvSpPr>
        <p:spPr>
          <a:xfrm>
            <a:off x="9783360" y="2665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58" name="Straight Connector 156"/>
          <p:cNvSpPr/>
          <p:nvPr/>
        </p:nvSpPr>
        <p:spPr>
          <a:xfrm>
            <a:off x="10794600" y="267768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59" name="Straight Connector 156"/>
          <p:cNvSpPr/>
          <p:nvPr/>
        </p:nvSpPr>
        <p:spPr>
          <a:xfrm>
            <a:off x="11296440" y="267768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60" name="Straight Connector 156"/>
          <p:cNvSpPr/>
          <p:nvPr/>
        </p:nvSpPr>
        <p:spPr>
          <a:xfrm flipH="1" flipV="1">
            <a:off x="6568200" y="2716560"/>
            <a:ext cx="220680" cy="19620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61" name="Straight Connector 156"/>
          <p:cNvSpPr/>
          <p:nvPr/>
        </p:nvSpPr>
        <p:spPr>
          <a:xfrm>
            <a:off x="9313200" y="523764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62" name="Straight Connector 156"/>
          <p:cNvSpPr/>
          <p:nvPr/>
        </p:nvSpPr>
        <p:spPr>
          <a:xfrm>
            <a:off x="7500600" y="443592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63" name="Straight Connector 156"/>
          <p:cNvSpPr/>
          <p:nvPr/>
        </p:nvSpPr>
        <p:spPr>
          <a:xfrm>
            <a:off x="8507880" y="443592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64" name="Straight Connector 156"/>
          <p:cNvSpPr/>
          <p:nvPr/>
        </p:nvSpPr>
        <p:spPr>
          <a:xfrm>
            <a:off x="9514800" y="442980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65" name="Straight Connector 156"/>
          <p:cNvSpPr/>
          <p:nvPr/>
        </p:nvSpPr>
        <p:spPr>
          <a:xfrm>
            <a:off x="11108520" y="443592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66" name="Straight Connector 156"/>
          <p:cNvSpPr/>
          <p:nvPr/>
        </p:nvSpPr>
        <p:spPr>
          <a:xfrm>
            <a:off x="748260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67" name="Straight Connector 156"/>
          <p:cNvSpPr/>
          <p:nvPr/>
        </p:nvSpPr>
        <p:spPr>
          <a:xfrm>
            <a:off x="848952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68" name="Straight Connector 156"/>
          <p:cNvSpPr/>
          <p:nvPr/>
        </p:nvSpPr>
        <p:spPr>
          <a:xfrm>
            <a:off x="9496800" y="3295800"/>
            <a:ext cx="360" cy="26604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69" name="Straight Connector 156"/>
          <p:cNvSpPr/>
          <p:nvPr/>
        </p:nvSpPr>
        <p:spPr>
          <a:xfrm>
            <a:off x="11090160" y="3302280"/>
            <a:ext cx="360" cy="265680"/>
          </a:xfrm>
          <a:prstGeom prst="line">
            <a:avLst/>
          </a:prstGeom>
          <a:ln>
            <a:solidFill>
              <a:srgbClr val="ffffff">
                <a:lumMod val="25000"/>
              </a:srgbClr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grpSp>
        <p:nvGrpSpPr>
          <p:cNvPr id="1870" name="Group 144"/>
          <p:cNvGrpSpPr/>
          <p:nvPr/>
        </p:nvGrpSpPr>
        <p:grpSpPr>
          <a:xfrm>
            <a:off x="4062960" y="3022200"/>
            <a:ext cx="1755360" cy="478440"/>
            <a:chOff x="4062960" y="3022200"/>
            <a:chExt cx="1755360" cy="478440"/>
          </a:xfrm>
        </p:grpSpPr>
        <p:sp>
          <p:nvSpPr>
            <p:cNvPr id="1871" name="Freeform: Shape 18"/>
            <p:cNvSpPr/>
            <p:nvPr/>
          </p:nvSpPr>
          <p:spPr>
            <a:xfrm>
              <a:off x="4062960" y="3027960"/>
              <a:ext cx="216000" cy="472680"/>
            </a:xfrm>
            <a:custGeom>
              <a:avLst/>
              <a:gdLst/>
              <a:ahLst/>
              <a:rect l="l" t="t" r="r" b="b"/>
              <a:pathLst>
                <a:path w="175036" h="590550">
                  <a:moveTo>
                    <a:pt x="0" y="0"/>
                  </a:moveTo>
                  <a:cubicBezTo>
                    <a:pt x="59531" y="38100"/>
                    <a:pt x="119063" y="76200"/>
                    <a:pt x="123825" y="95250"/>
                  </a:cubicBezTo>
                  <a:cubicBezTo>
                    <a:pt x="128587" y="114300"/>
                    <a:pt x="25400" y="95250"/>
                    <a:pt x="28575" y="114300"/>
                  </a:cubicBezTo>
                  <a:cubicBezTo>
                    <a:pt x="31750" y="133350"/>
                    <a:pt x="139700" y="184150"/>
                    <a:pt x="142875" y="209550"/>
                  </a:cubicBezTo>
                  <a:cubicBezTo>
                    <a:pt x="146050" y="234950"/>
                    <a:pt x="46038" y="246063"/>
                    <a:pt x="47625" y="266700"/>
                  </a:cubicBezTo>
                  <a:cubicBezTo>
                    <a:pt x="49212" y="287337"/>
                    <a:pt x="153988" y="307975"/>
                    <a:pt x="152400" y="333375"/>
                  </a:cubicBezTo>
                  <a:cubicBezTo>
                    <a:pt x="150813" y="358775"/>
                    <a:pt x="34925" y="398463"/>
                    <a:pt x="38100" y="419100"/>
                  </a:cubicBezTo>
                  <a:cubicBezTo>
                    <a:pt x="41275" y="439738"/>
                    <a:pt x="157163" y="428625"/>
                    <a:pt x="171450" y="457200"/>
                  </a:cubicBezTo>
                  <a:cubicBezTo>
                    <a:pt x="185737" y="485775"/>
                    <a:pt x="154781" y="538162"/>
                    <a:pt x="123825" y="590550"/>
                  </a:cubicBezTo>
                </a:path>
              </a:pathLst>
            </a:custGeom>
            <a:noFill/>
            <a:ln>
              <a:solidFill>
                <a:srgbClr val="ababab"/>
              </a:solidFill>
              <a:tailEnd len="med" type="triangle" w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72" name="TextBox 148"/>
            <p:cNvSpPr/>
            <p:nvPr/>
          </p:nvSpPr>
          <p:spPr>
            <a:xfrm>
              <a:off x="4529160" y="3022200"/>
              <a:ext cx="1289160" cy="47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i="1" lang="it-IT" sz="1270" spc="-1" strike="noStrike">
                  <a:solidFill>
                    <a:srgbClr val="c00000"/>
                  </a:solidFill>
                  <a:latin typeface="Calibri"/>
                </a:rPr>
                <a:t>Fabric Controller</a:t>
              </a:r>
              <a:endParaRPr b="0" lang="it-IT" sz="127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1" i="1" lang="it-IT" sz="1270" spc="-1" strike="noStrike">
                  <a:solidFill>
                    <a:srgbClr val="c00000"/>
                  </a:solidFill>
                  <a:latin typeface="Calibri"/>
                </a:rPr>
                <a:t>Thread</a:t>
              </a:r>
              <a:endParaRPr b="0" lang="it-IT" sz="1270" spc="-1" strike="noStrike">
                <a:latin typeface="Arial"/>
              </a:endParaRPr>
            </a:p>
          </p:txBody>
        </p:sp>
      </p:grpSp>
      <p:sp>
        <p:nvSpPr>
          <p:cNvPr id="1873" name="Rectangle 149"/>
          <p:cNvSpPr/>
          <p:nvPr/>
        </p:nvSpPr>
        <p:spPr>
          <a:xfrm>
            <a:off x="5886720" y="887040"/>
            <a:ext cx="56354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Stacks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are in L2 for the FC, and in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L1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(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TCDM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) for the cluster cores (not cached!)</a:t>
            </a:r>
            <a:endParaRPr b="0" lang="it-IT" sz="1800" spc="-1" strike="noStrike">
              <a:latin typeface="Arial"/>
            </a:endParaRPr>
          </a:p>
        </p:txBody>
      </p:sp>
      <p:grpSp>
        <p:nvGrpSpPr>
          <p:cNvPr id="1874" name="Group 145"/>
          <p:cNvGrpSpPr/>
          <p:nvPr/>
        </p:nvGrpSpPr>
        <p:grpSpPr>
          <a:xfrm>
            <a:off x="6394680" y="3753360"/>
            <a:ext cx="1203480" cy="512640"/>
            <a:chOff x="6394680" y="3753360"/>
            <a:chExt cx="1203480" cy="512640"/>
          </a:xfrm>
        </p:grpSpPr>
        <p:sp>
          <p:nvSpPr>
            <p:cNvPr id="1875" name="Freeform: Shape 18"/>
            <p:cNvSpPr/>
            <p:nvPr/>
          </p:nvSpPr>
          <p:spPr>
            <a:xfrm>
              <a:off x="7382160" y="3793320"/>
              <a:ext cx="216000" cy="472680"/>
            </a:xfrm>
            <a:custGeom>
              <a:avLst/>
              <a:gdLst/>
              <a:ahLst/>
              <a:rect l="l" t="t" r="r" b="b"/>
              <a:pathLst>
                <a:path w="175036" h="590550">
                  <a:moveTo>
                    <a:pt x="0" y="0"/>
                  </a:moveTo>
                  <a:cubicBezTo>
                    <a:pt x="59531" y="38100"/>
                    <a:pt x="119063" y="76200"/>
                    <a:pt x="123825" y="95250"/>
                  </a:cubicBezTo>
                  <a:cubicBezTo>
                    <a:pt x="128587" y="114300"/>
                    <a:pt x="25400" y="95250"/>
                    <a:pt x="28575" y="114300"/>
                  </a:cubicBezTo>
                  <a:cubicBezTo>
                    <a:pt x="31750" y="133350"/>
                    <a:pt x="139700" y="184150"/>
                    <a:pt x="142875" y="209550"/>
                  </a:cubicBezTo>
                  <a:cubicBezTo>
                    <a:pt x="146050" y="234950"/>
                    <a:pt x="46038" y="246063"/>
                    <a:pt x="47625" y="266700"/>
                  </a:cubicBezTo>
                  <a:cubicBezTo>
                    <a:pt x="49212" y="287337"/>
                    <a:pt x="153988" y="307975"/>
                    <a:pt x="152400" y="333375"/>
                  </a:cubicBezTo>
                  <a:cubicBezTo>
                    <a:pt x="150813" y="358775"/>
                    <a:pt x="34925" y="398463"/>
                    <a:pt x="38100" y="419100"/>
                  </a:cubicBezTo>
                  <a:cubicBezTo>
                    <a:pt x="41275" y="439738"/>
                    <a:pt x="157163" y="428625"/>
                    <a:pt x="171450" y="457200"/>
                  </a:cubicBezTo>
                  <a:cubicBezTo>
                    <a:pt x="185737" y="485775"/>
                    <a:pt x="154781" y="538162"/>
                    <a:pt x="123825" y="590550"/>
                  </a:cubicBezTo>
                </a:path>
              </a:pathLst>
            </a:custGeom>
            <a:noFill/>
            <a:ln>
              <a:solidFill>
                <a:srgbClr val="ababab"/>
              </a:solidFill>
              <a:tailEnd len="med" type="triangle" w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76" name="TextBox 151"/>
            <p:cNvSpPr/>
            <p:nvPr/>
          </p:nvSpPr>
          <p:spPr>
            <a:xfrm>
              <a:off x="6394680" y="3753360"/>
              <a:ext cx="651960" cy="47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i="1" lang="it-IT" sz="1270" spc="-1" strike="noStrike">
                  <a:solidFill>
                    <a:srgbClr val="c00000"/>
                  </a:solidFill>
                  <a:latin typeface="Calibri"/>
                </a:rPr>
                <a:t>Core 0</a:t>
              </a:r>
              <a:endParaRPr b="0" lang="it-IT" sz="127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1" i="1" lang="it-IT" sz="1270" spc="-1" strike="noStrike">
                  <a:solidFill>
                    <a:srgbClr val="c00000"/>
                  </a:solidFill>
                  <a:latin typeface="Calibri"/>
                </a:rPr>
                <a:t>Thread</a:t>
              </a:r>
              <a:endParaRPr b="0" lang="it-IT" sz="1270" spc="-1" strike="noStrike">
                <a:latin typeface="Arial"/>
              </a:endParaRPr>
            </a:p>
          </p:txBody>
        </p:sp>
      </p:grpSp>
      <p:sp>
        <p:nvSpPr>
          <p:cNvPr id="1877" name="Freeform: Shape 18"/>
          <p:cNvSpPr/>
          <p:nvPr/>
        </p:nvSpPr>
        <p:spPr>
          <a:xfrm>
            <a:off x="8399880" y="3779640"/>
            <a:ext cx="216000" cy="472680"/>
          </a:xfrm>
          <a:custGeom>
            <a:avLst/>
            <a:gdLst/>
            <a:ahLst/>
            <a:rect l="l" t="t" r="r" b="b"/>
            <a:pathLst>
              <a:path w="175036" h="590550">
                <a:moveTo>
                  <a:pt x="0" y="0"/>
                </a:moveTo>
                <a:cubicBezTo>
                  <a:pt x="59531" y="38100"/>
                  <a:pt x="119063" y="76200"/>
                  <a:pt x="123825" y="95250"/>
                </a:cubicBezTo>
                <a:cubicBezTo>
                  <a:pt x="128587" y="114300"/>
                  <a:pt x="25400" y="95250"/>
                  <a:pt x="28575" y="114300"/>
                </a:cubicBezTo>
                <a:cubicBezTo>
                  <a:pt x="31750" y="133350"/>
                  <a:pt x="139700" y="184150"/>
                  <a:pt x="142875" y="209550"/>
                </a:cubicBezTo>
                <a:cubicBezTo>
                  <a:pt x="146050" y="234950"/>
                  <a:pt x="46038" y="246063"/>
                  <a:pt x="47625" y="266700"/>
                </a:cubicBezTo>
                <a:cubicBezTo>
                  <a:pt x="49212" y="287337"/>
                  <a:pt x="153988" y="307975"/>
                  <a:pt x="152400" y="333375"/>
                </a:cubicBezTo>
                <a:cubicBezTo>
                  <a:pt x="150813" y="358775"/>
                  <a:pt x="34925" y="398463"/>
                  <a:pt x="38100" y="419100"/>
                </a:cubicBezTo>
                <a:cubicBezTo>
                  <a:pt x="41275" y="439738"/>
                  <a:pt x="157163" y="428625"/>
                  <a:pt x="171450" y="457200"/>
                </a:cubicBezTo>
                <a:cubicBezTo>
                  <a:pt x="185737" y="485775"/>
                  <a:pt x="154781" y="538162"/>
                  <a:pt x="123825" y="590550"/>
                </a:cubicBezTo>
              </a:path>
            </a:pathLst>
          </a:custGeom>
          <a:noFill/>
          <a:ln>
            <a:solidFill>
              <a:srgbClr val="ababab"/>
            </a:solidFill>
            <a:tailEnd len="med" type="triangle" w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78" name="Freeform: Shape 18"/>
          <p:cNvSpPr/>
          <p:nvPr/>
        </p:nvSpPr>
        <p:spPr>
          <a:xfrm>
            <a:off x="9413280" y="3764880"/>
            <a:ext cx="216000" cy="472680"/>
          </a:xfrm>
          <a:custGeom>
            <a:avLst/>
            <a:gdLst/>
            <a:ahLst/>
            <a:rect l="l" t="t" r="r" b="b"/>
            <a:pathLst>
              <a:path w="175036" h="590550">
                <a:moveTo>
                  <a:pt x="0" y="0"/>
                </a:moveTo>
                <a:cubicBezTo>
                  <a:pt x="59531" y="38100"/>
                  <a:pt x="119063" y="76200"/>
                  <a:pt x="123825" y="95250"/>
                </a:cubicBezTo>
                <a:cubicBezTo>
                  <a:pt x="128587" y="114300"/>
                  <a:pt x="25400" y="95250"/>
                  <a:pt x="28575" y="114300"/>
                </a:cubicBezTo>
                <a:cubicBezTo>
                  <a:pt x="31750" y="133350"/>
                  <a:pt x="139700" y="184150"/>
                  <a:pt x="142875" y="209550"/>
                </a:cubicBezTo>
                <a:cubicBezTo>
                  <a:pt x="146050" y="234950"/>
                  <a:pt x="46038" y="246063"/>
                  <a:pt x="47625" y="266700"/>
                </a:cubicBezTo>
                <a:cubicBezTo>
                  <a:pt x="49212" y="287337"/>
                  <a:pt x="153988" y="307975"/>
                  <a:pt x="152400" y="333375"/>
                </a:cubicBezTo>
                <a:cubicBezTo>
                  <a:pt x="150813" y="358775"/>
                  <a:pt x="34925" y="398463"/>
                  <a:pt x="38100" y="419100"/>
                </a:cubicBezTo>
                <a:cubicBezTo>
                  <a:pt x="41275" y="439738"/>
                  <a:pt x="157163" y="428625"/>
                  <a:pt x="171450" y="457200"/>
                </a:cubicBezTo>
                <a:cubicBezTo>
                  <a:pt x="185737" y="485775"/>
                  <a:pt x="154781" y="538162"/>
                  <a:pt x="123825" y="590550"/>
                </a:cubicBezTo>
              </a:path>
            </a:pathLst>
          </a:custGeom>
          <a:noFill/>
          <a:ln>
            <a:solidFill>
              <a:srgbClr val="ababab"/>
            </a:solidFill>
            <a:tailEnd len="med" type="triangle" w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79" name="Freeform: Shape 18"/>
          <p:cNvSpPr/>
          <p:nvPr/>
        </p:nvSpPr>
        <p:spPr>
          <a:xfrm>
            <a:off x="10996200" y="3779640"/>
            <a:ext cx="216000" cy="472680"/>
          </a:xfrm>
          <a:custGeom>
            <a:avLst/>
            <a:gdLst/>
            <a:ahLst/>
            <a:rect l="l" t="t" r="r" b="b"/>
            <a:pathLst>
              <a:path w="175036" h="590550">
                <a:moveTo>
                  <a:pt x="0" y="0"/>
                </a:moveTo>
                <a:cubicBezTo>
                  <a:pt x="59531" y="38100"/>
                  <a:pt x="119063" y="76200"/>
                  <a:pt x="123825" y="95250"/>
                </a:cubicBezTo>
                <a:cubicBezTo>
                  <a:pt x="128587" y="114300"/>
                  <a:pt x="25400" y="95250"/>
                  <a:pt x="28575" y="114300"/>
                </a:cubicBezTo>
                <a:cubicBezTo>
                  <a:pt x="31750" y="133350"/>
                  <a:pt x="139700" y="184150"/>
                  <a:pt x="142875" y="209550"/>
                </a:cubicBezTo>
                <a:cubicBezTo>
                  <a:pt x="146050" y="234950"/>
                  <a:pt x="46038" y="246063"/>
                  <a:pt x="47625" y="266700"/>
                </a:cubicBezTo>
                <a:cubicBezTo>
                  <a:pt x="49212" y="287337"/>
                  <a:pt x="153988" y="307975"/>
                  <a:pt x="152400" y="333375"/>
                </a:cubicBezTo>
                <a:cubicBezTo>
                  <a:pt x="150813" y="358775"/>
                  <a:pt x="34925" y="398463"/>
                  <a:pt x="38100" y="419100"/>
                </a:cubicBezTo>
                <a:cubicBezTo>
                  <a:pt x="41275" y="439738"/>
                  <a:pt x="157163" y="428625"/>
                  <a:pt x="171450" y="457200"/>
                </a:cubicBezTo>
                <a:cubicBezTo>
                  <a:pt x="185737" y="485775"/>
                  <a:pt x="154781" y="538162"/>
                  <a:pt x="123825" y="590550"/>
                </a:cubicBezTo>
              </a:path>
            </a:pathLst>
          </a:custGeom>
          <a:noFill/>
          <a:ln>
            <a:solidFill>
              <a:srgbClr val="ababab"/>
            </a:solidFill>
            <a:tailEnd len="med" type="triangle" w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it-IT" sz="3600" spc="-106" strike="noStrike">
                <a:solidFill>
                  <a:srgbClr val="c00000"/>
                </a:solidFill>
                <a:latin typeface="Calibri"/>
                <a:ea typeface="Roboto"/>
              </a:rPr>
              <a:t>PULP Microcontroller Software Interface Standard (PMSIS)</a:t>
            </a:r>
            <a:endParaRPr b="0" lang="it-IT" sz="3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1" name="PlaceHolder 2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64B7CF1F-418B-451F-8C43-9EC78A8B0412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  <p:grpSp>
        <p:nvGrpSpPr>
          <p:cNvPr id="1882" name="Gruppo 3"/>
          <p:cNvGrpSpPr/>
          <p:nvPr/>
        </p:nvGrpSpPr>
        <p:grpSpPr>
          <a:xfrm>
            <a:off x="1848600" y="1557360"/>
            <a:ext cx="8279640" cy="4679640"/>
            <a:chOff x="1848600" y="1557360"/>
            <a:chExt cx="8279640" cy="4679640"/>
          </a:xfrm>
        </p:grpSpPr>
        <p:sp>
          <p:nvSpPr>
            <p:cNvPr id="1883" name="Figura a mano libera: forma 22"/>
            <p:cNvSpPr/>
            <p:nvPr/>
          </p:nvSpPr>
          <p:spPr>
            <a:xfrm>
              <a:off x="1848600" y="4754160"/>
              <a:ext cx="8279640" cy="1482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cdcd"/>
            </a:solidFill>
            <a:ln w="0">
              <a:solidFill>
                <a:srgbClr val="a8322c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 anchorCtr="1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1600" spc="-1" strike="noStrike">
                  <a:solidFill>
                    <a:srgbClr val="000000"/>
                  </a:solidFill>
                  <a:latin typeface="Arial Narrow"/>
                  <a:ea typeface="Noto Sans CJK SC"/>
                </a:rPr>
                <a:t>RTOS (freertos, pulpos, zephyr)                                                                        </a:t>
              </a:r>
              <a:endParaRPr b="0" lang="it-IT" sz="1600" spc="-1" strike="noStrike">
                <a:latin typeface="Arial"/>
              </a:endParaRPr>
            </a:p>
          </p:txBody>
        </p:sp>
        <p:sp>
          <p:nvSpPr>
            <p:cNvPr id="1884" name="Figura a mano libera: forma 24"/>
            <p:cNvSpPr/>
            <p:nvPr/>
          </p:nvSpPr>
          <p:spPr>
            <a:xfrm>
              <a:off x="1848600" y="1557360"/>
              <a:ext cx="81925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cdcd"/>
            </a:solidFill>
            <a:ln w="0">
              <a:solidFill>
                <a:srgbClr val="a8322c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 anchorCtr="1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1600" spc="-1" strike="noStrike">
                  <a:solidFill>
                    <a:srgbClr val="000000"/>
                  </a:solidFill>
                  <a:latin typeface="Arial Narrow"/>
                  <a:ea typeface="Noto Sans CJK SC"/>
                </a:rPr>
                <a:t>Application</a:t>
              </a:r>
              <a:endParaRPr b="0" lang="it-IT" sz="1600" spc="-1" strike="noStrike">
                <a:latin typeface="Arial"/>
              </a:endParaRPr>
            </a:p>
          </p:txBody>
        </p:sp>
        <p:sp>
          <p:nvSpPr>
            <p:cNvPr id="1885" name="Connettore diritto 9"/>
            <p:cNvSpPr/>
            <p:nvPr/>
          </p:nvSpPr>
          <p:spPr>
            <a:xfrm>
              <a:off x="3940200" y="2529360"/>
              <a:ext cx="360" cy="2224440"/>
            </a:xfrm>
            <a:custGeom>
              <a:avLst/>
              <a:gdLst/>
              <a:ahLst/>
              <a:rect l="l" t="t" r="r" b="b"/>
              <a:pathLst>
                <a:path w="35" h="6180">
                  <a:moveTo>
                    <a:pt x="0" y="0"/>
                  </a:moveTo>
                  <a:lnTo>
                    <a:pt x="2" y="6180"/>
                  </a:lnTo>
                </a:path>
              </a:pathLst>
            </a:custGeom>
            <a:noFill/>
            <a:ln w="0">
              <a:solidFill>
                <a:srgbClr val="000000"/>
              </a:solidFill>
              <a:tailEnd len="med" type="arrow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86" name="CasellaDiTesto 30"/>
            <p:cNvSpPr/>
            <p:nvPr/>
          </p:nvSpPr>
          <p:spPr>
            <a:xfrm>
              <a:off x="2038320" y="3354120"/>
              <a:ext cx="1661040" cy="57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1600" spc="-1" strike="noStrike">
                  <a:solidFill>
                    <a:srgbClr val="5d5d5d"/>
                  </a:solidFill>
                  <a:latin typeface="Arial Narrow"/>
                  <a:ea typeface="Noto Sans CJK SC"/>
                </a:rPr>
                <a:t>Native OS features</a:t>
              </a:r>
              <a:endParaRPr b="0" lang="it-IT" sz="16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1600" spc="-1" strike="noStrike">
                  <a:solidFill>
                    <a:srgbClr val="5d5d5d"/>
                  </a:solidFill>
                  <a:latin typeface="Arial Narrow"/>
                  <a:ea typeface="Noto Sans CJK SC"/>
                </a:rPr>
                <a:t>(threading, ...)</a:t>
              </a:r>
              <a:endParaRPr b="0" lang="it-IT" sz="1600" spc="-1" strike="noStrike">
                <a:latin typeface="Arial"/>
              </a:endParaRPr>
            </a:p>
          </p:txBody>
        </p:sp>
      </p:grpSp>
      <p:grpSp>
        <p:nvGrpSpPr>
          <p:cNvPr id="1887" name="Gruppo 9"/>
          <p:cNvGrpSpPr/>
          <p:nvPr/>
        </p:nvGrpSpPr>
        <p:grpSpPr>
          <a:xfrm>
            <a:off x="4867200" y="2529360"/>
            <a:ext cx="4999680" cy="3601440"/>
            <a:chOff x="4867200" y="2529360"/>
            <a:chExt cx="4999680" cy="3601440"/>
          </a:xfrm>
        </p:grpSpPr>
        <p:sp>
          <p:nvSpPr>
            <p:cNvPr id="1888" name="Connettore diritto 8"/>
            <p:cNvSpPr/>
            <p:nvPr/>
          </p:nvSpPr>
          <p:spPr>
            <a:xfrm>
              <a:off x="6554880" y="2529360"/>
              <a:ext cx="360" cy="2330280"/>
            </a:xfrm>
            <a:custGeom>
              <a:avLst/>
              <a:gdLst/>
              <a:ahLst/>
              <a:rect l="l" t="t" r="r" b="b"/>
              <a:pathLst>
                <a:path w="35" h="6474">
                  <a:moveTo>
                    <a:pt x="0" y="0"/>
                  </a:moveTo>
                  <a:lnTo>
                    <a:pt x="2" y="6474"/>
                  </a:lnTo>
                </a:path>
              </a:pathLst>
            </a:custGeom>
            <a:noFill/>
            <a:ln w="0">
              <a:solidFill>
                <a:srgbClr val="000000"/>
              </a:solidFill>
              <a:tailEnd len="med" type="arrow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89" name="Figura a mano libera: forma 23"/>
            <p:cNvSpPr/>
            <p:nvPr/>
          </p:nvSpPr>
          <p:spPr>
            <a:xfrm>
              <a:off x="5704920" y="4860000"/>
              <a:ext cx="4161960" cy="1270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5555"/>
            </a:solidFill>
            <a:ln w="0">
              <a:solidFill>
                <a:srgbClr val="a8322c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 anchorCtr="1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1600" spc="-1" strike="noStrike">
                  <a:solidFill>
                    <a:srgbClr val="ffffff"/>
                  </a:solidFill>
                  <a:latin typeface="Arial Narrow"/>
                  <a:ea typeface="Noto Sans CJK SC"/>
                </a:rPr>
                <a:t>PMSIS Drivers</a:t>
              </a:r>
              <a:endParaRPr b="0" lang="it-IT" sz="16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1600" spc="-1" strike="noStrike">
                  <a:solidFill>
                    <a:srgbClr val="ffffff"/>
                  </a:solidFill>
                  <a:latin typeface="Arial Narrow"/>
                  <a:ea typeface="Noto Sans CJK SC"/>
                </a:rPr>
                <a:t>hyperbus, UART, DMA, cluster ...</a:t>
              </a:r>
              <a:endParaRPr b="0" lang="it-IT" sz="1600" spc="-1" strike="noStrike">
                <a:latin typeface="Arial"/>
              </a:endParaRPr>
            </a:p>
          </p:txBody>
        </p:sp>
        <p:sp>
          <p:nvSpPr>
            <p:cNvPr id="1890" name="CasellaDiTesto 31"/>
            <p:cNvSpPr/>
            <p:nvPr/>
          </p:nvSpPr>
          <p:spPr>
            <a:xfrm>
              <a:off x="4867200" y="3360960"/>
              <a:ext cx="1674720" cy="57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1600" spc="-1" strike="noStrike">
                  <a:solidFill>
                    <a:srgbClr val="5d5d5d"/>
                  </a:solidFill>
                  <a:latin typeface="Arial Narrow"/>
                  <a:ea typeface="Noto Sans CJK SC"/>
                </a:rPr>
                <a:t>Chip features</a:t>
              </a:r>
              <a:endParaRPr b="0" lang="it-IT" sz="16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1600" spc="-1" strike="noStrike">
                  <a:solidFill>
                    <a:srgbClr val="5d5d5d"/>
                  </a:solidFill>
                  <a:latin typeface="Arial Narrow"/>
                  <a:ea typeface="Noto Sans CJK SC"/>
                </a:rPr>
                <a:t>(SPI, DMA, PMU ...)</a:t>
              </a:r>
              <a:endParaRPr b="0" lang="it-IT" sz="1600" spc="-1" strike="noStrike">
                <a:latin typeface="Arial"/>
              </a:endParaRPr>
            </a:p>
          </p:txBody>
        </p:sp>
      </p:grpSp>
      <p:grpSp>
        <p:nvGrpSpPr>
          <p:cNvPr id="1891" name="Gruppo 10"/>
          <p:cNvGrpSpPr/>
          <p:nvPr/>
        </p:nvGrpSpPr>
        <p:grpSpPr>
          <a:xfrm>
            <a:off x="7079040" y="2529360"/>
            <a:ext cx="2787480" cy="2330280"/>
            <a:chOff x="7079040" y="2529360"/>
            <a:chExt cx="2787480" cy="2330280"/>
          </a:xfrm>
        </p:grpSpPr>
        <p:grpSp>
          <p:nvGrpSpPr>
            <p:cNvPr id="1892" name="Gruppo 8"/>
            <p:cNvGrpSpPr/>
            <p:nvPr/>
          </p:nvGrpSpPr>
          <p:grpSpPr>
            <a:xfrm>
              <a:off x="7252200" y="2529360"/>
              <a:ext cx="2614320" cy="2330280"/>
              <a:chOff x="7252200" y="2529360"/>
              <a:chExt cx="2614320" cy="2330280"/>
            </a:xfrm>
          </p:grpSpPr>
          <p:sp>
            <p:nvSpPr>
              <p:cNvPr id="1893" name="Figura a mano libera: forma 25"/>
              <p:cNvSpPr/>
              <p:nvPr/>
            </p:nvSpPr>
            <p:spPr>
              <a:xfrm>
                <a:off x="7252200" y="3270960"/>
                <a:ext cx="2614320" cy="84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 w="0">
                <a:solidFill>
                  <a:srgbClr val="a8322c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 anchorCtr="1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en-US" sz="1600" spc="-1" strike="noStrike">
                    <a:solidFill>
                      <a:srgbClr val="ffffff"/>
                    </a:solidFill>
                    <a:latin typeface="Arial Narrow"/>
                    <a:ea typeface="Noto Sans CJK SC"/>
                  </a:rPr>
                  <a:t>PMSIS BSP</a:t>
                </a:r>
                <a:endParaRPr b="0" lang="it-IT" sz="16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en-US" sz="1200" spc="-1" strike="noStrike">
                    <a:solidFill>
                      <a:srgbClr val="ffffff"/>
                    </a:solidFill>
                    <a:latin typeface="Arial Narrow"/>
                    <a:ea typeface="Noto Sans CJK SC"/>
                  </a:rPr>
                  <a:t>hyperram, hyperflash</a:t>
                </a:r>
                <a:endParaRPr b="0" lang="it-IT" sz="1200" spc="-1" strike="noStrike">
                  <a:latin typeface="Arial"/>
                </a:endParaRPr>
              </a:p>
            </p:txBody>
          </p:sp>
          <p:sp>
            <p:nvSpPr>
              <p:cNvPr id="1894" name="Connettore diritto 6"/>
              <p:cNvSpPr/>
              <p:nvPr/>
            </p:nvSpPr>
            <p:spPr>
              <a:xfrm>
                <a:off x="8559720" y="2529360"/>
                <a:ext cx="360" cy="741240"/>
              </a:xfrm>
              <a:custGeom>
                <a:avLst/>
                <a:gdLst/>
                <a:ahLst/>
                <a:rect l="l" t="t" r="r" b="b"/>
                <a:pathLst>
                  <a:path w="35" h="2060">
                    <a:moveTo>
                      <a:pt x="0" y="0"/>
                    </a:moveTo>
                    <a:lnTo>
                      <a:pt x="2" y="206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tailEnd len="med" type="arrow" w="med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95" name="Connettore diritto 7"/>
              <p:cNvSpPr/>
              <p:nvPr/>
            </p:nvSpPr>
            <p:spPr>
              <a:xfrm>
                <a:off x="8559720" y="4118400"/>
                <a:ext cx="360" cy="741240"/>
              </a:xfrm>
              <a:custGeom>
                <a:avLst/>
                <a:gdLst/>
                <a:ahLst/>
                <a:rect l="l" t="t" r="r" b="b"/>
                <a:pathLst>
                  <a:path w="35" h="2060">
                    <a:moveTo>
                      <a:pt x="0" y="0"/>
                    </a:moveTo>
                    <a:lnTo>
                      <a:pt x="2" y="206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tailEnd len="med" type="arrow" w="med"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1896" name="CasellaDiTesto 33"/>
            <p:cNvSpPr/>
            <p:nvPr/>
          </p:nvSpPr>
          <p:spPr>
            <a:xfrm>
              <a:off x="7079040" y="2608200"/>
              <a:ext cx="1412640" cy="57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1600" spc="-1" strike="noStrike">
                  <a:solidFill>
                    <a:srgbClr val="5d5d5d"/>
                  </a:solidFill>
                  <a:latin typeface="Arial Narrow"/>
                  <a:ea typeface="Noto Sans CJK SC"/>
                </a:rPr>
                <a:t>Device features</a:t>
              </a:r>
              <a:endParaRPr b="0" lang="it-IT" sz="16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1600" spc="-1" strike="noStrike">
                  <a:solidFill>
                    <a:srgbClr val="5d5d5d"/>
                  </a:solidFill>
                  <a:latin typeface="Arial Narrow"/>
                  <a:ea typeface="Noto Sans CJK SC"/>
                </a:rPr>
                <a:t>(camera ...)</a:t>
              </a:r>
              <a:endParaRPr b="0" lang="it-IT" sz="16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809" spc="-106" strike="noStrike">
                <a:solidFill>
                  <a:srgbClr val="c00000"/>
                </a:solidFill>
                <a:latin typeface="Calibri"/>
                <a:ea typeface="Roboto"/>
              </a:rPr>
              <a:t>PMSIS: How to Manage a Device Lifecycle</a:t>
            </a:r>
            <a:endParaRPr b="0" lang="it-IT" sz="380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8" name="PlaceHolder 2"/>
          <p:cNvSpPr>
            <a:spLocks noGrp="1"/>
          </p:cNvSpPr>
          <p:nvPr>
            <p:ph/>
          </p:nvPr>
        </p:nvSpPr>
        <p:spPr>
          <a:xfrm>
            <a:off x="316440" y="990720"/>
            <a:ext cx="10667160" cy="5523840"/>
          </a:xfrm>
          <a:prstGeom prst="rect">
            <a:avLst/>
          </a:prstGeom>
          <a:noFill/>
          <a:ln w="0">
            <a:noFill/>
          </a:ln>
        </p:spPr>
        <p:txBody>
          <a:bodyPr lIns="0" rIns="0" tIns="46800" anchor="t">
            <a:noAutofit/>
          </a:bodyPr>
          <a:p>
            <a:pPr marL="343080" indent="-34308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Arial"/>
              <a:buChar char="•"/>
            </a:pPr>
            <a:r>
              <a:rPr b="1" lang="en-GB" sz="2400" spc="-1" strike="noStrike">
                <a:solidFill>
                  <a:srgbClr val="000000"/>
                </a:solidFill>
                <a:latin typeface="Calibri"/>
                <a:ea typeface="Roboto Light"/>
              </a:rPr>
              <a:t>Configuration and initialization (</a:t>
            </a:r>
            <a:r>
              <a:rPr b="1" i="1" lang="en-GB" sz="2400" spc="-1" strike="noStrike">
                <a:solidFill>
                  <a:srgbClr val="000000"/>
                </a:solidFill>
                <a:latin typeface="Calibri"/>
                <a:ea typeface="Roboto Light"/>
              </a:rPr>
              <a:t>device specific</a:t>
            </a:r>
            <a:r>
              <a:rPr b="1" lang="en-GB" sz="2400" spc="-1" strike="noStrike">
                <a:solidFill>
                  <a:srgbClr val="000000"/>
                </a:solidFill>
                <a:latin typeface="Calibri"/>
                <a:ea typeface="Roboto Light"/>
              </a:rPr>
              <a:t>)</a:t>
            </a:r>
            <a:br/>
            <a:r>
              <a:rPr b="1" lang="en-GB" sz="2400" spc="-1" strike="noStrike">
                <a:solidFill>
                  <a:srgbClr val="000000"/>
                </a:solidFill>
                <a:latin typeface="Calibri"/>
                <a:ea typeface="Roboto Light"/>
              </a:rPr>
              <a:t>	</a:t>
            </a:r>
            <a:r>
              <a:rPr b="0" lang="en-GB" sz="2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conf_init()</a:t>
            </a:r>
            <a:br/>
            <a:r>
              <a:rPr b="0" lang="en-GB" sz="2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	</a:t>
            </a:r>
            <a:r>
              <a:rPr b="0" lang="en-GB" sz="2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open_from_conf()</a:t>
            </a:r>
            <a:endParaRPr b="1" lang="it-IT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  <a:tabLst>
                <a:tab algn="l" pos="0"/>
              </a:tabLst>
            </a:pPr>
            <a:endParaRPr b="1" lang="it-IT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Calibri"/>
                <a:ea typeface="Roboto Light"/>
              </a:rPr>
              <a:t>Prepare the device for usage:</a:t>
            </a:r>
            <a:br/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Roboto Light"/>
              </a:rPr>
              <a:t>	</a:t>
            </a:r>
            <a:r>
              <a:rPr b="0" lang="en-GB" sz="2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open()</a:t>
            </a:r>
            <a:endParaRPr b="1" lang="it-IT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  <a:tabLst>
                <a:tab algn="l" pos="0"/>
              </a:tabLst>
            </a:pPr>
            <a:endParaRPr b="1" lang="it-IT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Calibri"/>
                <a:ea typeface="Roboto Light"/>
              </a:rPr>
              <a:t>Perform required operations (</a:t>
            </a:r>
            <a:r>
              <a:rPr b="1" i="1" lang="en-GB" sz="2400" spc="-1" strike="noStrike">
                <a:solidFill>
                  <a:srgbClr val="000000"/>
                </a:solidFill>
                <a:latin typeface="Calibri"/>
                <a:ea typeface="Roboto Light"/>
              </a:rPr>
              <a:t>device specific</a:t>
            </a:r>
            <a:r>
              <a:rPr b="1" lang="en-GB" sz="2400" spc="-1" strike="noStrike">
                <a:solidFill>
                  <a:srgbClr val="000000"/>
                </a:solidFill>
                <a:latin typeface="Calibri"/>
                <a:ea typeface="Roboto Light"/>
              </a:rPr>
              <a:t>)</a:t>
            </a:r>
            <a:endParaRPr b="1" lang="it-IT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  <a:tabLst>
                <a:tab algn="l" pos="0"/>
              </a:tabLst>
            </a:pPr>
            <a:endParaRPr b="1" lang="it-IT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Calibri"/>
                <a:ea typeface="Roboto Light"/>
              </a:rPr>
              <a:t>Release the resources</a:t>
            </a:r>
            <a:br/>
            <a:r>
              <a:rPr b="1" lang="en-GB" sz="2400" spc="-1" strike="noStrike">
                <a:solidFill>
                  <a:srgbClr val="000000"/>
                </a:solidFill>
                <a:latin typeface="Calibri"/>
                <a:ea typeface="Roboto Light"/>
              </a:rPr>
              <a:t>	</a:t>
            </a:r>
            <a:r>
              <a:rPr b="0" lang="en-GB" sz="2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close()</a:t>
            </a:r>
            <a:endParaRPr b="1" lang="it-IT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  <a:tabLst>
                <a:tab algn="l" pos="0"/>
              </a:tabLst>
            </a:pPr>
            <a:endParaRPr b="1" lang="it-IT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9" name="PlaceHolder 3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6A8D31A1-D299-473A-BC10-609007DC6C9A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809" spc="-106" strike="noStrike">
                <a:solidFill>
                  <a:srgbClr val="c00000"/>
                </a:solidFill>
                <a:latin typeface="Calibri"/>
                <a:ea typeface="Roboto"/>
              </a:rPr>
              <a:t>PMSIS: Using the Cluster as a Device</a:t>
            </a:r>
            <a:endParaRPr b="0" lang="it-IT" sz="380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01" name="PlaceHolder 2"/>
          <p:cNvSpPr>
            <a:spLocks noGrp="1"/>
          </p:cNvSpPr>
          <p:nvPr>
            <p:ph/>
          </p:nvPr>
        </p:nvSpPr>
        <p:spPr>
          <a:xfrm>
            <a:off x="335520" y="1278720"/>
            <a:ext cx="10667160" cy="5523840"/>
          </a:xfrm>
          <a:prstGeom prst="rect">
            <a:avLst/>
          </a:prstGeom>
          <a:noFill/>
          <a:ln w="0">
            <a:noFill/>
          </a:ln>
        </p:spPr>
        <p:txBody>
          <a:bodyPr lIns="0" rIns="0" tIns="46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struct pi_device cluster_dev = {0};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struct pi_cluster_conf conf;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struct pi_cluster_task cluster_task = {0};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// task allocation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pi_cluster_task(&amp;cluster_task, </a:t>
            </a:r>
            <a:r>
              <a:rPr b="1" lang="en-US" sz="1400" spc="-1" strike="noStrike">
                <a:solidFill>
                  <a:srgbClr val="c00000"/>
                </a:solidFill>
                <a:latin typeface="Source Code Pro"/>
                <a:ea typeface="Roboto Light"/>
              </a:rPr>
              <a:t>cluster_entry</a:t>
            </a: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, NULL);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// init the cluster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pi_cluster_conf_init(&amp;conf);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pi_open_from_conf(&amp;cluster_dev, &amp;conf);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// open the cluster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if (pi_cluster_open(&amp;cluster_dev)) return -1;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// offload an entry point to the cluster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pi_cluster_send_task_to_cl(&amp;cluster_dev, &amp;cluster_task);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// releasing the cluster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pi_cluster_close(&amp;cluster_dev);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02" name="PlaceHolder 3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EE47ECEA-036F-4BD5-B473-C373D7334DC1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  <p:sp>
        <p:nvSpPr>
          <p:cNvPr id="1903" name="Right Brace 2"/>
          <p:cNvSpPr/>
          <p:nvPr/>
        </p:nvSpPr>
        <p:spPr>
          <a:xfrm>
            <a:off x="6576840" y="1268640"/>
            <a:ext cx="143640" cy="635400"/>
          </a:xfrm>
          <a:prstGeom prst="rightBrace">
            <a:avLst>
              <a:gd name="adj1" fmla="val 38567"/>
              <a:gd name="adj2" fmla="val 50000"/>
            </a:avLst>
          </a:prstGeom>
          <a:noFill/>
          <a:ln>
            <a:solidFill>
              <a:srgbClr val="0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</p:sp>
      <p:sp>
        <p:nvSpPr>
          <p:cNvPr id="1904" name="Right Brace 6"/>
          <p:cNvSpPr/>
          <p:nvPr/>
        </p:nvSpPr>
        <p:spPr>
          <a:xfrm>
            <a:off x="6576840" y="2158560"/>
            <a:ext cx="143640" cy="412560"/>
          </a:xfrm>
          <a:prstGeom prst="rightBrace">
            <a:avLst>
              <a:gd name="adj1" fmla="val 38567"/>
              <a:gd name="adj2" fmla="val 50000"/>
            </a:avLst>
          </a:prstGeom>
          <a:noFill/>
          <a:ln>
            <a:solidFill>
              <a:srgbClr val="0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</p:sp>
      <p:sp>
        <p:nvSpPr>
          <p:cNvPr id="1905" name="Right Brace 7"/>
          <p:cNvSpPr/>
          <p:nvPr/>
        </p:nvSpPr>
        <p:spPr>
          <a:xfrm>
            <a:off x="6576840" y="2878920"/>
            <a:ext cx="143640" cy="503640"/>
          </a:xfrm>
          <a:prstGeom prst="rightBrace">
            <a:avLst>
              <a:gd name="adj1" fmla="val 38567"/>
              <a:gd name="adj2" fmla="val 50000"/>
            </a:avLst>
          </a:prstGeom>
          <a:noFill/>
          <a:ln>
            <a:solidFill>
              <a:srgbClr val="0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</p:sp>
      <p:sp>
        <p:nvSpPr>
          <p:cNvPr id="1906" name="Right Brace 8"/>
          <p:cNvSpPr/>
          <p:nvPr/>
        </p:nvSpPr>
        <p:spPr>
          <a:xfrm>
            <a:off x="6576840" y="4318920"/>
            <a:ext cx="143640" cy="575640"/>
          </a:xfrm>
          <a:prstGeom prst="rightBrace">
            <a:avLst>
              <a:gd name="adj1" fmla="val 38567"/>
              <a:gd name="adj2" fmla="val 50000"/>
            </a:avLst>
          </a:prstGeom>
          <a:noFill/>
          <a:ln>
            <a:solidFill>
              <a:srgbClr val="0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</p:sp>
      <p:sp>
        <p:nvSpPr>
          <p:cNvPr id="1907" name="Right Brace 9"/>
          <p:cNvSpPr/>
          <p:nvPr/>
        </p:nvSpPr>
        <p:spPr>
          <a:xfrm>
            <a:off x="6576840" y="4966920"/>
            <a:ext cx="143640" cy="413280"/>
          </a:xfrm>
          <a:prstGeom prst="rightBrace">
            <a:avLst>
              <a:gd name="adj1" fmla="val 38567"/>
              <a:gd name="adj2" fmla="val 50000"/>
            </a:avLst>
          </a:prstGeom>
          <a:noFill/>
          <a:ln>
            <a:solidFill>
              <a:srgbClr val="0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</p:sp>
      <p:sp>
        <p:nvSpPr>
          <p:cNvPr id="1908" name="TextBox 3"/>
          <p:cNvSpPr/>
          <p:nvPr/>
        </p:nvSpPr>
        <p:spPr>
          <a:xfrm>
            <a:off x="6730560" y="1366560"/>
            <a:ext cx="2261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GB" sz="1800" spc="-1" strike="noStrike">
                <a:solidFill>
                  <a:srgbClr val="000000"/>
                </a:solidFill>
                <a:latin typeface="Calibri"/>
              </a:rPr>
              <a:t>PMSIS data structures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909" name="TextBox 10"/>
          <p:cNvSpPr/>
          <p:nvPr/>
        </p:nvSpPr>
        <p:spPr>
          <a:xfrm>
            <a:off x="6731640" y="2149560"/>
            <a:ext cx="2788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GB" sz="1800" spc="-1" strike="noStrike">
                <a:solidFill>
                  <a:srgbClr val="000000"/>
                </a:solidFill>
                <a:latin typeface="Calibri"/>
              </a:rPr>
              <a:t>Create a task for the cluster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910" name="TextBox 11"/>
          <p:cNvSpPr/>
          <p:nvPr/>
        </p:nvSpPr>
        <p:spPr>
          <a:xfrm>
            <a:off x="6708240" y="2960280"/>
            <a:ext cx="27032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GB" sz="1800" spc="-1" strike="noStrike">
                <a:solidFill>
                  <a:srgbClr val="000000"/>
                </a:solidFill>
                <a:latin typeface="Calibri"/>
              </a:rPr>
              <a:t>Initialize the cluster device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911" name="Right Brace 12"/>
          <p:cNvSpPr/>
          <p:nvPr/>
        </p:nvSpPr>
        <p:spPr>
          <a:xfrm>
            <a:off x="6576840" y="3622320"/>
            <a:ext cx="143640" cy="498960"/>
          </a:xfrm>
          <a:prstGeom prst="rightBrace">
            <a:avLst>
              <a:gd name="adj1" fmla="val 38567"/>
              <a:gd name="adj2" fmla="val 50000"/>
            </a:avLst>
          </a:prstGeom>
          <a:noFill/>
          <a:ln>
            <a:solidFill>
              <a:srgbClr val="0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</p:sp>
      <p:sp>
        <p:nvSpPr>
          <p:cNvPr id="1912" name="TextBox 13"/>
          <p:cNvSpPr/>
          <p:nvPr/>
        </p:nvSpPr>
        <p:spPr>
          <a:xfrm>
            <a:off x="6729840" y="3670920"/>
            <a:ext cx="24152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GB" sz="1800" spc="-1" strike="noStrike">
                <a:solidFill>
                  <a:srgbClr val="000000"/>
                </a:solidFill>
                <a:latin typeface="Calibri"/>
              </a:rPr>
              <a:t>Open the cluster device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913" name="TextBox 14"/>
          <p:cNvSpPr/>
          <p:nvPr/>
        </p:nvSpPr>
        <p:spPr>
          <a:xfrm>
            <a:off x="6697440" y="4390920"/>
            <a:ext cx="2778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GB" sz="1800" spc="-1" strike="noStrike">
                <a:solidFill>
                  <a:srgbClr val="000000"/>
                </a:solidFill>
                <a:latin typeface="Calibri"/>
              </a:rPr>
              <a:t>Execute code on the cluster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914" name="TextBox 15"/>
          <p:cNvSpPr/>
          <p:nvPr/>
        </p:nvSpPr>
        <p:spPr>
          <a:xfrm>
            <a:off x="6728040" y="4966920"/>
            <a:ext cx="2634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GB" sz="1800" spc="-1" strike="noStrike">
                <a:solidFill>
                  <a:srgbClr val="000000"/>
                </a:solidFill>
                <a:latin typeface="Calibri"/>
              </a:rPr>
              <a:t>Release the cluster device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915" name="TextBox 16"/>
          <p:cNvSpPr/>
          <p:nvPr/>
        </p:nvSpPr>
        <p:spPr>
          <a:xfrm>
            <a:off x="4303800" y="2745720"/>
            <a:ext cx="1218960" cy="27288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i="1" lang="en-GB" sz="1200" spc="-1" strike="noStrike">
                <a:solidFill>
                  <a:srgbClr val="ababab"/>
                </a:solidFill>
                <a:latin typeface="Calibri"/>
              </a:rPr>
              <a:t>Function pointer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916" name="Straight Arrow Connector 18"/>
          <p:cNvSpPr/>
          <p:nvPr/>
        </p:nvSpPr>
        <p:spPr>
          <a:xfrm>
            <a:off x="4511880" y="2529720"/>
            <a:ext cx="359640" cy="143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1269b0"/>
            </a:solidFill>
            <a:tailEnd len="med" type="triangle" w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809" spc="-106" strike="noStrike">
                <a:solidFill>
                  <a:srgbClr val="c00000"/>
                </a:solidFill>
                <a:latin typeface="Calibri"/>
                <a:ea typeface="Roboto"/>
              </a:rPr>
              <a:t>Executing on the Cluster: Fork/join + SPMD</a:t>
            </a:r>
            <a:endParaRPr b="0" lang="it-IT" sz="380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18" name="PlaceHolder 2"/>
          <p:cNvSpPr>
            <a:spLocks noGrp="1"/>
          </p:cNvSpPr>
          <p:nvPr>
            <p:ph/>
          </p:nvPr>
        </p:nvSpPr>
        <p:spPr>
          <a:xfrm>
            <a:off x="316440" y="1433160"/>
            <a:ext cx="10667160" cy="5523840"/>
          </a:xfrm>
          <a:prstGeom prst="rect">
            <a:avLst/>
          </a:prstGeom>
          <a:noFill/>
          <a:ln w="0">
            <a:noFill/>
          </a:ln>
        </p:spPr>
        <p:txBody>
          <a:bodyPr lIns="0" rIns="0" tIns="46800" anchor="t">
            <a:noAutofit/>
          </a:bodyPr>
          <a:p>
            <a:pPr>
              <a:lnSpc>
                <a:spcPct val="100000"/>
              </a:lnSpc>
              <a:spcBef>
                <a:spcPts val="1270"/>
              </a:spcBef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static void cluster_entry(void *arg)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{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</a:t>
            </a: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printf("Hello from cluster\n");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</a:t>
            </a: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// ...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  <a:tabLst>
                <a:tab algn="l" pos="0"/>
              </a:tabLst>
            </a:pP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</a:t>
            </a: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pi_cl_team_fork(NUM_CORES, </a:t>
            </a:r>
            <a:r>
              <a:rPr b="1" lang="en-US" sz="1400" spc="-1" strike="noStrike">
                <a:solidFill>
                  <a:srgbClr val="c00000"/>
                </a:solidFill>
                <a:latin typeface="Source Code Pro"/>
                <a:ea typeface="Roboto Light"/>
              </a:rPr>
              <a:t>cluster_fn</a:t>
            </a: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, </a:t>
            </a:r>
            <a:r>
              <a:rPr b="1" lang="en-US" sz="1400" spc="-1" strike="noStrike">
                <a:solidFill>
                  <a:srgbClr val="7e2521"/>
                </a:solidFill>
                <a:latin typeface="Source Code Pro"/>
                <a:ea typeface="Roboto Light"/>
              </a:rPr>
              <a:t>(void *) &amp;args</a:t>
            </a: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);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  <a:tabLst>
                <a:tab algn="l" pos="0"/>
              </a:tabLst>
            </a:pP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</a:t>
            </a: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// ...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}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19" name="PlaceHolder 3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C5F3D294-5942-4727-BD89-099451CC1E79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  <p:sp>
        <p:nvSpPr>
          <p:cNvPr id="1920" name="Right Brace 2"/>
          <p:cNvSpPr/>
          <p:nvPr/>
        </p:nvSpPr>
        <p:spPr>
          <a:xfrm>
            <a:off x="6804720" y="2143440"/>
            <a:ext cx="143640" cy="575640"/>
          </a:xfrm>
          <a:prstGeom prst="rightBrace">
            <a:avLst>
              <a:gd name="adj1" fmla="val 38567"/>
              <a:gd name="adj2" fmla="val 50000"/>
            </a:avLst>
          </a:prstGeom>
          <a:noFill/>
          <a:ln>
            <a:solidFill>
              <a:srgbClr val="0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</p:sp>
      <p:sp>
        <p:nvSpPr>
          <p:cNvPr id="1921" name="Right Brace 6"/>
          <p:cNvSpPr/>
          <p:nvPr/>
        </p:nvSpPr>
        <p:spPr>
          <a:xfrm>
            <a:off x="6804720" y="3327480"/>
            <a:ext cx="143640" cy="287640"/>
          </a:xfrm>
          <a:prstGeom prst="rightBrace">
            <a:avLst>
              <a:gd name="adj1" fmla="val 38567"/>
              <a:gd name="adj2" fmla="val 50000"/>
            </a:avLst>
          </a:prstGeom>
          <a:noFill/>
          <a:ln>
            <a:solidFill>
              <a:srgbClr val="0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</p:sp>
      <p:sp>
        <p:nvSpPr>
          <p:cNvPr id="1922" name="TextBox 3"/>
          <p:cNvSpPr/>
          <p:nvPr/>
        </p:nvSpPr>
        <p:spPr>
          <a:xfrm>
            <a:off x="6920640" y="2246760"/>
            <a:ext cx="1968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GB" sz="1800" spc="-1" strike="noStrike">
                <a:solidFill>
                  <a:srgbClr val="000000"/>
                </a:solidFill>
                <a:latin typeface="Calibri"/>
              </a:rPr>
              <a:t>Executed on core 0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923" name="TextBox 10"/>
          <p:cNvSpPr/>
          <p:nvPr/>
        </p:nvSpPr>
        <p:spPr>
          <a:xfrm>
            <a:off x="6926760" y="3151440"/>
            <a:ext cx="50112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GB" sz="1800" spc="-1" strike="noStrike" u="sng">
                <a:solidFill>
                  <a:srgbClr val="000000"/>
                </a:solidFill>
                <a:uFillTx/>
                <a:latin typeface="Calibri"/>
              </a:rPr>
              <a:t>Fork</a:t>
            </a:r>
            <a:r>
              <a:rPr b="1" lang="en-GB" sz="1800" spc="-1" strike="noStrike">
                <a:solidFill>
                  <a:srgbClr val="000000"/>
                </a:solidFill>
                <a:latin typeface="Calibri"/>
              </a:rPr>
              <a:t> the execution of the </a:t>
            </a:r>
            <a:r>
              <a:rPr b="1" lang="en-GB" sz="1800" spc="-1" strike="noStrike" u="sng">
                <a:solidFill>
                  <a:srgbClr val="000000"/>
                </a:solidFill>
                <a:uFillTx/>
                <a:latin typeface="Calibri"/>
              </a:rPr>
              <a:t>same function </a:t>
            </a:r>
            <a:r>
              <a:rPr b="1" lang="en-GB" sz="1800" spc="-1" strike="noStrike">
                <a:solidFill>
                  <a:srgbClr val="000000"/>
                </a:solidFill>
                <a:latin typeface="Calibri"/>
              </a:rPr>
              <a:t>on NUM_CORES cores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924" name="TextBox 11"/>
          <p:cNvSpPr/>
          <p:nvPr/>
        </p:nvSpPr>
        <p:spPr>
          <a:xfrm>
            <a:off x="6933960" y="4006080"/>
            <a:ext cx="1968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GB" sz="1800" spc="-1" strike="noStrike">
                <a:solidFill>
                  <a:srgbClr val="000000"/>
                </a:solidFill>
                <a:latin typeface="Calibri"/>
              </a:rPr>
              <a:t>Executed on core 0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925" name="TextBox 16"/>
          <p:cNvSpPr/>
          <p:nvPr/>
        </p:nvSpPr>
        <p:spPr>
          <a:xfrm>
            <a:off x="3583800" y="3889080"/>
            <a:ext cx="1218960" cy="27288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i="1" lang="en-GB" sz="1200" spc="-1" strike="noStrike">
                <a:solidFill>
                  <a:srgbClr val="ababab"/>
                </a:solidFill>
                <a:latin typeface="Calibri"/>
              </a:rPr>
              <a:t>Function pointer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926" name="Straight Arrow Connector 18"/>
          <p:cNvSpPr/>
          <p:nvPr/>
        </p:nvSpPr>
        <p:spPr>
          <a:xfrm>
            <a:off x="4008240" y="3614760"/>
            <a:ext cx="215640" cy="222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1269b0"/>
            </a:solidFill>
            <a:tailEnd len="med" type="triangle" w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</p:sp>
      <p:sp>
        <p:nvSpPr>
          <p:cNvPr id="1927" name="Right Brace 17"/>
          <p:cNvSpPr/>
          <p:nvPr/>
        </p:nvSpPr>
        <p:spPr>
          <a:xfrm>
            <a:off x="6804720" y="4046760"/>
            <a:ext cx="143640" cy="287640"/>
          </a:xfrm>
          <a:prstGeom prst="rightBrace">
            <a:avLst>
              <a:gd name="adj1" fmla="val 38567"/>
              <a:gd name="adj2" fmla="val 50000"/>
            </a:avLst>
          </a:prstGeom>
          <a:noFill/>
          <a:ln>
            <a:solidFill>
              <a:srgbClr val="0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</p:sp>
      <p:sp>
        <p:nvSpPr>
          <p:cNvPr id="1928" name="TextBox 19"/>
          <p:cNvSpPr/>
          <p:nvPr/>
        </p:nvSpPr>
        <p:spPr>
          <a:xfrm>
            <a:off x="5106600" y="2791440"/>
            <a:ext cx="982800" cy="27288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i="1" lang="en-GB" sz="1200" spc="-1" strike="noStrike">
                <a:solidFill>
                  <a:srgbClr val="ababab"/>
                </a:solidFill>
                <a:latin typeface="Calibri"/>
              </a:rPr>
              <a:t>Data pointer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929" name="Straight Arrow Connector 20"/>
          <p:cNvSpPr/>
          <p:nvPr/>
        </p:nvSpPr>
        <p:spPr>
          <a:xfrm flipV="1">
            <a:off x="5379120" y="3150720"/>
            <a:ext cx="179280" cy="186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a8322c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809" spc="-106" strike="noStrike">
                <a:solidFill>
                  <a:srgbClr val="c00000"/>
                </a:solidFill>
                <a:latin typeface="Calibri"/>
                <a:ea typeface="Roboto"/>
              </a:rPr>
              <a:t>Synchronization: Barriers and Critical Sections</a:t>
            </a:r>
            <a:endParaRPr b="0" lang="it-IT" sz="380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1" name="PlaceHolder 2"/>
          <p:cNvSpPr>
            <a:spLocks noGrp="1"/>
          </p:cNvSpPr>
          <p:nvPr>
            <p:ph/>
          </p:nvPr>
        </p:nvSpPr>
        <p:spPr>
          <a:xfrm>
            <a:off x="316440" y="1505160"/>
            <a:ext cx="10667160" cy="5523840"/>
          </a:xfrm>
          <a:prstGeom prst="rect">
            <a:avLst/>
          </a:prstGeom>
          <a:noFill/>
          <a:ln w="0">
            <a:noFill/>
          </a:ln>
        </p:spPr>
        <p:txBody>
          <a:bodyPr lIns="0" rIns="0" tIns="46800" anchor="t">
            <a:noAutofit/>
          </a:bodyPr>
          <a:p>
            <a:pPr marL="343080" indent="-34308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Arial"/>
              <a:buChar char="•"/>
            </a:pPr>
            <a:r>
              <a:rPr b="1" lang="en-GB" sz="2540" spc="-1" strike="noStrike">
                <a:solidFill>
                  <a:srgbClr val="000000"/>
                </a:solidFill>
                <a:latin typeface="Calibri"/>
                <a:ea typeface="Roboto Light"/>
              </a:rPr>
              <a:t>Barriers (</a:t>
            </a:r>
            <a:r>
              <a:rPr b="1" i="1" lang="en-GB" sz="2540" spc="-1" strike="noStrike">
                <a:solidFill>
                  <a:srgbClr val="000000"/>
                </a:solidFill>
                <a:latin typeface="Calibri"/>
                <a:ea typeface="Roboto Light"/>
              </a:rPr>
              <a:t>used for intermediate and final join points</a:t>
            </a:r>
            <a:r>
              <a:rPr b="1" lang="en-GB" sz="2540" spc="-1" strike="noStrike">
                <a:solidFill>
                  <a:srgbClr val="000000"/>
                </a:solidFill>
                <a:latin typeface="Calibri"/>
                <a:ea typeface="Roboto Light"/>
              </a:rPr>
              <a:t>):</a:t>
            </a:r>
            <a:br/>
            <a:r>
              <a:rPr b="1" lang="en-GB" sz="2540" spc="-1" strike="noStrike">
                <a:solidFill>
                  <a:srgbClr val="000000"/>
                </a:solidFill>
                <a:latin typeface="Calibri"/>
                <a:ea typeface="Roboto Light"/>
              </a:rPr>
              <a:t>	</a:t>
            </a:r>
            <a:r>
              <a:rPr b="0" lang="it-IT" sz="254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pi_cl_team_barrier();</a:t>
            </a:r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</a:pPr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Arial"/>
              <a:buChar char="•"/>
            </a:pPr>
            <a:r>
              <a:rPr b="1" lang="en-GB" sz="2540" spc="-1" strike="noStrike">
                <a:solidFill>
                  <a:srgbClr val="000000"/>
                </a:solidFill>
                <a:latin typeface="Calibri"/>
                <a:ea typeface="Roboto Light"/>
              </a:rPr>
              <a:t>Critical sections (</a:t>
            </a:r>
            <a:r>
              <a:rPr b="1" i="1" lang="en-GB" sz="2540" spc="-1" strike="noStrike">
                <a:solidFill>
                  <a:srgbClr val="000000"/>
                </a:solidFill>
                <a:latin typeface="Calibri"/>
                <a:ea typeface="Roboto Light"/>
              </a:rPr>
              <a:t>used to avoid critical races</a:t>
            </a:r>
            <a:r>
              <a:rPr b="1" lang="en-GB" sz="2540" spc="-1" strike="noStrike">
                <a:solidFill>
                  <a:srgbClr val="000000"/>
                </a:solidFill>
                <a:latin typeface="Calibri"/>
                <a:ea typeface="Roboto Light"/>
              </a:rPr>
              <a:t>):</a:t>
            </a:r>
            <a:br/>
            <a:r>
              <a:rPr b="1" lang="en-GB" sz="2540" spc="-1" strike="noStrike">
                <a:solidFill>
                  <a:srgbClr val="000000"/>
                </a:solidFill>
                <a:latin typeface="Calibri"/>
                <a:ea typeface="Roboto Light"/>
              </a:rPr>
              <a:t>	</a:t>
            </a:r>
            <a:r>
              <a:rPr b="0" lang="pt-BR" sz="254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pi_cl_team_critical_enter();</a:t>
            </a:r>
            <a:br/>
            <a:r>
              <a:rPr b="0" lang="it-IT" sz="254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	</a:t>
            </a:r>
            <a:r>
              <a:rPr b="0" lang="it-IT" sz="254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// code in the critical section</a:t>
            </a:r>
            <a:br/>
            <a:r>
              <a:rPr b="0" lang="it-IT" sz="254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	</a:t>
            </a:r>
            <a:r>
              <a:rPr b="0" lang="pt-BR" sz="254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pi_cl_team_critical_exit();</a:t>
            </a:r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</a:pPr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</a:pPr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</a:pPr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2" name="PlaceHolder 3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121C135E-8C77-4AA7-9E36-1FEAECF88200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3" name="Picture 2" descr="Docker"/>
          <p:cNvPicPr/>
          <p:nvPr/>
        </p:nvPicPr>
        <p:blipFill>
          <a:blip r:embed="rId1"/>
          <a:stretch/>
        </p:blipFill>
        <p:spPr>
          <a:xfrm>
            <a:off x="9774360" y="58320"/>
            <a:ext cx="2342880" cy="2036520"/>
          </a:xfrm>
          <a:prstGeom prst="rect">
            <a:avLst/>
          </a:prstGeom>
          <a:ln w="0">
            <a:noFill/>
          </a:ln>
        </p:spPr>
      </p:pic>
      <p:sp>
        <p:nvSpPr>
          <p:cNvPr id="1934" name="PlaceHolder 1"/>
          <p:cNvSpPr>
            <a:spLocks noGrp="1"/>
          </p:cNvSpPr>
          <p:nvPr>
            <p:ph type="title"/>
          </p:nvPr>
        </p:nvSpPr>
        <p:spPr>
          <a:xfrm>
            <a:off x="316440" y="5511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3809" spc="-106" strike="noStrike">
                <a:solidFill>
                  <a:srgbClr val="c00000"/>
                </a:solidFill>
                <a:latin typeface="Calibri"/>
                <a:ea typeface="Roboto"/>
              </a:rPr>
              <a:t>Hands-on Part, LAB 01 Recap:</a:t>
            </a:r>
            <a:br/>
            <a:r>
              <a:rPr b="0" lang="en-US" sz="3809" spc="-106" strike="noStrike">
                <a:solidFill>
                  <a:srgbClr val="c00000"/>
                </a:solidFill>
                <a:latin typeface="Calibri"/>
                <a:ea typeface="Roboto"/>
              </a:rPr>
              <a:t>Getting Started: </a:t>
            </a:r>
            <a:r>
              <a:rPr b="0" i="1" lang="en-US" sz="3809" spc="-106" strike="noStrike">
                <a:solidFill>
                  <a:srgbClr val="c00000"/>
                </a:solidFill>
                <a:latin typeface="Calibri"/>
                <a:ea typeface="Roboto"/>
              </a:rPr>
              <a:t>Docker setup</a:t>
            </a:r>
            <a:endParaRPr b="0" lang="it-IT" sz="380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5" name="PlaceHolder 2"/>
          <p:cNvSpPr>
            <a:spLocks noGrp="1"/>
          </p:cNvSpPr>
          <p:nvPr>
            <p:ph/>
          </p:nvPr>
        </p:nvSpPr>
        <p:spPr>
          <a:xfrm>
            <a:off x="316440" y="1700640"/>
            <a:ext cx="10667160" cy="3772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Arial"/>
              <a:buChar char="•"/>
            </a:pPr>
            <a:r>
              <a:rPr b="1" lang="en-US" sz="2540" spc="-1" strike="noStrike">
                <a:solidFill>
                  <a:srgbClr val="000000"/>
                </a:solidFill>
                <a:latin typeface="Source Sans Pro"/>
                <a:ea typeface="Source Sans Pro"/>
              </a:rPr>
              <a:t>How to install:</a:t>
            </a:r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  <a:p>
            <a:pPr lvl="1" marL="571320" indent="-343080">
              <a:lnSpc>
                <a:spcPct val="100000"/>
              </a:lnSpc>
              <a:spcBef>
                <a:spcPts val="635"/>
              </a:spcBef>
              <a:buClr>
                <a:srgbClr val="000000"/>
              </a:buClr>
              <a:buSzPct val="90000"/>
              <a:buFont typeface="Arial"/>
              <a:buChar char="•"/>
            </a:pPr>
            <a:r>
              <a:rPr b="0" lang="en-US" sz="2120" spc="-1" strike="noStrike">
                <a:solidFill>
                  <a:srgbClr val="000000"/>
                </a:solidFill>
                <a:latin typeface="Source Sans Pro"/>
                <a:ea typeface="Source Sans Pro"/>
              </a:rPr>
              <a:t>Install Docker Desktop* - </a:t>
            </a:r>
            <a:r>
              <a:rPr b="0" lang="en-US" sz="2120" spc="-1" strike="noStrike" u="sng">
                <a:solidFill>
                  <a:srgbClr val="007996"/>
                </a:solidFill>
                <a:uFillTx/>
                <a:latin typeface="Source Sans Pro"/>
                <a:ea typeface="Source Sans Pro"/>
                <a:hlinkClick r:id="rId2"/>
              </a:rPr>
              <a:t>https://www.docker.com/products/docker-desktop/</a:t>
            </a:r>
            <a:endParaRPr b="0" lang="it-IT" sz="2120" spc="-1" strike="noStrike">
              <a:solidFill>
                <a:srgbClr val="000000"/>
              </a:solidFill>
              <a:latin typeface="Calibri"/>
            </a:endParaRPr>
          </a:p>
          <a:p>
            <a:pPr marL="990720">
              <a:lnSpc>
                <a:spcPct val="100000"/>
              </a:lnSpc>
              <a:spcBef>
                <a:spcPts val="635"/>
              </a:spcBef>
              <a:buNone/>
              <a:tabLst>
                <a:tab algn="l" pos="0"/>
              </a:tabLst>
            </a:pPr>
            <a:r>
              <a:rPr b="0" lang="en-US" sz="2120" spc="-1" strike="noStrike">
                <a:solidFill>
                  <a:srgbClr val="000000"/>
                </a:solidFill>
                <a:latin typeface="Source Sans Pro"/>
                <a:ea typeface="Source Sans Pro"/>
              </a:rPr>
              <a:t>*For Windows users, it’s recommended to use it through Windows Subsystem for Linux - WSL (</a:t>
            </a:r>
            <a:r>
              <a:rPr b="0" lang="en-US" sz="2120" spc="-1" strike="noStrike" u="sng">
                <a:solidFill>
                  <a:srgbClr val="007996"/>
                </a:solidFill>
                <a:uFillTx/>
                <a:latin typeface="Source Sans Pro"/>
                <a:ea typeface="Source Sans Pro"/>
                <a:hlinkClick r:id="rId3"/>
              </a:rPr>
              <a:t>install instructions</a:t>
            </a:r>
            <a:r>
              <a:rPr b="0" lang="en-US" sz="2120" spc="-1" strike="noStrike">
                <a:solidFill>
                  <a:srgbClr val="000000"/>
                </a:solidFill>
                <a:latin typeface="Source Sans Pro"/>
                <a:ea typeface="Source Sans Pro"/>
              </a:rPr>
              <a:t>); otherwise, it would become quite  computationally-intensive, since it runs through a virtual machine.</a:t>
            </a:r>
            <a:endParaRPr b="1" lang="it-IT" sz="2120" spc="-1" strike="noStrike">
              <a:solidFill>
                <a:srgbClr val="000000"/>
              </a:solidFill>
              <a:latin typeface="Calibri"/>
            </a:endParaRPr>
          </a:p>
          <a:p>
            <a:pPr marL="990720">
              <a:lnSpc>
                <a:spcPct val="100000"/>
              </a:lnSpc>
              <a:spcBef>
                <a:spcPts val="635"/>
              </a:spcBef>
              <a:buNone/>
              <a:tabLst>
                <a:tab algn="l" pos="0"/>
              </a:tabLst>
            </a:pPr>
            <a:endParaRPr b="1" lang="it-IT" sz="2120" spc="-1" strike="noStrike">
              <a:solidFill>
                <a:srgbClr val="000000"/>
              </a:solidFill>
              <a:latin typeface="Calibri"/>
            </a:endParaRPr>
          </a:p>
          <a:p>
            <a:pPr lvl="1" marL="571320" indent="-343080">
              <a:lnSpc>
                <a:spcPct val="100000"/>
              </a:lnSpc>
              <a:spcBef>
                <a:spcPts val="635"/>
              </a:spcBef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2120" spc="-1" strike="noStrike">
                <a:solidFill>
                  <a:srgbClr val="000000"/>
                </a:solidFill>
                <a:latin typeface="Source Sans Pro"/>
                <a:ea typeface="Source Sans Pro"/>
              </a:rPr>
              <a:t>Install VS Code </a:t>
            </a:r>
            <a:r>
              <a:rPr b="0" lang="en-US" sz="2120" spc="-1" strike="noStrike" u="sng">
                <a:solidFill>
                  <a:srgbClr val="007996"/>
                </a:solidFill>
                <a:uFillTx/>
                <a:latin typeface="Source Sans Pro"/>
                <a:ea typeface="Source Sans Pro"/>
                <a:hlinkClick r:id="rId4"/>
              </a:rPr>
              <a:t>https://code.visualstudio.com/</a:t>
            </a:r>
            <a:endParaRPr b="0" lang="it-IT" sz="2120" spc="-1" strike="noStrike">
              <a:solidFill>
                <a:srgbClr val="000000"/>
              </a:solidFill>
              <a:latin typeface="Calibri"/>
            </a:endParaRPr>
          </a:p>
          <a:p>
            <a:endParaRPr b="1" lang="it-IT" sz="2120" spc="-1" strike="noStrike">
              <a:solidFill>
                <a:srgbClr val="000000"/>
              </a:solidFill>
              <a:latin typeface="Calibri"/>
            </a:endParaRPr>
          </a:p>
          <a:p>
            <a:pPr lvl="1" marL="571320" indent="-343080">
              <a:lnSpc>
                <a:spcPct val="100000"/>
              </a:lnSpc>
              <a:spcBef>
                <a:spcPts val="635"/>
              </a:spcBef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2120" spc="-1" strike="noStrike">
                <a:solidFill>
                  <a:srgbClr val="000000"/>
                </a:solidFill>
                <a:latin typeface="Source Sans Pro"/>
                <a:ea typeface="Source Sans Pro"/>
              </a:rPr>
              <a:t>In VS Code, install the Dev Containers extension: </a:t>
            </a:r>
            <a:r>
              <a:rPr b="0" lang="en-US" sz="2120" spc="-1" strike="noStrike" u="sng">
                <a:solidFill>
                  <a:srgbClr val="007996"/>
                </a:solidFill>
                <a:uFillTx/>
                <a:latin typeface="Source Sans Pro"/>
                <a:ea typeface="Source Sans Pro"/>
                <a:hlinkClick r:id="rId5"/>
              </a:rPr>
              <a:t>https://marketplace.visualstudio.com/items?itemName=ms-vscode-remote.remote-containers</a:t>
            </a:r>
            <a:endParaRPr b="0" lang="it-IT" sz="212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6" name="PlaceHolder 3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08FF3194-3196-46FF-ABF1-1E569D81C5B3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PlaceHolder 1"/>
          <p:cNvSpPr>
            <a:spLocks noGrp="1"/>
          </p:cNvSpPr>
          <p:nvPr>
            <p:ph type="title"/>
          </p:nvPr>
        </p:nvSpPr>
        <p:spPr>
          <a:xfrm>
            <a:off x="316440" y="3855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809" spc="-106" strike="noStrike">
                <a:solidFill>
                  <a:srgbClr val="c00000"/>
                </a:solidFill>
                <a:latin typeface="Calibri"/>
                <a:ea typeface="Roboto"/>
              </a:rPr>
              <a:t>Hands-on Part, LAB 01 Recap:</a:t>
            </a:r>
            <a:br/>
            <a:r>
              <a:rPr b="0" lang="en-US" sz="3809" spc="-106" strike="noStrike">
                <a:solidFill>
                  <a:srgbClr val="c00000"/>
                </a:solidFill>
                <a:latin typeface="Calibri"/>
                <a:ea typeface="Roboto"/>
              </a:rPr>
              <a:t>Getting Started: </a:t>
            </a:r>
            <a:r>
              <a:rPr b="0" i="1" lang="en-US" sz="3809" spc="-106" strike="noStrike">
                <a:solidFill>
                  <a:srgbClr val="c00000"/>
                </a:solidFill>
                <a:latin typeface="Calibri"/>
                <a:ea typeface="Roboto"/>
              </a:rPr>
              <a:t>Open project in the Docker container</a:t>
            </a:r>
            <a:endParaRPr b="0" lang="it-IT" sz="380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8" name="PlaceHolder 2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9D66F656-7EAD-4C04-956E-EBAB9DEDE1AE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  <p:sp>
        <p:nvSpPr>
          <p:cNvPr id="1939" name="Rectangle 4"/>
          <p:cNvSpPr/>
          <p:nvPr/>
        </p:nvSpPr>
        <p:spPr>
          <a:xfrm>
            <a:off x="316440" y="1990440"/>
            <a:ext cx="7379640" cy="640440"/>
          </a:xfrm>
          <a:prstGeom prst="rect">
            <a:avLst/>
          </a:prstGeom>
          <a:solidFill>
            <a:schemeClr val="bg2">
              <a:lumMod val="85000"/>
            </a:schemeClr>
          </a:solidFill>
          <a:ln w="28575">
            <a:solidFill>
              <a:srgbClr val="a83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$ git clone https://github.com/EEESlab/HSDES-LAB04-PULP_Parallel_Bare.git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940" name="Text Placeholder 3"/>
          <p:cNvSpPr/>
          <p:nvPr/>
        </p:nvSpPr>
        <p:spPr>
          <a:xfrm>
            <a:off x="7943760" y="3543840"/>
            <a:ext cx="4173480" cy="11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Source Sans Pro"/>
                <a:ea typeface="Source Sans Pro"/>
              </a:rPr>
              <a:t>*In these labs we will always use Git. It is a popular tool, so a useful skill to have. Here is a good </a:t>
            </a:r>
            <a:r>
              <a:rPr b="0" lang="en-US" sz="2000" spc="-1" strike="noStrike" u="sng">
                <a:solidFill>
                  <a:srgbClr val="007996"/>
                </a:solidFill>
                <a:uFillTx/>
                <a:latin typeface="Source Sans Pro"/>
                <a:ea typeface="Source Sans Pro"/>
                <a:hlinkClick r:id="rId1"/>
              </a:rPr>
              <a:t>intro tutorial</a:t>
            </a:r>
            <a:r>
              <a:rPr b="0" lang="en-US" sz="2000" spc="-1" strike="noStrike">
                <a:solidFill>
                  <a:srgbClr val="000000"/>
                </a:solidFill>
                <a:latin typeface="Source Sans Pro"/>
                <a:ea typeface="Source Sans Pro"/>
              </a:rPr>
              <a:t>.</a:t>
            </a:r>
            <a:endParaRPr b="0" lang="it-IT" sz="2000" spc="-1" strike="noStrike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it-IT" sz="2000" spc="-1" strike="noStrike">
              <a:latin typeface="Arial"/>
            </a:endParaRPr>
          </a:p>
        </p:txBody>
      </p:sp>
      <p:pic>
        <p:nvPicPr>
          <p:cNvPr id="1941" name="Picture 2" descr="Git · GitHub"/>
          <p:cNvPicPr/>
          <p:nvPr/>
        </p:nvPicPr>
        <p:blipFill>
          <a:blip r:embed="rId2"/>
          <a:stretch/>
        </p:blipFill>
        <p:spPr>
          <a:xfrm>
            <a:off x="9457200" y="2288160"/>
            <a:ext cx="1146600" cy="1146600"/>
          </a:xfrm>
          <a:prstGeom prst="rect">
            <a:avLst/>
          </a:prstGeom>
          <a:ln w="0">
            <a:noFill/>
          </a:ln>
        </p:spPr>
      </p:pic>
      <p:sp>
        <p:nvSpPr>
          <p:cNvPr id="1942" name="TextBox 12"/>
          <p:cNvSpPr/>
          <p:nvPr/>
        </p:nvSpPr>
        <p:spPr>
          <a:xfrm>
            <a:off x="316440" y="1308960"/>
            <a:ext cx="7229520" cy="59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First steps: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1. Clone* this lab’s project locally (in WSL, if using it)</a:t>
            </a:r>
            <a:endParaRPr b="0" lang="it-IT" sz="2000" spc="-1" strike="noStrike">
              <a:latin typeface="Arial"/>
            </a:endParaRPr>
          </a:p>
        </p:txBody>
      </p:sp>
      <p:sp>
        <p:nvSpPr>
          <p:cNvPr id="1943" name="TextBox 13"/>
          <p:cNvSpPr/>
          <p:nvPr/>
        </p:nvSpPr>
        <p:spPr>
          <a:xfrm>
            <a:off x="367560" y="4345920"/>
            <a:ext cx="7379640" cy="19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At this moment, the project is open in your local “environment”.</a:t>
            </a:r>
            <a:endParaRPr b="0" lang="it-IT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We need to open it in the Docker container. For this, in VS Code:</a:t>
            </a:r>
            <a:endParaRPr b="0" lang="it-IT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1. </a:t>
            </a:r>
            <a:r>
              <a:rPr b="1" lang="en-US" sz="1600" spc="-1" strike="noStrike">
                <a:solidFill>
                  <a:srgbClr val="ff0000"/>
                </a:solidFill>
                <a:latin typeface="Calibri"/>
              </a:rPr>
              <a:t>Press CTRL+Shift+P (open command palette)</a:t>
            </a:r>
            <a:endParaRPr b="0" lang="it-IT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2. </a:t>
            </a:r>
            <a:r>
              <a:rPr b="1" lang="en-US" sz="1600" spc="-1" strike="noStrike">
                <a:solidFill>
                  <a:srgbClr val="ff0000"/>
                </a:solidFill>
                <a:latin typeface="Calibri"/>
              </a:rPr>
              <a:t>Type in “</a:t>
            </a:r>
            <a:r>
              <a:rPr b="1" i="1" lang="en-US" sz="1600" spc="-1" strike="noStrike">
                <a:solidFill>
                  <a:srgbClr val="ff0000"/>
                </a:solidFill>
                <a:latin typeface="Calibri"/>
              </a:rPr>
              <a:t>Dev Containers: Reopen in Container” </a:t>
            </a:r>
            <a:r>
              <a:rPr b="1" lang="en-US" sz="1600" spc="-1" strike="noStrike">
                <a:solidFill>
                  <a:srgbClr val="ff0000"/>
                </a:solidFill>
                <a:latin typeface="Calibri"/>
              </a:rPr>
              <a:t>and press </a:t>
            </a:r>
            <a:r>
              <a:rPr b="1" i="1" lang="en-US" sz="1600" spc="-1" strike="noStrike">
                <a:solidFill>
                  <a:srgbClr val="ff0000"/>
                </a:solidFill>
                <a:latin typeface="Calibri"/>
              </a:rPr>
              <a:t>Enter</a:t>
            </a:r>
            <a:endParaRPr b="0" lang="it-IT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it-IT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We are now inside the container. From now on, when opening VS Code,</a:t>
            </a:r>
            <a:endParaRPr b="0" lang="it-IT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the project will automatically open inside the Docker container.</a:t>
            </a:r>
            <a:endParaRPr b="0" lang="it-IT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* We will also need to use the terminal from VS Code (CTRL+Shift+`) from now on,</a:t>
            </a:r>
            <a:endParaRPr b="0" lang="it-IT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since it is the one accessing inside the running container!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1944" name="TextBox 1"/>
          <p:cNvSpPr/>
          <p:nvPr/>
        </p:nvSpPr>
        <p:spPr>
          <a:xfrm>
            <a:off x="551520" y="2709000"/>
            <a:ext cx="722952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2. Enter the newly created local directory of the project</a:t>
            </a:r>
            <a:endParaRPr b="0" lang="it-IT" sz="2000" spc="-1" strike="noStrike">
              <a:latin typeface="Arial"/>
            </a:endParaRPr>
          </a:p>
        </p:txBody>
      </p:sp>
      <p:sp>
        <p:nvSpPr>
          <p:cNvPr id="1945" name="TextBox 3"/>
          <p:cNvSpPr/>
          <p:nvPr/>
        </p:nvSpPr>
        <p:spPr>
          <a:xfrm>
            <a:off x="551520" y="3528360"/>
            <a:ext cx="7229520" cy="3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3. Open the project in VS Code</a:t>
            </a:r>
            <a:endParaRPr b="0" lang="it-IT" sz="2000" spc="-1" strike="noStrike">
              <a:latin typeface="Arial"/>
            </a:endParaRPr>
          </a:p>
        </p:txBody>
      </p:sp>
      <p:sp>
        <p:nvSpPr>
          <p:cNvPr id="1946" name="Rectangle 6"/>
          <p:cNvSpPr/>
          <p:nvPr/>
        </p:nvSpPr>
        <p:spPr>
          <a:xfrm>
            <a:off x="316440" y="3049920"/>
            <a:ext cx="7379640" cy="366120"/>
          </a:xfrm>
          <a:prstGeom prst="rect">
            <a:avLst/>
          </a:prstGeom>
          <a:solidFill>
            <a:schemeClr val="bg2">
              <a:lumMod val="85000"/>
            </a:schemeClr>
          </a:solidFill>
          <a:ln w="28575">
            <a:solidFill>
              <a:srgbClr val="a83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$ cd HSDES-LAB04-PULP_Parallel_Bare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947" name="Rectangle 7"/>
          <p:cNvSpPr/>
          <p:nvPr/>
        </p:nvSpPr>
        <p:spPr>
          <a:xfrm>
            <a:off x="316440" y="3862440"/>
            <a:ext cx="7379640" cy="366120"/>
          </a:xfrm>
          <a:prstGeom prst="rect">
            <a:avLst/>
          </a:prstGeom>
          <a:solidFill>
            <a:schemeClr val="bg2">
              <a:lumMod val="85000"/>
            </a:schemeClr>
          </a:solidFill>
          <a:ln w="28575">
            <a:solidFill>
              <a:srgbClr val="a83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$ code .</a:t>
            </a:r>
            <a:endParaRPr b="0" lang="it-IT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809" spc="-106" strike="noStrike">
                <a:solidFill>
                  <a:srgbClr val="c00000"/>
                </a:solidFill>
                <a:latin typeface="Calibri"/>
                <a:ea typeface="Roboto"/>
              </a:rPr>
              <a:t>Exercise 01: Vector Addition</a:t>
            </a:r>
            <a:endParaRPr b="0" lang="it-IT" sz="380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49" name="PlaceHolder 2"/>
          <p:cNvSpPr>
            <a:spLocks noGrp="1"/>
          </p:cNvSpPr>
          <p:nvPr>
            <p:ph/>
          </p:nvPr>
        </p:nvSpPr>
        <p:spPr>
          <a:xfrm>
            <a:off x="316440" y="1062720"/>
            <a:ext cx="10667160" cy="5523840"/>
          </a:xfrm>
          <a:prstGeom prst="rect">
            <a:avLst/>
          </a:prstGeom>
          <a:noFill/>
          <a:ln w="0">
            <a:noFill/>
          </a:ln>
        </p:spPr>
        <p:txBody>
          <a:bodyPr lIns="0" rIns="0" tIns="46800" anchor="t">
            <a:noAutofit/>
          </a:bodyPr>
          <a:p>
            <a:pPr marL="304920" indent="-30492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Arial"/>
              <a:buChar char="•"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Roboto Light"/>
              </a:rPr>
              <a:t>Now, take a look at the code and run the function on the cluster!</a:t>
            </a:r>
            <a:endParaRPr b="1" lang="it-IT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50" name="PlaceHolder 3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50BA8E90-D1A0-47A2-A35A-159F6F6E0B6C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  <p:sp>
        <p:nvSpPr>
          <p:cNvPr id="1951" name="Rectangle 4"/>
          <p:cNvSpPr/>
          <p:nvPr/>
        </p:nvSpPr>
        <p:spPr>
          <a:xfrm>
            <a:off x="2481840" y="1849680"/>
            <a:ext cx="6336360" cy="639360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 w="28575">
            <a:solidFill>
              <a:srgbClr val="a83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$ cd 01_vectAddPar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$ make clean all run CORES=1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952" name="Text Placeholder 1"/>
          <p:cNvSpPr/>
          <p:nvPr/>
        </p:nvSpPr>
        <p:spPr>
          <a:xfrm>
            <a:off x="316440" y="3192480"/>
            <a:ext cx="9313200" cy="12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rgbClr val="000000"/>
                </a:solidFill>
                <a:latin typeface="Source Sans Pro"/>
                <a:ea typeface="Source Sans Pro"/>
              </a:rPr>
              <a:t>How many clock cycles does it take SINGLE core ?</a:t>
            </a:r>
            <a:endParaRPr b="0" lang="it-IT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809" spc="-106" strike="noStrike">
                <a:solidFill>
                  <a:srgbClr val="c00000"/>
                </a:solidFill>
                <a:latin typeface="Calibri"/>
                <a:ea typeface="Roboto"/>
              </a:rPr>
              <a:t>Ex. 01 - Method #1</a:t>
            </a:r>
            <a:endParaRPr b="0" lang="it-IT" sz="380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54" name="PlaceHolder 2"/>
          <p:cNvSpPr>
            <a:spLocks noGrp="1"/>
          </p:cNvSpPr>
          <p:nvPr>
            <p:ph/>
          </p:nvPr>
        </p:nvSpPr>
        <p:spPr>
          <a:xfrm>
            <a:off x="316440" y="1361160"/>
            <a:ext cx="10667160" cy="5523840"/>
          </a:xfrm>
          <a:prstGeom prst="rect">
            <a:avLst/>
          </a:prstGeom>
          <a:noFill/>
          <a:ln w="0">
            <a:noFill/>
          </a:ln>
        </p:spPr>
        <p:txBody>
          <a:bodyPr lIns="0" rIns="0" tIns="46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void vectAddPar(int * pSrcA, int  * pSrcB, int * pDstC, int n) {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  </a:t>
            </a: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int i, core_id;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  </a:t>
            </a:r>
            <a:r>
              <a:rPr b="1" lang="en-US" sz="1400" spc="-1" strike="noStrike">
                <a:solidFill>
                  <a:srgbClr val="c00000"/>
                </a:solidFill>
                <a:latin typeface="Source Code Pro"/>
                <a:ea typeface="Roboto Light"/>
              </a:rPr>
              <a:t>core_id = pi_core_id();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  </a:t>
            </a: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for (</a:t>
            </a:r>
            <a:r>
              <a:rPr b="1" lang="en-US" sz="1400" spc="-1" strike="noStrike">
                <a:solidFill>
                  <a:srgbClr val="7e2521"/>
                </a:solidFill>
                <a:latin typeface="Source Code Pro"/>
                <a:ea typeface="Roboto Light"/>
              </a:rPr>
              <a:t>i = core_id</a:t>
            </a: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; i &lt; n; </a:t>
            </a:r>
            <a:r>
              <a:rPr b="1" lang="en-US" sz="1400" spc="-1" strike="noStrike">
                <a:solidFill>
                  <a:srgbClr val="7e2521"/>
                </a:solidFill>
                <a:latin typeface="Source Code Pro"/>
                <a:ea typeface="Roboto Light"/>
              </a:rPr>
              <a:t>i += NUM_CORES</a:t>
            </a: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) {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      </a:t>
            </a: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pDstC[i] = pSrcA[i] + </a:t>
            </a: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pSrcB[i];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  </a:t>
            </a: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}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  </a:t>
            </a:r>
            <a:r>
              <a:rPr b="1" lang="en-US" sz="1400" spc="-1" strike="noStrike">
                <a:solidFill>
                  <a:srgbClr val="c00000"/>
                </a:solidFill>
                <a:latin typeface="Source Code Pro"/>
                <a:ea typeface="Roboto Light"/>
              </a:rPr>
              <a:t>pi_cl_team_barrier();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}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  <a:tabLst>
                <a:tab algn="l" pos="0"/>
              </a:tabLst>
            </a:pP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 marL="304920" indent="-30492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1" lang="en-US" sz="2540" spc="-1" strike="noStrike">
                <a:solidFill>
                  <a:srgbClr val="000000"/>
                </a:solidFill>
                <a:latin typeface="Calibri"/>
                <a:ea typeface="Roboto Light"/>
              </a:rPr>
              <a:t>With NUM_CORES == 4 and n == 16:</a:t>
            </a:r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  <a:p>
            <a:pPr marL="304920" indent="-30492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1" lang="en-US" sz="2540" spc="-1" strike="noStrike">
                <a:solidFill>
                  <a:srgbClr val="000000"/>
                </a:solidFill>
                <a:latin typeface="Calibri"/>
                <a:ea typeface="Roboto Light"/>
              </a:rPr>
              <a:t>Iterations:</a:t>
            </a:r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  <a:p>
            <a:pPr marL="304920" indent="-30492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1" lang="en-US" sz="2540" spc="-1" strike="noStrike">
                <a:solidFill>
                  <a:srgbClr val="000000"/>
                </a:solidFill>
                <a:latin typeface="Calibri"/>
                <a:ea typeface="Roboto Light"/>
              </a:rPr>
              <a:t>Core id:</a:t>
            </a:r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55" name="PlaceHolder 3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7B7A5660-0C0C-429F-B366-C68721E48404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  <p:sp>
        <p:nvSpPr>
          <p:cNvPr id="1956" name="Right Brace 22"/>
          <p:cNvSpPr/>
          <p:nvPr/>
        </p:nvSpPr>
        <p:spPr>
          <a:xfrm>
            <a:off x="5626080" y="1927080"/>
            <a:ext cx="143640" cy="575640"/>
          </a:xfrm>
          <a:prstGeom prst="rightBrace">
            <a:avLst>
              <a:gd name="adj1" fmla="val 38567"/>
              <a:gd name="adj2" fmla="val 50000"/>
            </a:avLst>
          </a:prstGeom>
          <a:noFill/>
          <a:ln>
            <a:solidFill>
              <a:srgbClr val="0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</p:sp>
      <p:sp>
        <p:nvSpPr>
          <p:cNvPr id="1957" name="TextBox 23"/>
          <p:cNvSpPr/>
          <p:nvPr/>
        </p:nvSpPr>
        <p:spPr>
          <a:xfrm>
            <a:off x="5752440" y="1999440"/>
            <a:ext cx="5211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GB" sz="1800" spc="-1" strike="noStrike">
                <a:solidFill>
                  <a:srgbClr val="000000"/>
                </a:solidFill>
                <a:latin typeface="Calibri"/>
              </a:rPr>
              <a:t>Distribute single iterations among the available cores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958" name="Right Brace 24"/>
          <p:cNvSpPr/>
          <p:nvPr/>
        </p:nvSpPr>
        <p:spPr>
          <a:xfrm>
            <a:off x="5663880" y="3254760"/>
            <a:ext cx="143640" cy="318960"/>
          </a:xfrm>
          <a:prstGeom prst="rightBrace">
            <a:avLst>
              <a:gd name="adj1" fmla="val 38567"/>
              <a:gd name="adj2" fmla="val 50000"/>
            </a:avLst>
          </a:prstGeom>
          <a:noFill/>
          <a:ln>
            <a:solidFill>
              <a:srgbClr val="0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</p:sp>
      <p:sp>
        <p:nvSpPr>
          <p:cNvPr id="1959" name="TextBox 25"/>
          <p:cNvSpPr/>
          <p:nvPr/>
        </p:nvSpPr>
        <p:spPr>
          <a:xfrm>
            <a:off x="5762520" y="3214080"/>
            <a:ext cx="5573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GB" sz="1800" spc="-1" strike="noStrike">
                <a:solidFill>
                  <a:srgbClr val="000000"/>
                </a:solidFill>
                <a:latin typeface="Calibri"/>
              </a:rPr>
              <a:t>Stop the execution once all cores have reached this point</a:t>
            </a:r>
            <a:endParaRPr b="0" lang="it-IT" sz="1800" spc="-1" strike="noStrike">
              <a:latin typeface="Arial"/>
            </a:endParaRPr>
          </a:p>
        </p:txBody>
      </p:sp>
      <p:graphicFrame>
        <p:nvGraphicFramePr>
          <p:cNvPr id="1960" name="Table 2"/>
          <p:cNvGraphicFramePr/>
          <p:nvPr/>
        </p:nvGraphicFramePr>
        <p:xfrm>
          <a:off x="2144520" y="5105520"/>
          <a:ext cx="8127720" cy="370440"/>
        </p:xfrm>
        <a:graphic>
          <a:graphicData uri="http://schemas.openxmlformats.org/drawingml/2006/table">
            <a:tbl>
              <a:tblPr/>
              <a:tblGrid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832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961" name="Table 2"/>
          <p:cNvGraphicFramePr/>
          <p:nvPr/>
        </p:nvGraphicFramePr>
        <p:xfrm>
          <a:off x="2144520" y="5609520"/>
          <a:ext cx="8127720" cy="370440"/>
        </p:xfrm>
        <a:graphic>
          <a:graphicData uri="http://schemas.openxmlformats.org/drawingml/2006/table">
            <a:tbl>
              <a:tblPr/>
              <a:tblGrid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832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1919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1919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1919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1919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85eba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85eba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85eba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85eba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1919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1919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1919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1919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85eba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85eba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85eba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85eba4"/>
                    </a:solidFill>
                  </a:tcPr>
                </a:tc>
              </a:tr>
            </a:tbl>
          </a:graphicData>
        </a:graphic>
      </p:graphicFrame>
      <p:sp>
        <p:nvSpPr>
          <p:cNvPr id="1962" name="TextBox 2"/>
          <p:cNvSpPr/>
          <p:nvPr/>
        </p:nvSpPr>
        <p:spPr>
          <a:xfrm>
            <a:off x="488160" y="970560"/>
            <a:ext cx="3312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a8322c"/>
                </a:solidFill>
                <a:latin typeface="Source Code Pro"/>
                <a:ea typeface="Source Code Pro"/>
              </a:rPr>
              <a:t>01_vectAddPar/kernels.c</a:t>
            </a:r>
            <a:endParaRPr b="0" lang="it-IT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809" spc="-106" strike="noStrike">
                <a:solidFill>
                  <a:srgbClr val="c00000"/>
                </a:solidFill>
                <a:latin typeface="Calibri"/>
                <a:ea typeface="Roboto"/>
              </a:rPr>
              <a:t>Ex. 01 - Method #2 - balanced workload</a:t>
            </a:r>
            <a:endParaRPr b="0" lang="it-IT" sz="380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4" name="PlaceHolder 2"/>
          <p:cNvSpPr>
            <a:spLocks noGrp="1"/>
          </p:cNvSpPr>
          <p:nvPr>
            <p:ph/>
          </p:nvPr>
        </p:nvSpPr>
        <p:spPr>
          <a:xfrm>
            <a:off x="316440" y="1361160"/>
            <a:ext cx="10667160" cy="5523840"/>
          </a:xfrm>
          <a:prstGeom prst="rect">
            <a:avLst/>
          </a:prstGeom>
          <a:noFill/>
          <a:ln w="0">
            <a:noFill/>
          </a:ln>
        </p:spPr>
        <p:txBody>
          <a:bodyPr lIns="0" rIns="0" tIns="46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void vectAddPar(int * pSrcA, int  * pSrcB, int * pDstC, int n) {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  </a:t>
            </a: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int i, core_id, i_start, i_end, i_block, i_chunck;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  </a:t>
            </a:r>
            <a:r>
              <a:rPr b="1" lang="en-US" sz="1400" spc="-1" strike="noStrike">
                <a:solidFill>
                  <a:srgbClr val="c00000"/>
                </a:solidFill>
                <a:latin typeface="Source Code Pro"/>
                <a:ea typeface="Roboto Light"/>
              </a:rPr>
              <a:t>core_id = pi_core_id();</a:t>
            </a: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  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7e2521"/>
                </a:solidFill>
                <a:latin typeface="Source Code Pro"/>
                <a:ea typeface="Roboto Light"/>
              </a:rPr>
              <a:t>    </a:t>
            </a:r>
            <a:r>
              <a:rPr b="1" lang="en-US" sz="1400" spc="-1" strike="noStrike">
                <a:solidFill>
                  <a:srgbClr val="7e2521"/>
                </a:solidFill>
                <a:latin typeface="Source Code Pro"/>
                <a:ea typeface="Roboto Light"/>
              </a:rPr>
              <a:t>i_chunk = n / NUM_CORES;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7e2521"/>
                </a:solidFill>
                <a:latin typeface="Source Code Pro"/>
                <a:ea typeface="Roboto Light"/>
              </a:rPr>
              <a:t>    </a:t>
            </a:r>
            <a:r>
              <a:rPr b="1" lang="en-US" sz="1400" spc="-1" strike="noStrike">
                <a:solidFill>
                  <a:srgbClr val="7e2521"/>
                </a:solidFill>
                <a:latin typeface="Source Code Pro"/>
                <a:ea typeface="Roboto Light"/>
              </a:rPr>
              <a:t>i_start = core_id * i_chunk;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7e2521"/>
                </a:solidFill>
                <a:latin typeface="Source Code Pro"/>
                <a:ea typeface="Roboto Light"/>
              </a:rPr>
              <a:t>    </a:t>
            </a:r>
            <a:r>
              <a:rPr b="1" lang="en-US" sz="1400" spc="-1" strike="noStrike">
                <a:solidFill>
                  <a:srgbClr val="7e2521"/>
                </a:solidFill>
                <a:latin typeface="Source Code Pro"/>
                <a:ea typeface="Roboto Light"/>
              </a:rPr>
              <a:t>i_end   = i_start + i_chunk;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c00000"/>
                </a:solidFill>
                <a:latin typeface="Source Code Pro"/>
                <a:ea typeface="Roboto Light"/>
              </a:rPr>
              <a:t>    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  </a:t>
            </a: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for (</a:t>
            </a:r>
            <a:r>
              <a:rPr b="1" lang="en-US" sz="1400" spc="-1" strike="noStrike">
                <a:solidFill>
                  <a:srgbClr val="7e2521"/>
                </a:solidFill>
                <a:latin typeface="Source Code Pro"/>
                <a:ea typeface="Roboto Light"/>
              </a:rPr>
              <a:t>i = i_start</a:t>
            </a: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; </a:t>
            </a:r>
            <a:r>
              <a:rPr b="1" lang="en-US" sz="1400" spc="-1" strike="noStrike">
                <a:solidFill>
                  <a:srgbClr val="7e2521"/>
                </a:solidFill>
                <a:latin typeface="Source Code Pro"/>
                <a:ea typeface="Roboto Light"/>
              </a:rPr>
              <a:t>i &lt; i_end</a:t>
            </a: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; i++) {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     </a:t>
            </a:r>
            <a:r>
              <a:rPr b="1" lang="pl-PL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pDstC[i] =  pSrcA[i] + pSrcB[i];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  </a:t>
            </a: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}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  </a:t>
            </a:r>
            <a:r>
              <a:rPr b="1" lang="en-US" sz="1400" spc="-1" strike="noStrike">
                <a:solidFill>
                  <a:srgbClr val="c00000"/>
                </a:solidFill>
                <a:latin typeface="Source Code Pro"/>
                <a:ea typeface="Roboto Light"/>
              </a:rPr>
              <a:t>pi_cl_team_barrier();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}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  <a:tabLst>
                <a:tab algn="l" pos="0"/>
              </a:tabLst>
            </a:pP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 marL="304920" indent="-30492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1" lang="en-US" sz="2540" spc="-1" strike="noStrike">
                <a:solidFill>
                  <a:srgbClr val="000000"/>
                </a:solidFill>
                <a:latin typeface="Calibri"/>
                <a:ea typeface="Roboto Light"/>
              </a:rPr>
              <a:t>With NUM_CORES == 4 and n == 16:</a:t>
            </a:r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  <a:p>
            <a:pPr marL="304920" indent="-30492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1" lang="en-US" sz="2540" spc="-1" strike="noStrike">
                <a:solidFill>
                  <a:srgbClr val="000000"/>
                </a:solidFill>
                <a:latin typeface="Calibri"/>
                <a:ea typeface="Roboto Light"/>
              </a:rPr>
              <a:t>Iterations:</a:t>
            </a:r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  <a:p>
            <a:pPr marL="304920" indent="-30492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1" lang="en-US" sz="2540" spc="-1" strike="noStrike">
                <a:solidFill>
                  <a:srgbClr val="000000"/>
                </a:solidFill>
                <a:latin typeface="Calibri"/>
                <a:ea typeface="Roboto Light"/>
              </a:rPr>
              <a:t>Core id:</a:t>
            </a:r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5" name="PlaceHolder 3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4456F7F6-E5A8-41DE-BE73-CC6A13D83F88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  <p:graphicFrame>
        <p:nvGraphicFramePr>
          <p:cNvPr id="1966" name="Table 2"/>
          <p:cNvGraphicFramePr/>
          <p:nvPr/>
        </p:nvGraphicFramePr>
        <p:xfrm>
          <a:off x="2135520" y="5146560"/>
          <a:ext cx="8127720" cy="370440"/>
        </p:xfrm>
        <a:graphic>
          <a:graphicData uri="http://schemas.openxmlformats.org/drawingml/2006/table">
            <a:tbl>
              <a:tblPr/>
              <a:tblGrid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832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967" name="Table 2"/>
          <p:cNvGraphicFramePr/>
          <p:nvPr/>
        </p:nvGraphicFramePr>
        <p:xfrm>
          <a:off x="2135520" y="5650560"/>
          <a:ext cx="8127720" cy="370440"/>
        </p:xfrm>
        <a:graphic>
          <a:graphicData uri="http://schemas.openxmlformats.org/drawingml/2006/table">
            <a:tbl>
              <a:tblPr/>
              <a:tblGrid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7960"/>
                <a:gridCol w="50832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1919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1919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1919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1919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85eba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85eba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85eba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85eba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1919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1919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1919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1919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85eba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85eba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85eba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85eba4"/>
                    </a:solidFill>
                  </a:tcPr>
                </a:tc>
              </a:tr>
            </a:tbl>
          </a:graphicData>
        </a:graphic>
      </p:graphicFrame>
      <p:sp>
        <p:nvSpPr>
          <p:cNvPr id="1968" name="Right Brace 9"/>
          <p:cNvSpPr/>
          <p:nvPr/>
        </p:nvSpPr>
        <p:spPr>
          <a:xfrm>
            <a:off x="4871880" y="1845000"/>
            <a:ext cx="143640" cy="791640"/>
          </a:xfrm>
          <a:prstGeom prst="rightBrace">
            <a:avLst>
              <a:gd name="adj1" fmla="val 38567"/>
              <a:gd name="adj2" fmla="val 50000"/>
            </a:avLst>
          </a:prstGeom>
          <a:noFill/>
          <a:ln>
            <a:solidFill>
              <a:srgbClr val="0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</p:sp>
      <p:sp>
        <p:nvSpPr>
          <p:cNvPr id="1969" name="TextBox 10"/>
          <p:cNvSpPr/>
          <p:nvPr/>
        </p:nvSpPr>
        <p:spPr>
          <a:xfrm>
            <a:off x="4996800" y="1906560"/>
            <a:ext cx="46371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GB" sz="1800" spc="-1" strike="noStrike">
                <a:solidFill>
                  <a:srgbClr val="000000"/>
                </a:solidFill>
                <a:latin typeface="Calibri"/>
              </a:rPr>
              <a:t>Split the wokload into adjacent blocks (</a:t>
            </a:r>
            <a:r>
              <a:rPr b="1" i="1" lang="en-GB" sz="1800" spc="-1" strike="noStrike">
                <a:solidFill>
                  <a:srgbClr val="000000"/>
                </a:solidFill>
                <a:latin typeface="Calibri"/>
              </a:rPr>
              <a:t>chunks</a:t>
            </a:r>
            <a:r>
              <a:rPr b="1" lang="en-GB" sz="1800" spc="-1" strike="noStrike">
                <a:solidFill>
                  <a:srgbClr val="000000"/>
                </a:solidFill>
                <a:latin typeface="Calibri"/>
              </a:rPr>
              <a:t>)</a:t>
            </a:r>
            <a:br/>
            <a:r>
              <a:rPr b="1" lang="en-GB" sz="1800" spc="-1" strike="noStrike">
                <a:solidFill>
                  <a:srgbClr val="000000"/>
                </a:solidFill>
                <a:latin typeface="Calibri"/>
              </a:rPr>
              <a:t>and compute their bounds [i_start, i_end)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970" name="TextBox 2"/>
          <p:cNvSpPr/>
          <p:nvPr/>
        </p:nvSpPr>
        <p:spPr>
          <a:xfrm>
            <a:off x="479520" y="970560"/>
            <a:ext cx="3312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a8322c"/>
                </a:solidFill>
                <a:latin typeface="Source Code Pro"/>
                <a:ea typeface="Source Code Pro"/>
              </a:rPr>
              <a:t>01_vectAddPar/kernels.c</a:t>
            </a:r>
            <a:endParaRPr b="0" lang="it-IT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809" spc="-106" strike="noStrike">
                <a:solidFill>
                  <a:srgbClr val="c00000"/>
                </a:solidFill>
                <a:latin typeface="Calibri"/>
                <a:ea typeface="Roboto"/>
              </a:rPr>
              <a:t>Ex. 01 - Method #2 - generic workload</a:t>
            </a:r>
            <a:endParaRPr b="0" lang="it-IT" sz="380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2" name="PlaceHolder 2"/>
          <p:cNvSpPr>
            <a:spLocks noGrp="1"/>
          </p:cNvSpPr>
          <p:nvPr>
            <p:ph/>
          </p:nvPr>
        </p:nvSpPr>
        <p:spPr>
          <a:xfrm>
            <a:off x="316440" y="1361160"/>
            <a:ext cx="10667160" cy="5523840"/>
          </a:xfrm>
          <a:prstGeom prst="rect">
            <a:avLst/>
          </a:prstGeom>
          <a:noFill/>
          <a:ln w="0">
            <a:noFill/>
          </a:ln>
        </p:spPr>
        <p:txBody>
          <a:bodyPr lIns="0" rIns="0" tIns="46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void vectAddPar(int * pSrcA, int  * pSrcB, int * pDstC, int n) {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  </a:t>
            </a: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uint32_t i, core_id, i_chunk, i_start, i_end, i_block;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  </a:t>
            </a:r>
            <a:r>
              <a:rPr b="1" lang="en-US" sz="1400" spc="-1" strike="noStrike">
                <a:solidFill>
                  <a:srgbClr val="c00000"/>
                </a:solidFill>
                <a:latin typeface="Source Code Pro"/>
                <a:ea typeface="Roboto Light"/>
              </a:rPr>
              <a:t>core_id = pi_core_id();</a:t>
            </a: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  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7e2521"/>
                </a:solidFill>
                <a:latin typeface="Source Code Pro"/>
                <a:ea typeface="Roboto Light"/>
              </a:rPr>
              <a:t>    </a:t>
            </a:r>
            <a:r>
              <a:rPr b="1" lang="en-US" sz="1400" spc="-1" strike="noStrike">
                <a:solidFill>
                  <a:srgbClr val="7e2521"/>
                </a:solidFill>
                <a:latin typeface="Source Code Pro"/>
                <a:ea typeface="Roboto Light"/>
              </a:rPr>
              <a:t>i_chunk = (n + NUM_CORES – 1) / NUM_CORES;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7e2521"/>
                </a:solidFill>
                <a:latin typeface="Source Code Pro"/>
                <a:ea typeface="Roboto Light"/>
              </a:rPr>
              <a:t>    </a:t>
            </a:r>
            <a:r>
              <a:rPr b="1" lang="en-US" sz="1400" spc="-1" strike="noStrike">
                <a:solidFill>
                  <a:srgbClr val="7e2521"/>
                </a:solidFill>
                <a:latin typeface="Source Code Pro"/>
                <a:ea typeface="Roboto Light"/>
              </a:rPr>
              <a:t>i_start = core_id * i_chunk;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7e2521"/>
                </a:solidFill>
                <a:latin typeface="Source Code Pro"/>
                <a:ea typeface="Roboto Light"/>
              </a:rPr>
              <a:t>    </a:t>
            </a:r>
            <a:r>
              <a:rPr b="1" lang="en-US" sz="1400" spc="-1" strike="noStrike">
                <a:solidFill>
                  <a:srgbClr val="7e2521"/>
                </a:solidFill>
                <a:latin typeface="Source Code Pro"/>
                <a:ea typeface="Roboto Light"/>
              </a:rPr>
              <a:t>i_end   = i_start + i_chunk &lt; n? i_start + i_chunk : n;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c00000"/>
                </a:solidFill>
                <a:latin typeface="Source Code Pro"/>
                <a:ea typeface="Roboto Light"/>
              </a:rPr>
              <a:t>    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  </a:t>
            </a: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for (</a:t>
            </a:r>
            <a:r>
              <a:rPr b="1" lang="en-US" sz="1400" spc="-1" strike="noStrike">
                <a:solidFill>
                  <a:srgbClr val="7e2521"/>
                </a:solidFill>
                <a:latin typeface="Source Code Pro"/>
                <a:ea typeface="Roboto Light"/>
              </a:rPr>
              <a:t>i = i_start</a:t>
            </a: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; </a:t>
            </a:r>
            <a:r>
              <a:rPr b="1" lang="en-US" sz="1400" spc="-1" strike="noStrike">
                <a:solidFill>
                  <a:srgbClr val="7e2521"/>
                </a:solidFill>
                <a:latin typeface="Source Code Pro"/>
                <a:ea typeface="Roboto Light"/>
              </a:rPr>
              <a:t>i &lt; i_end</a:t>
            </a: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; i++) {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     </a:t>
            </a:r>
            <a:r>
              <a:rPr b="1" lang="pl-PL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pDstC[i] =  pSrcA[i] + pSrcB[i];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  </a:t>
            </a: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}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  </a:t>
            </a:r>
            <a:r>
              <a:rPr b="1" lang="en-US" sz="1400" spc="-1" strike="noStrike">
                <a:solidFill>
                  <a:srgbClr val="c00000"/>
                </a:solidFill>
                <a:latin typeface="Source Code Pro"/>
                <a:ea typeface="Roboto Light"/>
              </a:rPr>
              <a:t>pi_cl_team_barrier();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}</a:t>
            </a: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  <a:tabLst>
                <a:tab algn="l" pos="0"/>
              </a:tabLst>
            </a:pPr>
            <a:endParaRPr b="1" lang="it-IT" sz="1400" spc="-1" strike="noStrike">
              <a:solidFill>
                <a:srgbClr val="000000"/>
              </a:solidFill>
              <a:latin typeface="Calibri"/>
            </a:endParaRPr>
          </a:p>
          <a:p>
            <a:pPr marL="304920" indent="-30492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1" lang="en-US" sz="2540" spc="-1" strike="noStrike">
                <a:solidFill>
                  <a:srgbClr val="000000"/>
                </a:solidFill>
                <a:latin typeface="Calibri"/>
                <a:ea typeface="Roboto Light"/>
              </a:rPr>
              <a:t>With NUM_CORES == 4 and n == 18:</a:t>
            </a:r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  <a:p>
            <a:pPr marL="304920" indent="-30492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1" lang="en-US" sz="2540" spc="-1" strike="noStrike">
                <a:solidFill>
                  <a:srgbClr val="000000"/>
                </a:solidFill>
                <a:latin typeface="Calibri"/>
                <a:ea typeface="Roboto Light"/>
              </a:rPr>
              <a:t>Iterations:</a:t>
            </a:r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  <a:p>
            <a:pPr marL="304920" indent="-30492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1" lang="en-US" sz="2540" spc="-1" strike="noStrike">
                <a:solidFill>
                  <a:srgbClr val="000000"/>
                </a:solidFill>
                <a:latin typeface="Calibri"/>
                <a:ea typeface="Roboto Light"/>
              </a:rPr>
              <a:t>Core id:</a:t>
            </a:r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3" name="PlaceHolder 3"/>
          <p:cNvSpPr>
            <a:spLocks noGrp="1"/>
          </p:cNvSpPr>
          <p:nvPr>
            <p:ph type="sldNum"/>
          </p:nvPr>
        </p:nvSpPr>
        <p:spPr>
          <a:xfrm>
            <a:off x="11546280" y="648504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7C8C7C08-9FCA-4268-B2EA-4288D0035DD6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  <p:graphicFrame>
        <p:nvGraphicFramePr>
          <p:cNvPr id="1974" name="Table 2"/>
          <p:cNvGraphicFramePr/>
          <p:nvPr/>
        </p:nvGraphicFramePr>
        <p:xfrm>
          <a:off x="2206800" y="5095440"/>
          <a:ext cx="8127720" cy="370440"/>
        </p:xfrm>
        <a:graphic>
          <a:graphicData uri="http://schemas.openxmlformats.org/drawingml/2006/table">
            <a:tbl>
              <a:tblPr/>
              <a:tblGrid>
                <a:gridCol w="451440"/>
                <a:gridCol w="451440"/>
                <a:gridCol w="451440"/>
                <a:gridCol w="451440"/>
                <a:gridCol w="451440"/>
                <a:gridCol w="451440"/>
                <a:gridCol w="451440"/>
                <a:gridCol w="451440"/>
                <a:gridCol w="451440"/>
                <a:gridCol w="451440"/>
                <a:gridCol w="451440"/>
                <a:gridCol w="451440"/>
                <a:gridCol w="451440"/>
                <a:gridCol w="451440"/>
                <a:gridCol w="451440"/>
                <a:gridCol w="451440"/>
                <a:gridCol w="451440"/>
                <a:gridCol w="45324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975" name="Table 2"/>
          <p:cNvGraphicFramePr/>
          <p:nvPr/>
        </p:nvGraphicFramePr>
        <p:xfrm>
          <a:off x="2216520" y="5671800"/>
          <a:ext cx="8127720" cy="370440"/>
        </p:xfrm>
        <a:graphic>
          <a:graphicData uri="http://schemas.openxmlformats.org/drawingml/2006/table">
            <a:tbl>
              <a:tblPr/>
              <a:tblGrid>
                <a:gridCol w="451440"/>
                <a:gridCol w="451440"/>
                <a:gridCol w="451440"/>
                <a:gridCol w="451440"/>
                <a:gridCol w="451440"/>
                <a:gridCol w="451440"/>
                <a:gridCol w="451440"/>
                <a:gridCol w="451440"/>
                <a:gridCol w="451440"/>
                <a:gridCol w="451440"/>
                <a:gridCol w="451440"/>
                <a:gridCol w="451440"/>
                <a:gridCol w="451440"/>
                <a:gridCol w="451440"/>
                <a:gridCol w="451440"/>
                <a:gridCol w="451440"/>
                <a:gridCol w="451440"/>
                <a:gridCol w="45324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1919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1919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1919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1919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1919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85eba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85eba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85eba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85eba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85eba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85eba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85eba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b="0" lang="it-IT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85eba4"/>
                    </a:solidFill>
                  </a:tcPr>
                </a:tc>
              </a:tr>
            </a:tbl>
          </a:graphicData>
        </a:graphic>
      </p:graphicFrame>
      <p:sp>
        <p:nvSpPr>
          <p:cNvPr id="1976" name="Right Brace 6"/>
          <p:cNvSpPr/>
          <p:nvPr/>
        </p:nvSpPr>
        <p:spPr>
          <a:xfrm>
            <a:off x="6840360" y="1927080"/>
            <a:ext cx="143640" cy="791640"/>
          </a:xfrm>
          <a:prstGeom prst="rightBrace">
            <a:avLst>
              <a:gd name="adj1" fmla="val 38567"/>
              <a:gd name="adj2" fmla="val 50000"/>
            </a:avLst>
          </a:prstGeom>
          <a:noFill/>
          <a:ln>
            <a:solidFill>
              <a:srgbClr val="0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</p:sp>
      <p:sp>
        <p:nvSpPr>
          <p:cNvPr id="1977" name="TextBox 7"/>
          <p:cNvSpPr/>
          <p:nvPr/>
        </p:nvSpPr>
        <p:spPr>
          <a:xfrm>
            <a:off x="6912360" y="2000160"/>
            <a:ext cx="52790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1" lang="en-GB" sz="1800" spc="-1" strike="noStrike">
                <a:solidFill>
                  <a:srgbClr val="000000"/>
                </a:solidFill>
                <a:latin typeface="Calibri"/>
              </a:rPr>
              <a:t>Integer division with rounding towards infinity (1)</a:t>
            </a:r>
            <a:endParaRPr b="0" lang="it-IT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1" lang="en-GB" sz="1800" spc="-1" strike="noStrike">
                <a:solidFill>
                  <a:srgbClr val="000000"/>
                </a:solidFill>
                <a:latin typeface="Calibri"/>
              </a:rPr>
              <a:t>Check the upper bound of the iteration space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978" name="TextBox 2"/>
          <p:cNvSpPr/>
          <p:nvPr/>
        </p:nvSpPr>
        <p:spPr>
          <a:xfrm>
            <a:off x="8256240" y="3511440"/>
            <a:ext cx="28404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it-IT" sz="2400" spc="-1" strike="noStrike">
                <a:solidFill>
                  <a:srgbClr val="000000"/>
                </a:solidFill>
                <a:latin typeface="Calibri"/>
              </a:rPr>
              <a:t>(1)  </a:t>
            </a:r>
            <a:endParaRPr b="0" lang="it-IT" sz="2400" spc="-1" strike="noStrike">
              <a:latin typeface="Arial"/>
            </a:endParaRPr>
          </a:p>
        </p:txBody>
      </p:sp>
      <p:sp>
        <p:nvSpPr>
          <p:cNvPr id="1979" name="TextBox 3"/>
          <p:cNvSpPr/>
          <p:nvPr/>
        </p:nvSpPr>
        <p:spPr>
          <a:xfrm>
            <a:off x="488160" y="970560"/>
            <a:ext cx="3312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a8322c"/>
                </a:solidFill>
                <a:latin typeface="Source Code Pro"/>
                <a:ea typeface="Source Code Pro"/>
              </a:rPr>
              <a:t>01_vectAddPar/kernels.c</a:t>
            </a:r>
            <a:endParaRPr b="0" lang="it-IT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809" spc="-106" strike="noStrike">
                <a:solidFill>
                  <a:srgbClr val="c00000"/>
                </a:solidFill>
                <a:latin typeface="Calibri"/>
                <a:ea typeface="Roboto"/>
              </a:rPr>
              <a:t>Ex. 01 - Parallel Vector Add - Try on your own</a:t>
            </a:r>
            <a:endParaRPr b="0" lang="it-IT" sz="380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1" name="PlaceHolder 2"/>
          <p:cNvSpPr>
            <a:spLocks noGrp="1"/>
          </p:cNvSpPr>
          <p:nvPr>
            <p:ph/>
          </p:nvPr>
        </p:nvSpPr>
        <p:spPr>
          <a:xfrm>
            <a:off x="316440" y="1124640"/>
            <a:ext cx="10667160" cy="5523840"/>
          </a:xfrm>
          <a:prstGeom prst="rect">
            <a:avLst/>
          </a:prstGeom>
          <a:noFill/>
          <a:ln w="0">
            <a:noFill/>
          </a:ln>
        </p:spPr>
        <p:txBody>
          <a:bodyPr lIns="0" rIns="0" tIns="46800" anchor="t">
            <a:noAutofit/>
          </a:bodyPr>
          <a:p>
            <a:pPr marL="304920" indent="-30492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Arial"/>
              <a:buChar char="•"/>
            </a:pPr>
            <a:r>
              <a:rPr b="1" lang="en-US" sz="2540" spc="-1" strike="noStrike">
                <a:solidFill>
                  <a:srgbClr val="000000"/>
                </a:solidFill>
                <a:latin typeface="Calibri"/>
                <a:ea typeface="Roboto Light"/>
              </a:rPr>
              <a:t>Apply the parallelization strategies by adapting the </a:t>
            </a:r>
            <a:r>
              <a:rPr b="1" i="1" lang="en-US" sz="2540" spc="-1" strike="noStrike">
                <a:solidFill>
                  <a:srgbClr val="000000"/>
                </a:solidFill>
                <a:latin typeface="Calibri"/>
                <a:ea typeface="Roboto Light"/>
              </a:rPr>
              <a:t>vectAddPar</a:t>
            </a:r>
            <a:r>
              <a:rPr b="1" lang="en-US" sz="2540" spc="-1" strike="noStrike">
                <a:solidFill>
                  <a:srgbClr val="000000"/>
                </a:solidFill>
                <a:latin typeface="Calibri"/>
                <a:ea typeface="Roboto Light"/>
              </a:rPr>
              <a:t> function.</a:t>
            </a:r>
            <a:endParaRPr b="1" lang="it-IT" sz="2540" spc="-1" strike="noStrike">
              <a:solidFill>
                <a:srgbClr val="000000"/>
              </a:solidFill>
              <a:latin typeface="Calibri"/>
            </a:endParaRPr>
          </a:p>
          <a:p>
            <a:pPr marL="304920" indent="-30492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Arial"/>
              <a:buChar char="•"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Roboto Light"/>
              </a:rPr>
              <a:t>Run the code with different values of CORES = {2, 4, 8}</a:t>
            </a:r>
            <a:endParaRPr b="1" lang="it-IT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Arial"/>
              <a:buChar char="•"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Roboto Light"/>
              </a:rPr>
              <a:t>Make sure the checksum output is correct.</a:t>
            </a:r>
            <a:endParaRPr b="1" lang="it-IT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Arial"/>
              <a:buChar char="•"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Roboto Light"/>
              </a:rPr>
              <a:t>Measure the number of clock cycles and compute the parallel speedup= </a:t>
            </a:r>
            <a:endParaRPr b="1" lang="it-IT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</a:pPr>
            <a:endParaRPr b="1" lang="it-IT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2" name="PlaceHolder 3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A145864D-10BB-463B-AA45-2D8166A26B38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  <p:sp>
        <p:nvSpPr>
          <p:cNvPr id="1983" name="Rectangle 3"/>
          <p:cNvSpPr/>
          <p:nvPr/>
        </p:nvSpPr>
        <p:spPr>
          <a:xfrm>
            <a:off x="2927520" y="3865680"/>
            <a:ext cx="6336360" cy="913680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 w="28575">
            <a:solidFill>
              <a:srgbClr val="a83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$ make clean all run CORES=2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$ make clean all run CORES=4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$ make clean all run CORES=8</a:t>
            </a:r>
            <a:endParaRPr b="0" lang="it-IT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809" spc="-106" strike="noStrike">
                <a:solidFill>
                  <a:srgbClr val="c00000"/>
                </a:solidFill>
                <a:latin typeface="Calibri"/>
                <a:ea typeface="Roboto"/>
              </a:rPr>
              <a:t>Exercise 02 - Parallelize a Matrix Multiplication Kernel</a:t>
            </a:r>
            <a:endParaRPr b="0" lang="it-IT" sz="380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5" name="PlaceHolder 2"/>
          <p:cNvSpPr>
            <a:spLocks noGrp="1"/>
          </p:cNvSpPr>
          <p:nvPr>
            <p:ph/>
          </p:nvPr>
        </p:nvSpPr>
        <p:spPr>
          <a:xfrm>
            <a:off x="316440" y="990720"/>
            <a:ext cx="10667160" cy="5523840"/>
          </a:xfrm>
          <a:prstGeom prst="rect">
            <a:avLst/>
          </a:prstGeom>
          <a:noFill/>
          <a:ln w="0">
            <a:noFill/>
          </a:ln>
        </p:spPr>
        <p:txBody>
          <a:bodyPr lIns="0" rIns="0" tIns="46800" anchor="t">
            <a:noAutofit/>
          </a:bodyPr>
          <a:p>
            <a:pPr marL="304920" indent="-30492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Arial"/>
              <a:buChar char="•"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Roboto Light"/>
              </a:rPr>
              <a:t>This example is a “template” containing the code to run a matrix multiplication on the cluster. However, this is not optimized:</a:t>
            </a:r>
            <a:endParaRPr b="1" lang="it-IT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</a:pPr>
            <a:endParaRPr b="1" lang="it-IT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</a:pPr>
            <a:endParaRPr b="1" lang="it-IT" sz="2400" spc="-1" strike="noStrike">
              <a:solidFill>
                <a:srgbClr val="000000"/>
              </a:solidFill>
              <a:latin typeface="Calibri"/>
            </a:endParaRPr>
          </a:p>
          <a:p>
            <a:pPr marL="304920" indent="-30492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Arial"/>
              <a:buChar char="•"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Roboto Light"/>
              </a:rPr>
              <a:t>Your task is to parallelize the code, using methods similar to the previous exercise.</a:t>
            </a:r>
            <a:endParaRPr b="1" lang="it-IT" sz="2400" spc="-1" strike="noStrike">
              <a:solidFill>
                <a:srgbClr val="000000"/>
              </a:solidFill>
              <a:latin typeface="Calibri"/>
            </a:endParaRPr>
          </a:p>
          <a:p>
            <a:pPr marL="304920" indent="-30492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Arial"/>
              <a:buChar char="•"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Roboto Light"/>
              </a:rPr>
              <a:t>Measure the speed up and collect the performance statistics!</a:t>
            </a:r>
            <a:endParaRPr b="1" lang="it-IT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Arial"/>
              <a:buChar char="•"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Roboto Light"/>
              </a:rPr>
              <a:t>Is the speed up ideal? If not, why?</a:t>
            </a:r>
            <a:endParaRPr b="1" lang="it-IT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</a:pPr>
            <a:endParaRPr b="1" lang="it-IT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6" name="PlaceHolder 3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2390321B-C0E9-4F88-9829-DCB1DCFE15CB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  <p:sp>
        <p:nvSpPr>
          <p:cNvPr id="1987" name="Rectangle 3"/>
          <p:cNvSpPr/>
          <p:nvPr/>
        </p:nvSpPr>
        <p:spPr>
          <a:xfrm>
            <a:off x="2927520" y="1992240"/>
            <a:ext cx="6336360" cy="639360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 w="28575">
            <a:solidFill>
              <a:srgbClr val="a83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$ cd ../02_matrixMulPar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$ make clean all run CORES=1</a:t>
            </a:r>
            <a:endParaRPr b="0" lang="it-IT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110780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809" spc="-106" strike="noStrike">
                <a:solidFill>
                  <a:srgbClr val="c00000"/>
                </a:solidFill>
                <a:latin typeface="Calibri"/>
                <a:ea typeface="Roboto"/>
              </a:rPr>
              <a:t>Exercise 03: Parallelize an algorithm with data dependencies</a:t>
            </a:r>
            <a:endParaRPr b="0" lang="it-IT" sz="380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9" name="PlaceHolder 2"/>
          <p:cNvSpPr>
            <a:spLocks noGrp="1"/>
          </p:cNvSpPr>
          <p:nvPr>
            <p:ph/>
          </p:nvPr>
        </p:nvSpPr>
        <p:spPr>
          <a:xfrm>
            <a:off x="316440" y="990720"/>
            <a:ext cx="11035800" cy="5523840"/>
          </a:xfrm>
          <a:prstGeom prst="rect">
            <a:avLst/>
          </a:prstGeom>
          <a:noFill/>
          <a:ln w="0">
            <a:noFill/>
          </a:ln>
        </p:spPr>
        <p:txBody>
          <a:bodyPr lIns="0" rIns="0" tIns="46800" anchor="t">
            <a:noAutofit/>
          </a:bodyPr>
          <a:p>
            <a:pPr marL="457200" indent="-45720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Calibri"/>
              <a:buAutoNum type="arabicPeriod"/>
            </a:pPr>
            <a:r>
              <a:rPr b="1" lang="en-GB" sz="2000" spc="-1" strike="noStrike">
                <a:solidFill>
                  <a:srgbClr val="000000"/>
                </a:solidFill>
                <a:latin typeface="Calibri"/>
                <a:ea typeface="Roboto Light"/>
              </a:rPr>
              <a:t>Create a new application using the previous exercises as templates, and rename it “03_computePi”</a:t>
            </a:r>
            <a:endParaRPr b="1" lang="it-IT" sz="2000" spc="-1" strike="noStrike">
              <a:solidFill>
                <a:srgbClr val="000000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Calibri"/>
              <a:buAutoNum type="arabicPeriod"/>
            </a:pPr>
            <a:r>
              <a:rPr b="1" lang="en-GB" sz="2000" spc="-1" strike="noStrike">
                <a:solidFill>
                  <a:srgbClr val="000000"/>
                </a:solidFill>
                <a:latin typeface="Calibri"/>
                <a:ea typeface="Roboto Light"/>
              </a:rPr>
              <a:t>Test the sequential code and print the result!</a:t>
            </a:r>
            <a:br/>
            <a:br/>
            <a:r>
              <a:rPr b="0" lang="en-GB" sz="20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float iterative_pi(int n) {</a:t>
            </a:r>
            <a:br/>
            <a:r>
              <a:rPr b="0" lang="en-GB" sz="20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float x, </a:t>
            </a:r>
            <a:r>
              <a:rPr b="0" lang="en-GB" sz="2000" spc="-1" strike="noStrike">
                <a:solidFill>
                  <a:srgbClr val="1269b0"/>
                </a:solidFill>
                <a:latin typeface="Source Code Pro"/>
                <a:ea typeface="Roboto Light"/>
              </a:rPr>
              <a:t>area=0.0f</a:t>
            </a:r>
            <a:r>
              <a:rPr b="0" lang="en-GB" sz="20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;</a:t>
            </a:r>
            <a:br/>
            <a:r>
              <a:rPr b="0" lang="en-GB" sz="20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int i;</a:t>
            </a:r>
            <a:br/>
            <a:r>
              <a:rPr b="0" lang="en-GB" sz="20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for(i=0; i&lt;n; i++) {</a:t>
            </a:r>
            <a:br/>
            <a:r>
              <a:rPr b="0" lang="en-GB" sz="20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  x = (i + 0.5f)/n;</a:t>
            </a:r>
            <a:br/>
            <a:r>
              <a:rPr b="0" lang="en-GB" sz="2000" spc="-1" strike="noStrike">
                <a:solidFill>
                  <a:srgbClr val="1269b0"/>
                </a:solidFill>
                <a:latin typeface="Source Code Pro"/>
                <a:ea typeface="Roboto Light"/>
              </a:rPr>
              <a:t>    area += 4.0f/(1.0f + x*x);</a:t>
            </a:r>
            <a:br/>
            <a:r>
              <a:rPr b="0" lang="en-GB" sz="20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}</a:t>
            </a:r>
            <a:br/>
            <a:r>
              <a:rPr b="0" lang="en-GB" sz="20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 return area/n;</a:t>
            </a:r>
            <a:br/>
            <a:r>
              <a:rPr b="0" lang="en-GB" sz="20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}</a:t>
            </a:r>
            <a:endParaRPr b="1" lang="it-IT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</a:pPr>
            <a:endParaRPr b="1" lang="it-IT" sz="2000" spc="-1" strike="noStrike">
              <a:solidFill>
                <a:srgbClr val="000000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SzPct val="90000"/>
              <a:buFont typeface="Calibri"/>
              <a:buAutoNum type="arabicPeriod"/>
            </a:pPr>
            <a:r>
              <a:rPr b="1" lang="en-GB" sz="2000" spc="-1" strike="noStrike">
                <a:solidFill>
                  <a:srgbClr val="000000"/>
                </a:solidFill>
                <a:latin typeface="Calibri"/>
                <a:ea typeface="Roboto Light"/>
              </a:rPr>
              <a:t>Parallelize the </a:t>
            </a:r>
            <a:r>
              <a:rPr b="0" lang="en-GB" sz="20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iterative_pi</a:t>
            </a:r>
            <a:r>
              <a:rPr b="1" lang="en-GB" sz="2000" spc="-1" strike="noStrike">
                <a:solidFill>
                  <a:srgbClr val="000000"/>
                </a:solidFill>
                <a:latin typeface="Source Code Pro"/>
                <a:ea typeface="Roboto Light"/>
              </a:rPr>
              <a:t> </a:t>
            </a:r>
            <a:r>
              <a:rPr b="1" lang="en-GB" sz="2000" spc="-1" strike="noStrike">
                <a:solidFill>
                  <a:srgbClr val="000000"/>
                </a:solidFill>
                <a:latin typeface="Calibri"/>
                <a:ea typeface="Roboto Light"/>
              </a:rPr>
              <a:t>kernel. </a:t>
            </a:r>
            <a:br/>
            <a:r>
              <a:rPr b="0" i="1" lang="en-GB" sz="2000" spc="-1" strike="noStrike">
                <a:solidFill>
                  <a:srgbClr val="000000"/>
                </a:solidFill>
                <a:latin typeface="Calibri"/>
                <a:ea typeface="Roboto Light"/>
              </a:rPr>
              <a:t>*Hint: Make use of the critical section to update the </a:t>
            </a:r>
            <a:r>
              <a:rPr b="0" i="1" lang="en-GB" sz="2000" spc="-1" strike="noStrike">
                <a:solidFill>
                  <a:srgbClr val="1269b0"/>
                </a:solidFill>
                <a:latin typeface="Source Code Pro"/>
                <a:ea typeface="Roboto Light"/>
              </a:rPr>
              <a:t>area</a:t>
            </a:r>
            <a:r>
              <a:rPr b="0" i="1" lang="en-GB" sz="2000" spc="-1" strike="noStrike">
                <a:solidFill>
                  <a:srgbClr val="000000"/>
                </a:solidFill>
                <a:latin typeface="Calibri"/>
                <a:ea typeface="Roboto Light"/>
              </a:rPr>
              <a:t> variable!</a:t>
            </a:r>
            <a:endParaRPr b="1" lang="it-IT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90" name="PlaceHolder 3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2DFEA6C2-79DC-4DA5-B635-8F0003C146AC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PlaceHolder 1"/>
          <p:cNvSpPr>
            <a:spLocks noGrp="1"/>
          </p:cNvSpPr>
          <p:nvPr>
            <p:ph type="title"/>
          </p:nvPr>
        </p:nvSpPr>
        <p:spPr>
          <a:xfrm>
            <a:off x="316440" y="180360"/>
            <a:ext cx="10667160" cy="65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809" spc="-106" strike="noStrike">
                <a:solidFill>
                  <a:srgbClr val="c00000"/>
                </a:solidFill>
                <a:latin typeface="Calibri"/>
                <a:ea typeface="Roboto"/>
              </a:rPr>
              <a:t>*References on Makefile rules</a:t>
            </a:r>
            <a:endParaRPr b="0" lang="it-IT" sz="380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92" name="PlaceHolder 2"/>
          <p:cNvSpPr>
            <a:spLocks noGrp="1"/>
          </p:cNvSpPr>
          <p:nvPr>
            <p:ph/>
          </p:nvPr>
        </p:nvSpPr>
        <p:spPr>
          <a:xfrm>
            <a:off x="316440" y="990720"/>
            <a:ext cx="11611800" cy="5523840"/>
          </a:xfrm>
          <a:prstGeom prst="rect">
            <a:avLst/>
          </a:prstGeom>
          <a:noFill/>
          <a:ln w="0">
            <a:noFill/>
          </a:ln>
        </p:spPr>
        <p:txBody>
          <a:bodyPr lIns="0" rIns="0" tIns="46800" anchor="t">
            <a:noAutofit/>
          </a:bodyPr>
          <a:p>
            <a:pPr marL="304920" indent="-30492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SzPct val="90000"/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Roboto Light"/>
              </a:rPr>
              <a:t>The Makefile is a “recipe” used to call the compiler/linker and, in this case, also to run the program.        You can also chain several rules (e.g., </a:t>
            </a:r>
            <a:r>
              <a:rPr b="1" lang="en-US" sz="2000" spc="-1" strike="noStrike">
                <a:solidFill>
                  <a:srgbClr val="000000"/>
                </a:solidFill>
                <a:latin typeface="Source Code Pro"/>
                <a:ea typeface="Source Code Pro"/>
              </a:rPr>
              <a:t>make clean all run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Roboto Light"/>
              </a:rPr>
              <a:t>) and pass options                                       (e.g., </a:t>
            </a:r>
            <a:r>
              <a:rPr b="1" lang="en-US" sz="2000" spc="-1" strike="noStrike">
                <a:solidFill>
                  <a:srgbClr val="000000"/>
                </a:solidFill>
                <a:latin typeface="Source Code Pro"/>
                <a:ea typeface="Source Code Pro"/>
              </a:rPr>
              <a:t>runner_args="--vcd"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Roboto Light"/>
              </a:rPr>
              <a:t>)</a:t>
            </a:r>
            <a:endParaRPr b="1" lang="it-IT" sz="2000" spc="-1" strike="noStrike">
              <a:solidFill>
                <a:srgbClr val="000000"/>
              </a:solidFill>
              <a:latin typeface="Calibri"/>
            </a:endParaRPr>
          </a:p>
          <a:p>
            <a:pPr marL="304920" indent="-30492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SzPct val="90000"/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Roboto Light"/>
              </a:rPr>
              <a:t>Remove any existing build</a:t>
            </a:r>
            <a:endParaRPr b="1" lang="it-IT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Source Code Pro"/>
                <a:ea typeface="Source Code Pro"/>
              </a:rPr>
              <a:t>	</a:t>
            </a:r>
            <a:r>
              <a:rPr b="1" i="1" lang="en-US" sz="1600" spc="-1" strike="noStrike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b="0" i="1" lang="en-US" sz="1600" spc="-1" strike="noStrike">
                <a:solidFill>
                  <a:srgbClr val="000000"/>
                </a:solidFill>
                <a:latin typeface="Source Code Pro"/>
                <a:ea typeface="Source Code Pro"/>
              </a:rPr>
              <a:t>make clean</a:t>
            </a:r>
            <a:endParaRPr b="1" lang="it-IT" sz="1600" spc="-1" strike="noStrike">
              <a:solidFill>
                <a:srgbClr val="000000"/>
              </a:solidFill>
              <a:latin typeface="Calibri"/>
            </a:endParaRPr>
          </a:p>
          <a:p>
            <a:pPr marL="304920" indent="-30492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Roboto Light"/>
              </a:rPr>
              <a:t>Build program (calling compiler + linker)</a:t>
            </a:r>
            <a:endParaRPr b="1" lang="it-IT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Source Code Pro"/>
                <a:ea typeface="Source Code Pro"/>
              </a:rPr>
              <a:t>	</a:t>
            </a:r>
            <a:r>
              <a:rPr b="1" lang="en-US" sz="1600" spc="-1" strike="noStrike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b="0" i="1" lang="en-US" sz="1600" spc="-1" strike="noStrike">
                <a:solidFill>
                  <a:srgbClr val="000000"/>
                </a:solidFill>
                <a:latin typeface="Source Code Pro"/>
                <a:ea typeface="Source Code Pro"/>
              </a:rPr>
              <a:t>make all</a:t>
            </a:r>
            <a:endParaRPr b="1" lang="it-IT" sz="1600" spc="-1" strike="noStrike">
              <a:solidFill>
                <a:srgbClr val="000000"/>
              </a:solidFill>
              <a:latin typeface="Calibri"/>
            </a:endParaRPr>
          </a:p>
          <a:p>
            <a:pPr marL="304920" indent="-30492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Roboto Light"/>
              </a:rPr>
              <a:t>Run the program</a:t>
            </a:r>
            <a:endParaRPr b="1" lang="it-IT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Source Code Pro"/>
                <a:ea typeface="Source Code Pro"/>
              </a:rPr>
              <a:t>	</a:t>
            </a:r>
            <a:r>
              <a:rPr b="1" lang="en-US" sz="1600" spc="-1" strike="noStrike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b="0" i="1" lang="en-US" sz="1600" spc="-1" strike="noStrike">
                <a:solidFill>
                  <a:srgbClr val="000000"/>
                </a:solidFill>
                <a:latin typeface="Source Code Pro"/>
                <a:ea typeface="Source Code Pro"/>
              </a:rPr>
              <a:t>make run</a:t>
            </a:r>
            <a:endParaRPr b="1" lang="it-IT" sz="1600" spc="-1" strike="noStrike">
              <a:solidFill>
                <a:srgbClr val="000000"/>
              </a:solidFill>
              <a:latin typeface="Calibri"/>
            </a:endParaRPr>
          </a:p>
          <a:p>
            <a:pPr marL="304920" indent="-30492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Roboto Light"/>
              </a:rPr>
              <a:t>Run options: you can change them by adding </a:t>
            </a:r>
            <a:r>
              <a:rPr b="1" lang="en-US" sz="2000" spc="-1" strike="noStrike">
                <a:solidFill>
                  <a:srgbClr val="000000"/>
                </a:solidFill>
                <a:latin typeface="Source Code Pro"/>
                <a:ea typeface="Source Code Pro"/>
              </a:rPr>
              <a:t>runner_args="</a:t>
            </a:r>
            <a:r>
              <a:rPr b="1" i="1" lang="en-US" sz="2000" spc="-1" strike="noStrike">
                <a:solidFill>
                  <a:srgbClr val="000000"/>
                </a:solidFill>
                <a:latin typeface="Source Code Pro"/>
                <a:ea typeface="Source Code Pro"/>
              </a:rPr>
              <a:t>OPTIONS</a:t>
            </a:r>
            <a:r>
              <a:rPr b="1" lang="en-US" sz="2000" spc="-1" strike="noStrike">
                <a:solidFill>
                  <a:srgbClr val="000000"/>
                </a:solidFill>
                <a:latin typeface="Source Code Pro"/>
                <a:ea typeface="Source Code Pro"/>
              </a:rPr>
              <a:t>"</a:t>
            </a:r>
            <a:endParaRPr b="1" lang="it-IT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Source Code Pro"/>
                <a:ea typeface="Source Code Pro"/>
              </a:rPr>
              <a:t>      </a:t>
            </a:r>
            <a:r>
              <a:rPr b="1" i="1" lang="en-US" sz="1600" spc="-1" strike="noStrike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b="0" i="1" lang="en-US" sz="1600" spc="-1" strike="noStrike">
                <a:solidFill>
                  <a:srgbClr val="000000"/>
                </a:solidFill>
                <a:latin typeface="Source Code Pro"/>
                <a:ea typeface="Source Code Pro"/>
              </a:rPr>
              <a:t>make run runner_args="--trace=.*insn.*" &gt; trace.log   # written trace of instructions</a:t>
            </a:r>
            <a:endParaRPr b="1" lang="it-IT" sz="1600" spc="-1" strike="noStrike">
              <a:solidFill>
                <a:srgbClr val="000000"/>
              </a:solidFill>
              <a:latin typeface="Calibri"/>
            </a:endParaRPr>
          </a:p>
          <a:p>
            <a:pPr marL="304920" indent="-30492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Roboto Light"/>
              </a:rPr>
              <a:t>Disassembling:</a:t>
            </a:r>
            <a:endParaRPr b="1" lang="it-IT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Source Code Pro"/>
                <a:ea typeface="Source Code Pro"/>
              </a:rPr>
              <a:t>	</a:t>
            </a:r>
            <a:r>
              <a:rPr b="1" lang="en-US" sz="1600" spc="-1" strike="noStrike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b="0" i="1" lang="en-US" sz="1600" spc="-1" strike="noStrike">
                <a:solidFill>
                  <a:srgbClr val="000000"/>
                </a:solidFill>
                <a:latin typeface="Source Code Pro"/>
                <a:ea typeface="Source Code Pro"/>
              </a:rPr>
              <a:t># Disassemble without inlined source code:</a:t>
            </a:r>
            <a:endParaRPr b="1" lang="it-IT" sz="16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0000"/>
                </a:solidFill>
                <a:latin typeface="Source Code Pro"/>
                <a:ea typeface="Source Code Pro"/>
              </a:rPr>
              <a:t>        </a:t>
            </a:r>
            <a:r>
              <a:rPr b="0" i="1" lang="en-US" sz="1600" spc="-1" strike="noStrike">
                <a:solidFill>
                  <a:srgbClr val="000000"/>
                </a:solidFill>
                <a:latin typeface="Source Code Pro"/>
                <a:ea typeface="Source Code Pro"/>
              </a:rPr>
              <a:t>make dis &gt; test.S</a:t>
            </a:r>
            <a:endParaRPr b="1" lang="it-IT" sz="16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0000"/>
                </a:solidFill>
                <a:latin typeface="Source Code Pro"/>
                <a:ea typeface="Source Code Pro"/>
              </a:rPr>
              <a:t>        </a:t>
            </a:r>
            <a:r>
              <a:rPr b="0" i="1" lang="en-US" sz="1600" spc="-1" strike="noStrike">
                <a:solidFill>
                  <a:srgbClr val="000000"/>
                </a:solidFill>
                <a:latin typeface="Source Code Pro"/>
                <a:ea typeface="Source Code Pro"/>
              </a:rPr>
              <a:t># Disassemble with inlined source code:</a:t>
            </a:r>
            <a:endParaRPr b="1" lang="it-IT" sz="16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0000"/>
                </a:solidFill>
                <a:latin typeface="Source Code Pro"/>
                <a:ea typeface="Source Code Pro"/>
              </a:rPr>
              <a:t>        </a:t>
            </a:r>
            <a:r>
              <a:rPr b="0" i="1" lang="en-US" sz="1600" spc="-1" strike="noStrike">
                <a:solidFill>
                  <a:srgbClr val="000000"/>
                </a:solidFill>
                <a:latin typeface="Source Code Pro"/>
                <a:ea typeface="Source Code Pro"/>
              </a:rPr>
              <a:t>/pulp/pkg/pulp_riscv_gcc/bin/riscv32-unkown-elf-objdump –D -S &gt; test.S</a:t>
            </a:r>
            <a:endParaRPr b="1" lang="it-IT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93" name="PlaceHolder 3"/>
          <p:cNvSpPr>
            <a:spLocks noGrp="1"/>
          </p:cNvSpPr>
          <p:nvPr>
            <p:ph type="sldNum"/>
          </p:nvPr>
        </p:nvSpPr>
        <p:spPr>
          <a:xfrm>
            <a:off x="11546280" y="6494760"/>
            <a:ext cx="570960" cy="30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B80E36B7-2A23-4A3F-965B-78258E53CD3B}" type="slidenum">
              <a:rPr b="0" lang="en-US" sz="1380" spc="-1" strike="noStrike">
                <a:solidFill>
                  <a:srgbClr val="000000"/>
                </a:solidFill>
                <a:latin typeface="Calibri Light"/>
                <a:ea typeface="Roboto Condensed Light"/>
              </a:rPr>
              <a:t>&lt;numero&gt;</a:t>
            </a:fld>
            <a:endParaRPr b="0" lang="it-IT" sz="138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PlaceHolder 1"/>
          <p:cNvSpPr>
            <a:spLocks noGrp="1"/>
          </p:cNvSpPr>
          <p:nvPr>
            <p:ph/>
          </p:nvPr>
        </p:nvSpPr>
        <p:spPr>
          <a:xfrm>
            <a:off x="316440" y="1960920"/>
            <a:ext cx="5234400" cy="1718280"/>
          </a:xfrm>
          <a:prstGeom prst="rect">
            <a:avLst/>
          </a:prstGeom>
          <a:noFill/>
          <a:ln w="0">
            <a:noFill/>
          </a:ln>
        </p:spPr>
        <p:txBody>
          <a:bodyPr lIns="0" rIns="0" tIns="46800" anchor="t">
            <a:noAutofit/>
          </a:bodyPr>
          <a:p>
            <a:pPr>
              <a:lnSpc>
                <a:spcPct val="100000"/>
              </a:lnSpc>
              <a:spcBef>
                <a:spcPts val="1270"/>
              </a:spcBef>
              <a:buNone/>
              <a:tabLst>
                <a:tab algn="l" pos="0"/>
              </a:tabLst>
            </a:pPr>
            <a:r>
              <a:rPr b="1" lang="ro-RO" sz="2120" spc="-1" strike="noStrike">
                <a:solidFill>
                  <a:srgbClr val="ffffff"/>
                </a:solidFill>
                <a:latin typeface="Calibri Light"/>
                <a:ea typeface="Roboto Light"/>
              </a:rPr>
              <a:t>Alberto Dequino – alberto.dequino@unibo.it</a:t>
            </a:r>
            <a:endParaRPr b="1" lang="it-IT" sz="212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None/>
              <a:tabLst>
                <a:tab algn="l" pos="0"/>
              </a:tabLst>
            </a:pPr>
            <a:r>
              <a:rPr b="1" lang="ro-RO" sz="2120" spc="-1" strike="noStrike">
                <a:solidFill>
                  <a:srgbClr val="ffffff"/>
                </a:solidFill>
                <a:latin typeface="Calibri Light"/>
                <a:ea typeface="Roboto Light"/>
              </a:rPr>
              <a:t>Călin Diaconu – calin.diaconu2@unibo.it</a:t>
            </a:r>
            <a:endParaRPr b="1" lang="it-IT" sz="212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1109</TotalTime>
  <Application>LibreOffice/7.2.5.2$Windows_X86_64 LibreOffice_project/499f9727c189e6ef3471021d6132d4c694f357e5</Application>
  <AppVersion>15.0000</AppVersion>
  <Words>3233</Words>
  <Paragraphs>1081</Paragraphs>
  <Company>Università di Bologna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2017-11-13T10:11:35Z</dcterms:created>
  <dc:creator>UTENTE</dc:creator>
  <dc:description/>
  <dc:language>it-IT</dc:language>
  <cp:lastModifiedBy/>
  <cp:lastPrinted>2020-04-17T09:44:22Z</cp:lastPrinted>
  <dcterms:modified xsi:type="dcterms:W3CDTF">2026-05-14T22:30:50Z</dcterms:modified>
  <cp:revision>448</cp:revision>
  <dc:subject/>
  <dc:title>Presentazione standard di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31</vt:i4>
  </property>
</Properties>
</file>